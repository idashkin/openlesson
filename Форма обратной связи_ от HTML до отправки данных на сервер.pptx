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6980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60158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0129427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582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456417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235064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510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973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4286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017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9572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5241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023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0179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0576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464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0315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549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882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4130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302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41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2500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860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127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1716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2517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05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485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3880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824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5507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3800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093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730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0762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16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896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3602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126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9546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8928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08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07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8087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460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868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8522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760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467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4294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19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4791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160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PTIST_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077154" name="Shape 0"/>
          <p:cNvSpPr/>
          <p:nvPr/>
        </p:nvSpPr>
        <p:spPr bwMode="auto">
          <a:xfrm>
            <a:off x="8364933" y="290512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 fill="norm" stroke="1" extrusionOk="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gradFill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84755232" name="Shape 1"/>
          <p:cNvSpPr/>
          <p:nvPr/>
        </p:nvSpPr>
        <p:spPr bwMode="auto">
          <a:xfrm>
            <a:off x="645953" y="34671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 fill="norm" stroke="1" extrusionOk="0">
                <a:moveTo>
                  <a:pt x="1371600" y="0"/>
                </a:moveTo>
                <a:lnTo>
                  <a:pt x="1371600" y="0"/>
                </a:lnTo>
                <a:cubicBezTo>
                  <a:pt x="2128607" y="0"/>
                  <a:pt x="2743200" y="614593"/>
                  <a:pt x="2743200" y="1371600"/>
                </a:cubicBezTo>
                <a:lnTo>
                  <a:pt x="2743200" y="1371600"/>
                </a:lnTo>
                <a:cubicBezTo>
                  <a:pt x="2743200" y="2128607"/>
                  <a:pt x="2128607" y="2743200"/>
                  <a:pt x="1371600" y="2743200"/>
                </a:cubicBezTo>
                <a:lnTo>
                  <a:pt x="1371600" y="2743200"/>
                </a:lnTo>
                <a:cubicBezTo>
                  <a:pt x="614593" y="2743200"/>
                  <a:pt x="0" y="2128607"/>
                  <a:pt x="0" y="1371600"/>
                </a:cubicBezTo>
                <a:lnTo>
                  <a:pt x="0" y="1371600"/>
                </a:lnTo>
                <a:cubicBezTo>
                  <a:pt x="0" y="614593"/>
                  <a:pt x="614593" y="0"/>
                  <a:pt x="1371600" y="0"/>
                </a:cubicBezTo>
                <a:close/>
              </a:path>
            </a:pathLst>
          </a:custGeom>
          <a:gradFill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</p:sp>
      <p:sp>
        <p:nvSpPr>
          <p:cNvPr id="177491285" name="Shape 2"/>
          <p:cNvSpPr/>
          <p:nvPr/>
        </p:nvSpPr>
        <p:spPr bwMode="auto">
          <a:xfrm>
            <a:off x="5715000" y="173831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fill="norm" stroke="1" extrusionOk="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45190188" name="Shape 3"/>
          <p:cNvSpPr/>
          <p:nvPr/>
        </p:nvSpPr>
        <p:spPr bwMode="auto">
          <a:xfrm>
            <a:off x="5903119" y="1947863"/>
            <a:ext cx="385762" cy="342900"/>
          </a:xfrm>
          <a:custGeom>
            <a:avLst/>
            <a:gdLst/>
            <a:ahLst/>
            <a:cxnLst/>
            <a:rect l="l" t="t" r="r" b="b"/>
            <a:pathLst>
              <a:path w="385763" h="342900" fill="norm" stroke="1" extrusionOk="0">
                <a:moveTo>
                  <a:pt x="241637" y="804"/>
                </a:moveTo>
                <a:cubicBezTo>
                  <a:pt x="230252" y="-2478"/>
                  <a:pt x="218398" y="4152"/>
                  <a:pt x="215116" y="15538"/>
                </a:cubicBezTo>
                <a:lnTo>
                  <a:pt x="129391" y="315575"/>
                </a:lnTo>
                <a:cubicBezTo>
                  <a:pt x="126110" y="326961"/>
                  <a:pt x="132740" y="338815"/>
                  <a:pt x="144125" y="342096"/>
                </a:cubicBezTo>
                <a:cubicBezTo>
                  <a:pt x="155511" y="345378"/>
                  <a:pt x="167365" y="338748"/>
                  <a:pt x="170646" y="327362"/>
                </a:cubicBezTo>
                <a:lnTo>
                  <a:pt x="256371" y="27325"/>
                </a:lnTo>
                <a:cubicBezTo>
                  <a:pt x="259653" y="15939"/>
                  <a:pt x="253023" y="4085"/>
                  <a:pt x="241637" y="804"/>
                </a:cubicBezTo>
                <a:close/>
                <a:moveTo>
                  <a:pt x="284902" y="91953"/>
                </a:moveTo>
                <a:cubicBezTo>
                  <a:pt x="276530" y="100325"/>
                  <a:pt x="276530" y="113920"/>
                  <a:pt x="284902" y="122292"/>
                </a:cubicBezTo>
                <a:lnTo>
                  <a:pt x="334060" y="171450"/>
                </a:lnTo>
                <a:lnTo>
                  <a:pt x="284902" y="220608"/>
                </a:lnTo>
                <a:cubicBezTo>
                  <a:pt x="276530" y="228980"/>
                  <a:pt x="276530" y="242575"/>
                  <a:pt x="284902" y="250947"/>
                </a:cubicBezTo>
                <a:cubicBezTo>
                  <a:pt x="293273" y="259318"/>
                  <a:pt x="306869" y="259318"/>
                  <a:pt x="315240" y="250947"/>
                </a:cubicBezTo>
                <a:lnTo>
                  <a:pt x="379534" y="186653"/>
                </a:lnTo>
                <a:cubicBezTo>
                  <a:pt x="387906" y="178281"/>
                  <a:pt x="387906" y="164686"/>
                  <a:pt x="379534" y="156314"/>
                </a:cubicBezTo>
                <a:lnTo>
                  <a:pt x="315240" y="92020"/>
                </a:lnTo>
                <a:cubicBezTo>
                  <a:pt x="306869" y="83649"/>
                  <a:pt x="293273" y="83649"/>
                  <a:pt x="284902" y="92020"/>
                </a:cubicBezTo>
                <a:close/>
                <a:moveTo>
                  <a:pt x="100928" y="91953"/>
                </a:moveTo>
                <a:cubicBezTo>
                  <a:pt x="92556" y="83582"/>
                  <a:pt x="78961" y="83582"/>
                  <a:pt x="70589" y="91953"/>
                </a:cubicBezTo>
                <a:lnTo>
                  <a:pt x="6295" y="156247"/>
                </a:lnTo>
                <a:cubicBezTo>
                  <a:pt x="-2076" y="164619"/>
                  <a:pt x="-2076" y="178214"/>
                  <a:pt x="6295" y="186586"/>
                </a:cubicBezTo>
                <a:lnTo>
                  <a:pt x="70589" y="250880"/>
                </a:lnTo>
                <a:cubicBezTo>
                  <a:pt x="78961" y="259251"/>
                  <a:pt x="92556" y="259251"/>
                  <a:pt x="100928" y="250880"/>
                </a:cubicBezTo>
                <a:cubicBezTo>
                  <a:pt x="109299" y="242508"/>
                  <a:pt x="109299" y="228913"/>
                  <a:pt x="100928" y="220541"/>
                </a:cubicBezTo>
                <a:lnTo>
                  <a:pt x="51770" y="171450"/>
                </a:lnTo>
                <a:lnTo>
                  <a:pt x="100861" y="122292"/>
                </a:lnTo>
                <a:cubicBezTo>
                  <a:pt x="109232" y="113920"/>
                  <a:pt x="109232" y="100325"/>
                  <a:pt x="100861" y="919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4521544" name="Text 4"/>
          <p:cNvSpPr/>
          <p:nvPr/>
        </p:nvSpPr>
        <p:spPr bwMode="auto">
          <a:xfrm>
            <a:off x="2706370" y="3109913"/>
            <a:ext cx="6781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4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Форма обратной связи</a:t>
            </a:r>
            <a:endParaRPr lang="en-US" sz="1600"/>
          </a:p>
        </p:txBody>
      </p:sp>
      <p:sp>
        <p:nvSpPr>
          <p:cNvPr id="762897266" name="Text 5"/>
          <p:cNvSpPr/>
          <p:nvPr/>
        </p:nvSpPr>
        <p:spPr bwMode="auto">
          <a:xfrm>
            <a:off x="3298984" y="4052888"/>
            <a:ext cx="5591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2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от HTML до отправки данных на сервер</a:t>
            </a:r>
            <a:endParaRPr lang="en-US" sz="1600"/>
          </a:p>
        </p:txBody>
      </p:sp>
      <p:sp>
        <p:nvSpPr>
          <p:cNvPr id="1326960236" name="Shape 6"/>
          <p:cNvSpPr/>
          <p:nvPr/>
        </p:nvSpPr>
        <p:spPr bwMode="auto">
          <a:xfrm>
            <a:off x="3389152" y="4886324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 fill="norm" stroke="1" extrusionOk="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16249627" name="Text 7"/>
          <p:cNvSpPr/>
          <p:nvPr/>
        </p:nvSpPr>
        <p:spPr bwMode="auto">
          <a:xfrm>
            <a:off x="3661805" y="4838699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Web-программирование и интернет технологии</a:t>
            </a:r>
            <a:endParaRPr sz="1400"/>
          </a:p>
        </p:txBody>
      </p:sp>
      <p:sp>
        <p:nvSpPr>
          <p:cNvPr id="2074926094" name="Shape 8"/>
          <p:cNvSpPr/>
          <p:nvPr/>
        </p:nvSpPr>
        <p:spPr bwMode="auto">
          <a:xfrm>
            <a:off x="7962501" y="485775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 fill="norm" stroke="1" extrusionOk="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476474883" name="Shape 9"/>
          <p:cNvSpPr/>
          <p:nvPr/>
        </p:nvSpPr>
        <p:spPr bwMode="auto">
          <a:xfrm>
            <a:off x="8311354" y="488632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fill="norm" stroke="1" extrusionOk="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75464310" name="Text 10"/>
          <p:cNvSpPr/>
          <p:nvPr/>
        </p:nvSpPr>
        <p:spPr bwMode="auto">
          <a:xfrm>
            <a:off x="8562576" y="4838699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2026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801228" name="Text 0"/>
          <p:cNvSpPr/>
          <p:nvPr/>
        </p:nvSpPr>
        <p:spPr bwMode="auto"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Содержание</a:t>
            </a:r>
            <a:endParaRPr lang="en-US" sz="1600"/>
          </a:p>
        </p:txBody>
      </p:sp>
      <p:sp>
        <p:nvSpPr>
          <p:cNvPr id="1184938511" name="Text 1"/>
          <p:cNvSpPr/>
          <p:nvPr/>
        </p:nvSpPr>
        <p:spPr bwMode="auto"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План урока</a:t>
            </a:r>
            <a:endParaRPr lang="en-US" sz="1600"/>
          </a:p>
        </p:txBody>
      </p:sp>
      <p:sp>
        <p:nvSpPr>
          <p:cNvPr id="1414402429" name="Shape 2"/>
          <p:cNvSpPr/>
          <p:nvPr/>
        </p:nvSpPr>
        <p:spPr bwMode="auto">
          <a:xfrm>
            <a:off x="3810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18259538" name="Text 3"/>
          <p:cNvSpPr/>
          <p:nvPr/>
        </p:nvSpPr>
        <p:spPr bwMode="auto">
          <a:xfrm>
            <a:off x="323850" y="15240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01</a:t>
            </a:r>
            <a:endParaRPr lang="en-US" sz="1600"/>
          </a:p>
        </p:txBody>
      </p:sp>
      <p:sp>
        <p:nvSpPr>
          <p:cNvPr id="1431206820" name="Text 4"/>
          <p:cNvSpPr/>
          <p:nvPr/>
        </p:nvSpPr>
        <p:spPr bwMode="auto">
          <a:xfrm>
            <a:off x="1104900" y="156210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Цель урока</a:t>
            </a:r>
            <a:endParaRPr sz="1800"/>
          </a:p>
        </p:txBody>
      </p:sp>
      <p:sp>
        <p:nvSpPr>
          <p:cNvPr id="533219897" name="Text 5"/>
          <p:cNvSpPr/>
          <p:nvPr/>
        </p:nvSpPr>
        <p:spPr bwMode="auto">
          <a:xfrm flipH="0" flipV="0">
            <a:off x="1104899" y="1904999"/>
            <a:ext cx="3549671" cy="335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Что мы изучим и чему научимся</a:t>
            </a:r>
            <a:endParaRPr sz="1600"/>
          </a:p>
        </p:txBody>
      </p:sp>
      <p:sp>
        <p:nvSpPr>
          <p:cNvPr id="1089724612" name="Shape 6"/>
          <p:cNvSpPr/>
          <p:nvPr/>
        </p:nvSpPr>
        <p:spPr bwMode="auto">
          <a:xfrm>
            <a:off x="64008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22884471" name="Text 7"/>
          <p:cNvSpPr/>
          <p:nvPr/>
        </p:nvSpPr>
        <p:spPr bwMode="auto">
          <a:xfrm>
            <a:off x="6343650" y="15240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02</a:t>
            </a:r>
            <a:endParaRPr lang="en-US" sz="1600"/>
          </a:p>
        </p:txBody>
      </p:sp>
      <p:sp>
        <p:nvSpPr>
          <p:cNvPr id="301286552" name="Text 8"/>
          <p:cNvSpPr/>
          <p:nvPr/>
        </p:nvSpPr>
        <p:spPr bwMode="auto">
          <a:xfrm>
            <a:off x="7124700" y="156210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Критерии оценки</a:t>
            </a:r>
            <a:endParaRPr sz="1800"/>
          </a:p>
        </p:txBody>
      </p:sp>
      <p:sp>
        <p:nvSpPr>
          <p:cNvPr id="1417373911" name="Text 9"/>
          <p:cNvSpPr/>
          <p:nvPr/>
        </p:nvSpPr>
        <p:spPr bwMode="auto">
          <a:xfrm flipH="0" flipV="0">
            <a:off x="7124699" y="1904999"/>
            <a:ext cx="3662156" cy="5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Как будет оцениваться работа</a:t>
            </a:r>
            <a:endParaRPr sz="1600"/>
          </a:p>
        </p:txBody>
      </p:sp>
      <p:sp>
        <p:nvSpPr>
          <p:cNvPr id="1136590405" name="Shape 10"/>
          <p:cNvSpPr/>
          <p:nvPr/>
        </p:nvSpPr>
        <p:spPr bwMode="auto">
          <a:xfrm>
            <a:off x="381000" y="2819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82769493" name="Text 11"/>
          <p:cNvSpPr/>
          <p:nvPr/>
        </p:nvSpPr>
        <p:spPr bwMode="auto">
          <a:xfrm>
            <a:off x="323850" y="28194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03</a:t>
            </a:r>
            <a:endParaRPr lang="en-US" sz="1600"/>
          </a:p>
        </p:txBody>
      </p:sp>
      <p:sp>
        <p:nvSpPr>
          <p:cNvPr id="1016137834" name="Text 12"/>
          <p:cNvSpPr/>
          <p:nvPr/>
        </p:nvSpPr>
        <p:spPr bwMode="auto">
          <a:xfrm flipH="0" flipV="0">
            <a:off x="1104899" y="2733858"/>
            <a:ext cx="4775893" cy="59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ru-RU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Повторение предыдущей темы и </a:t>
            </a: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Актуализация знаний</a:t>
            </a:r>
            <a:endParaRPr sz="1800"/>
          </a:p>
        </p:txBody>
      </p:sp>
      <p:sp>
        <p:nvSpPr>
          <p:cNvPr id="1701576379" name="Text 13"/>
          <p:cNvSpPr/>
          <p:nvPr/>
        </p:nvSpPr>
        <p:spPr bwMode="auto">
          <a:xfrm flipH="0" flipV="0">
            <a:off x="1104899" y="3324041"/>
            <a:ext cx="3876242" cy="3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Повторение ключевых концепций</a:t>
            </a:r>
            <a:endParaRPr sz="1600"/>
          </a:p>
        </p:txBody>
      </p:sp>
      <p:sp>
        <p:nvSpPr>
          <p:cNvPr id="2040582812" name="Shape 14"/>
          <p:cNvSpPr/>
          <p:nvPr/>
        </p:nvSpPr>
        <p:spPr bwMode="auto">
          <a:xfrm>
            <a:off x="6400800" y="2819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1898310" name="Text 15"/>
          <p:cNvSpPr/>
          <p:nvPr/>
        </p:nvSpPr>
        <p:spPr bwMode="auto">
          <a:xfrm>
            <a:off x="6343650" y="28194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04</a:t>
            </a:r>
            <a:endParaRPr lang="en-US" sz="1600"/>
          </a:p>
        </p:txBody>
      </p:sp>
      <p:sp>
        <p:nvSpPr>
          <p:cNvPr id="2100903068" name="Text 16"/>
          <p:cNvSpPr/>
          <p:nvPr/>
        </p:nvSpPr>
        <p:spPr bwMode="auto">
          <a:xfrm flipH="0" flipV="0">
            <a:off x="7124699" y="2857500"/>
            <a:ext cx="3154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Создание HTML-формы</a:t>
            </a:r>
            <a:endParaRPr sz="1800"/>
          </a:p>
        </p:txBody>
      </p:sp>
      <p:sp>
        <p:nvSpPr>
          <p:cNvPr id="2062570387" name="Text 17"/>
          <p:cNvSpPr/>
          <p:nvPr/>
        </p:nvSpPr>
        <p:spPr bwMode="auto">
          <a:xfrm flipH="0" flipV="0">
            <a:off x="7124699" y="3200400"/>
            <a:ext cx="3598656" cy="3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Задание 1: структура и стили</a:t>
            </a:r>
            <a:endParaRPr sz="1600"/>
          </a:p>
        </p:txBody>
      </p:sp>
      <p:sp>
        <p:nvSpPr>
          <p:cNvPr id="2066258334" name="Shape 18"/>
          <p:cNvSpPr/>
          <p:nvPr/>
        </p:nvSpPr>
        <p:spPr bwMode="auto">
          <a:xfrm>
            <a:off x="381000" y="4114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50034585" name="Text 19"/>
          <p:cNvSpPr/>
          <p:nvPr/>
        </p:nvSpPr>
        <p:spPr bwMode="auto">
          <a:xfrm>
            <a:off x="323850" y="4114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05</a:t>
            </a:r>
            <a:endParaRPr lang="en-US" sz="1600"/>
          </a:p>
        </p:txBody>
      </p:sp>
      <p:sp>
        <p:nvSpPr>
          <p:cNvPr id="758120336" name="Text 20"/>
          <p:cNvSpPr/>
          <p:nvPr/>
        </p:nvSpPr>
        <p:spPr bwMode="auto">
          <a:xfrm>
            <a:off x="1104900" y="4152900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Валидация формы</a:t>
            </a:r>
            <a:endParaRPr sz="1800"/>
          </a:p>
        </p:txBody>
      </p:sp>
      <p:sp>
        <p:nvSpPr>
          <p:cNvPr id="1339491561" name="Text 21"/>
          <p:cNvSpPr/>
          <p:nvPr/>
        </p:nvSpPr>
        <p:spPr bwMode="auto">
          <a:xfrm flipH="0" flipV="0">
            <a:off x="1104899" y="4495799"/>
            <a:ext cx="3939742" cy="493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Задание 2: проверка данных</a:t>
            </a:r>
            <a:endParaRPr sz="1600"/>
          </a:p>
        </p:txBody>
      </p:sp>
      <p:sp>
        <p:nvSpPr>
          <p:cNvPr id="1540305845" name="Shape 22"/>
          <p:cNvSpPr/>
          <p:nvPr/>
        </p:nvSpPr>
        <p:spPr bwMode="auto">
          <a:xfrm>
            <a:off x="6400800" y="4114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84445424" name="Text 23"/>
          <p:cNvSpPr/>
          <p:nvPr/>
        </p:nvSpPr>
        <p:spPr bwMode="auto">
          <a:xfrm>
            <a:off x="6343650" y="4114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06</a:t>
            </a:r>
            <a:endParaRPr lang="en-US" sz="1600"/>
          </a:p>
        </p:txBody>
      </p:sp>
      <p:sp>
        <p:nvSpPr>
          <p:cNvPr id="930146087" name="Text 24"/>
          <p:cNvSpPr/>
          <p:nvPr/>
        </p:nvSpPr>
        <p:spPr bwMode="auto">
          <a:xfrm>
            <a:off x="7124700" y="415290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Отправка данных</a:t>
            </a:r>
            <a:endParaRPr sz="1800"/>
          </a:p>
        </p:txBody>
      </p:sp>
      <p:sp>
        <p:nvSpPr>
          <p:cNvPr id="795209193" name="Text 25"/>
          <p:cNvSpPr/>
          <p:nvPr/>
        </p:nvSpPr>
        <p:spPr bwMode="auto">
          <a:xfrm flipH="0" flipV="0">
            <a:off x="7124699" y="4495799"/>
            <a:ext cx="3761942" cy="439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Задание 3: GET/POST и webhook</a:t>
            </a:r>
            <a:endParaRPr sz="1600"/>
          </a:p>
        </p:txBody>
      </p:sp>
      <p:sp>
        <p:nvSpPr>
          <p:cNvPr id="1969429159" name="Shape 26"/>
          <p:cNvSpPr/>
          <p:nvPr/>
        </p:nvSpPr>
        <p:spPr bwMode="auto">
          <a:xfrm>
            <a:off x="381000" y="541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37651459" name="Text 27"/>
          <p:cNvSpPr/>
          <p:nvPr/>
        </p:nvSpPr>
        <p:spPr bwMode="auto">
          <a:xfrm>
            <a:off x="323850" y="5410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07</a:t>
            </a:r>
            <a:endParaRPr lang="en-US" sz="1600"/>
          </a:p>
        </p:txBody>
      </p:sp>
      <p:sp>
        <p:nvSpPr>
          <p:cNvPr id="1784165141" name="Text 28"/>
          <p:cNvSpPr/>
          <p:nvPr/>
        </p:nvSpPr>
        <p:spPr bwMode="auto">
          <a:xfrm flipH="0" flipV="0">
            <a:off x="1104899" y="5448299"/>
            <a:ext cx="2996314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Тестирование формы</a:t>
            </a:r>
            <a:endParaRPr sz="1800"/>
          </a:p>
        </p:txBody>
      </p:sp>
      <p:sp>
        <p:nvSpPr>
          <p:cNvPr id="504578433" name="Text 29"/>
          <p:cNvSpPr/>
          <p:nvPr/>
        </p:nvSpPr>
        <p:spPr bwMode="auto">
          <a:xfrm flipH="0" flipV="0">
            <a:off x="1104899" y="5791199"/>
            <a:ext cx="3295671" cy="449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Задание 4: отладка и анализ</a:t>
            </a:r>
            <a:endParaRPr sz="1600"/>
          </a:p>
        </p:txBody>
      </p:sp>
      <p:sp>
        <p:nvSpPr>
          <p:cNvPr id="1857775352" name="Shape 30"/>
          <p:cNvSpPr/>
          <p:nvPr/>
        </p:nvSpPr>
        <p:spPr bwMode="auto">
          <a:xfrm>
            <a:off x="6400800" y="541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46206457" name="Text 31"/>
          <p:cNvSpPr/>
          <p:nvPr/>
        </p:nvSpPr>
        <p:spPr bwMode="auto">
          <a:xfrm>
            <a:off x="6343650" y="5410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08</a:t>
            </a:r>
            <a:endParaRPr lang="en-US" sz="1600"/>
          </a:p>
        </p:txBody>
      </p:sp>
      <p:sp>
        <p:nvSpPr>
          <p:cNvPr id="1118103039" name="Text 32"/>
          <p:cNvSpPr/>
          <p:nvPr/>
        </p:nvSpPr>
        <p:spPr bwMode="auto">
          <a:xfrm>
            <a:off x="7124700" y="544830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Итоги и ресурсы</a:t>
            </a:r>
            <a:endParaRPr sz="1800"/>
          </a:p>
        </p:txBody>
      </p:sp>
      <p:sp>
        <p:nvSpPr>
          <p:cNvPr id="1518678927" name="Text 33"/>
          <p:cNvSpPr/>
          <p:nvPr/>
        </p:nvSpPr>
        <p:spPr bwMode="auto">
          <a:xfrm flipH="0" flipV="0">
            <a:off x="7124699" y="5791199"/>
            <a:ext cx="3154156" cy="449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Kahoot, </a:t>
            </a:r>
            <a:r>
              <a:rPr lang="ru-RU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</a:t>
            </a: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аключение и </a:t>
            </a: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полезные </a:t>
            </a: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ссылки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404998" name="Text 0"/>
          <p:cNvSpPr/>
          <p:nvPr/>
        </p:nvSpPr>
        <p:spPr bwMode="auto"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Начало урока</a:t>
            </a:r>
            <a:endParaRPr sz="2000"/>
          </a:p>
        </p:txBody>
      </p:sp>
      <p:sp>
        <p:nvSpPr>
          <p:cNvPr id="47709211" name="Text 1"/>
          <p:cNvSpPr/>
          <p:nvPr/>
        </p:nvSpPr>
        <p:spPr bwMode="auto"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Цель урока</a:t>
            </a:r>
            <a:endParaRPr lang="en-US" sz="1600"/>
          </a:p>
        </p:txBody>
      </p:sp>
      <p:sp>
        <p:nvSpPr>
          <p:cNvPr id="115833296" name="Text 2"/>
          <p:cNvSpPr/>
          <p:nvPr/>
        </p:nvSpPr>
        <p:spPr bwMode="auto">
          <a:xfrm>
            <a:off x="381000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u="none" strike="noStrike" cap="none" spc="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</a:t>
            </a:r>
            <a:r>
              <a:rPr lang="en-US" sz="2200" b="1" i="0" u="none" strike="noStrike" cap="none" spc="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оздавать, стилизовать, валидировать и отправлять</a:t>
            </a:r>
            <a:r>
              <a:rPr lang="ru-RU" sz="2200" b="1" i="0" u="none" strike="noStrike" cap="none" spc="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данные</a:t>
            </a:r>
            <a:r>
              <a:rPr lang="en-US" sz="2200" b="1" i="0" u="none" strike="noStrike" cap="none" spc="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HTML формы на сервер</a:t>
            </a:r>
            <a:endParaRPr lang="en-US" sz="3600" b="1" i="0" u="none" strike="noStrike" cap="none" spc="0">
              <a:solidFill>
                <a:srgbClr val="1D1D1D"/>
              </a:solidFill>
              <a:latin typeface="MiSans"/>
              <a:cs typeface="MiSans"/>
            </a:endParaRPr>
          </a:p>
        </p:txBody>
      </p:sp>
      <p:sp>
        <p:nvSpPr>
          <p:cNvPr id="2063038461" name="Shape 3"/>
          <p:cNvSpPr/>
          <p:nvPr/>
        </p:nvSpPr>
        <p:spPr bwMode="auto">
          <a:xfrm>
            <a:off x="385762" y="1871663"/>
            <a:ext cx="5591175" cy="1571625"/>
          </a:xfrm>
          <a:custGeom>
            <a:avLst/>
            <a:gdLst/>
            <a:ahLst/>
            <a:cxnLst/>
            <a:rect l="l" t="t" r="r" b="b"/>
            <a:pathLst>
              <a:path w="5591175" h="1571625" fill="norm" stroke="1" extrusionOk="0">
                <a:moveTo>
                  <a:pt x="152400" y="0"/>
                </a:moveTo>
                <a:lnTo>
                  <a:pt x="5438775" y="0"/>
                </a:lnTo>
                <a:cubicBezTo>
                  <a:pt x="5522943" y="0"/>
                  <a:pt x="5591175" y="68232"/>
                  <a:pt x="5591175" y="152400"/>
                </a:cubicBezTo>
                <a:lnTo>
                  <a:pt x="5591175" y="1419225"/>
                </a:lnTo>
                <a:cubicBezTo>
                  <a:pt x="5591175" y="1503393"/>
                  <a:pt x="5522943" y="1571625"/>
                  <a:pt x="5438775" y="1571625"/>
                </a:cubicBezTo>
                <a:lnTo>
                  <a:pt x="152400" y="1571625"/>
                </a:lnTo>
                <a:cubicBezTo>
                  <a:pt x="68232" y="1571625"/>
                  <a:pt x="0" y="1503393"/>
                  <a:pt x="0" y="1419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698282791" name="Shape 4"/>
          <p:cNvSpPr/>
          <p:nvPr/>
        </p:nvSpPr>
        <p:spPr bwMode="auto">
          <a:xfrm>
            <a:off x="619125" y="2105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388320326" name="Shape 5"/>
          <p:cNvSpPr/>
          <p:nvPr/>
        </p:nvSpPr>
        <p:spPr bwMode="auto">
          <a:xfrm>
            <a:off x="776288" y="22383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fill="norm" stroke="1" extrusionOk="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27969444" name="Text 6"/>
          <p:cNvSpPr/>
          <p:nvPr/>
        </p:nvSpPr>
        <p:spPr bwMode="auto">
          <a:xfrm flipH="0" flipV="0">
            <a:off x="1228725" y="2200275"/>
            <a:ext cx="1593417" cy="36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HTML-формы</a:t>
            </a:r>
            <a:endParaRPr sz="1800"/>
          </a:p>
        </p:txBody>
      </p:sp>
      <p:sp>
        <p:nvSpPr>
          <p:cNvPr id="1255702540" name="Text 7"/>
          <p:cNvSpPr/>
          <p:nvPr/>
        </p:nvSpPr>
        <p:spPr bwMode="auto">
          <a:xfrm>
            <a:off x="619125" y="2714625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Создавать семантически правильные формы с полями ввода, метками и кнопками</a:t>
            </a:r>
            <a:endParaRPr sz="1600"/>
          </a:p>
        </p:txBody>
      </p:sp>
      <p:sp>
        <p:nvSpPr>
          <p:cNvPr id="1244954029" name="Shape 8"/>
          <p:cNvSpPr/>
          <p:nvPr/>
        </p:nvSpPr>
        <p:spPr bwMode="auto">
          <a:xfrm>
            <a:off x="6215063" y="1871663"/>
            <a:ext cx="5591175" cy="1571625"/>
          </a:xfrm>
          <a:custGeom>
            <a:avLst/>
            <a:gdLst/>
            <a:ahLst/>
            <a:cxnLst/>
            <a:rect l="l" t="t" r="r" b="b"/>
            <a:pathLst>
              <a:path w="5591175" h="1571625" fill="norm" stroke="1" extrusionOk="0">
                <a:moveTo>
                  <a:pt x="152400" y="0"/>
                </a:moveTo>
                <a:lnTo>
                  <a:pt x="5438775" y="0"/>
                </a:lnTo>
                <a:cubicBezTo>
                  <a:pt x="5522943" y="0"/>
                  <a:pt x="5591175" y="68232"/>
                  <a:pt x="5591175" y="152400"/>
                </a:cubicBezTo>
                <a:lnTo>
                  <a:pt x="5591175" y="1419225"/>
                </a:lnTo>
                <a:cubicBezTo>
                  <a:pt x="5591175" y="1503393"/>
                  <a:pt x="5522943" y="1571625"/>
                  <a:pt x="5438775" y="1571625"/>
                </a:cubicBezTo>
                <a:lnTo>
                  <a:pt x="152400" y="1571625"/>
                </a:lnTo>
                <a:cubicBezTo>
                  <a:pt x="68232" y="1571625"/>
                  <a:pt x="0" y="1503393"/>
                  <a:pt x="0" y="1419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596469257" name="Shape 9"/>
          <p:cNvSpPr/>
          <p:nvPr/>
        </p:nvSpPr>
        <p:spPr bwMode="auto">
          <a:xfrm>
            <a:off x="6448425" y="2105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348836938" name="Shape 10"/>
          <p:cNvSpPr/>
          <p:nvPr/>
        </p:nvSpPr>
        <p:spPr bwMode="auto">
          <a:xfrm>
            <a:off x="6569869" y="2238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178780" y="3832"/>
                </a:moveTo>
                <a:lnTo>
                  <a:pt x="96403" y="58787"/>
                </a:lnTo>
                <a:cubicBezTo>
                  <a:pt x="85576" y="66005"/>
                  <a:pt x="78693" y="77725"/>
                  <a:pt x="77577" y="90525"/>
                </a:cubicBezTo>
                <a:cubicBezTo>
                  <a:pt x="100757" y="95287"/>
                  <a:pt x="119025" y="113556"/>
                  <a:pt x="123825" y="136773"/>
                </a:cubicBezTo>
                <a:cubicBezTo>
                  <a:pt x="136661" y="135657"/>
                  <a:pt x="148344" y="128774"/>
                  <a:pt x="155563" y="117946"/>
                </a:cubicBezTo>
                <a:lnTo>
                  <a:pt x="210480" y="35533"/>
                </a:lnTo>
                <a:cubicBezTo>
                  <a:pt x="212973" y="31775"/>
                  <a:pt x="214313" y="27384"/>
                  <a:pt x="214313" y="22845"/>
                </a:cubicBezTo>
                <a:cubicBezTo>
                  <a:pt x="214313" y="10232"/>
                  <a:pt x="204081" y="0"/>
                  <a:pt x="191467" y="0"/>
                </a:cubicBezTo>
                <a:cubicBezTo>
                  <a:pt x="186965" y="0"/>
                  <a:pt x="182538" y="1339"/>
                  <a:pt x="178780" y="3832"/>
                </a:cubicBezTo>
                <a:close/>
                <a:moveTo>
                  <a:pt x="107156" y="148828"/>
                </a:moveTo>
                <a:cubicBezTo>
                  <a:pt x="107156" y="125797"/>
                  <a:pt x="88516" y="107156"/>
                  <a:pt x="65484" y="107156"/>
                </a:cubicBezTo>
                <a:cubicBezTo>
                  <a:pt x="42453" y="107156"/>
                  <a:pt x="23812" y="125797"/>
                  <a:pt x="23812" y="148828"/>
                </a:cubicBezTo>
                <a:cubicBezTo>
                  <a:pt x="23812" y="150279"/>
                  <a:pt x="23887" y="151730"/>
                  <a:pt x="24036" y="153144"/>
                </a:cubicBezTo>
                <a:cubicBezTo>
                  <a:pt x="24705" y="159655"/>
                  <a:pt x="20241" y="166688"/>
                  <a:pt x="13692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65484" y="190500"/>
                </a:lnTo>
                <a:cubicBezTo>
                  <a:pt x="88516" y="190500"/>
                  <a:pt x="107156" y="171859"/>
                  <a:pt x="107156" y="14882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63408701" name="Text 11"/>
          <p:cNvSpPr/>
          <p:nvPr/>
        </p:nvSpPr>
        <p:spPr bwMode="auto">
          <a:xfrm flipH="0" flipV="0">
            <a:off x="7058024" y="2200274"/>
            <a:ext cx="2286474" cy="36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CSS</a:t>
            </a: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-стилизация</a:t>
            </a:r>
            <a:endParaRPr sz="1800"/>
          </a:p>
        </p:txBody>
      </p:sp>
      <p:sp>
        <p:nvSpPr>
          <p:cNvPr id="1583332034" name="Text 12"/>
          <p:cNvSpPr/>
          <p:nvPr/>
        </p:nvSpPr>
        <p:spPr bwMode="auto">
          <a:xfrm flipH="0" flipV="0">
            <a:off x="6448424" y="2714625"/>
            <a:ext cx="5200650" cy="58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Оформлять формы с помощью современных CSS-техник и эффектов</a:t>
            </a:r>
            <a:endParaRPr sz="1600"/>
          </a:p>
        </p:txBody>
      </p:sp>
      <p:sp>
        <p:nvSpPr>
          <p:cNvPr id="1729176028" name="Shape 13"/>
          <p:cNvSpPr/>
          <p:nvPr/>
        </p:nvSpPr>
        <p:spPr bwMode="auto">
          <a:xfrm>
            <a:off x="385762" y="3681413"/>
            <a:ext cx="5591175" cy="1323974"/>
          </a:xfrm>
          <a:custGeom>
            <a:avLst/>
            <a:gdLst/>
            <a:ahLst/>
            <a:cxnLst/>
            <a:rect l="l" t="t" r="r" b="b"/>
            <a:pathLst>
              <a:path w="5591175" h="1323975" fill="norm" stroke="1" extrusionOk="0">
                <a:moveTo>
                  <a:pt x="152403" y="0"/>
                </a:moveTo>
                <a:lnTo>
                  <a:pt x="5438772" y="0"/>
                </a:lnTo>
                <a:cubicBezTo>
                  <a:pt x="5522942" y="0"/>
                  <a:pt x="5591175" y="68233"/>
                  <a:pt x="5591175" y="152403"/>
                </a:cubicBezTo>
                <a:lnTo>
                  <a:pt x="5591175" y="1171572"/>
                </a:lnTo>
                <a:cubicBezTo>
                  <a:pt x="5591175" y="1255742"/>
                  <a:pt x="5522942" y="1323975"/>
                  <a:pt x="5438772" y="1323975"/>
                </a:cubicBezTo>
                <a:lnTo>
                  <a:pt x="152403" y="1323975"/>
                </a:lnTo>
                <a:cubicBezTo>
                  <a:pt x="68233" y="1323975"/>
                  <a:pt x="0" y="1255742"/>
                  <a:pt x="0" y="11715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267949320" name="Shape 14"/>
          <p:cNvSpPr/>
          <p:nvPr/>
        </p:nvSpPr>
        <p:spPr bwMode="auto">
          <a:xfrm>
            <a:off x="619125" y="3914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795312103" name="Shape 15"/>
          <p:cNvSpPr/>
          <p:nvPr/>
        </p:nvSpPr>
        <p:spPr bwMode="auto">
          <a:xfrm>
            <a:off x="752475" y="4048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3505420" name="Text 16"/>
          <p:cNvSpPr/>
          <p:nvPr/>
        </p:nvSpPr>
        <p:spPr bwMode="auto">
          <a:xfrm flipH="0" flipV="0">
            <a:off x="1228725" y="4010024"/>
            <a:ext cx="1348489" cy="36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Валидация</a:t>
            </a:r>
            <a:endParaRPr sz="1800"/>
          </a:p>
        </p:txBody>
      </p:sp>
      <p:sp>
        <p:nvSpPr>
          <p:cNvPr id="1488300417" name="Text 17"/>
          <p:cNvSpPr/>
          <p:nvPr/>
        </p:nvSpPr>
        <p:spPr bwMode="auto">
          <a:xfrm flipH="0" flipV="0">
            <a:off x="619124" y="4524374"/>
            <a:ext cx="5200650" cy="38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Проверять корректность данных с помощью HTML5 и JavaScript</a:t>
            </a:r>
            <a:endParaRPr sz="1600"/>
          </a:p>
        </p:txBody>
      </p:sp>
      <p:sp>
        <p:nvSpPr>
          <p:cNvPr id="1396857858" name="Shape 18"/>
          <p:cNvSpPr/>
          <p:nvPr/>
        </p:nvSpPr>
        <p:spPr bwMode="auto">
          <a:xfrm>
            <a:off x="6215063" y="3681413"/>
            <a:ext cx="5591175" cy="1323974"/>
          </a:xfrm>
          <a:custGeom>
            <a:avLst/>
            <a:gdLst/>
            <a:ahLst/>
            <a:cxnLst/>
            <a:rect l="l" t="t" r="r" b="b"/>
            <a:pathLst>
              <a:path w="5591175" h="1323975" fill="norm" stroke="1" extrusionOk="0">
                <a:moveTo>
                  <a:pt x="152403" y="0"/>
                </a:moveTo>
                <a:lnTo>
                  <a:pt x="5438772" y="0"/>
                </a:lnTo>
                <a:cubicBezTo>
                  <a:pt x="5522942" y="0"/>
                  <a:pt x="5591175" y="68233"/>
                  <a:pt x="5591175" y="152403"/>
                </a:cubicBezTo>
                <a:lnTo>
                  <a:pt x="5591175" y="1171572"/>
                </a:lnTo>
                <a:cubicBezTo>
                  <a:pt x="5591175" y="1255742"/>
                  <a:pt x="5522942" y="1323975"/>
                  <a:pt x="5438772" y="1323975"/>
                </a:cubicBezTo>
                <a:lnTo>
                  <a:pt x="152403" y="1323975"/>
                </a:lnTo>
                <a:cubicBezTo>
                  <a:pt x="68233" y="1323975"/>
                  <a:pt x="0" y="1255742"/>
                  <a:pt x="0" y="11715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341822375" name="Shape 19"/>
          <p:cNvSpPr/>
          <p:nvPr/>
        </p:nvSpPr>
        <p:spPr bwMode="auto">
          <a:xfrm>
            <a:off x="6448425" y="3914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94975013" name="Shape 20"/>
          <p:cNvSpPr/>
          <p:nvPr/>
        </p:nvSpPr>
        <p:spPr bwMode="auto">
          <a:xfrm>
            <a:off x="6593681" y="404812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75839726" name="Text 21"/>
          <p:cNvSpPr/>
          <p:nvPr/>
        </p:nvSpPr>
        <p:spPr bwMode="auto">
          <a:xfrm flipH="0" flipV="0">
            <a:off x="7058024" y="4010024"/>
            <a:ext cx="2857974" cy="36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Отправка на сервер</a:t>
            </a:r>
            <a:endParaRPr sz="1800"/>
          </a:p>
        </p:txBody>
      </p:sp>
      <p:sp>
        <p:nvSpPr>
          <p:cNvPr id="1560413201" name="Text 22"/>
          <p:cNvSpPr/>
          <p:nvPr/>
        </p:nvSpPr>
        <p:spPr bwMode="auto">
          <a:xfrm flipH="0" flipV="0">
            <a:off x="6448424" y="4524374"/>
            <a:ext cx="5200650" cy="38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Настраивать отправку данных методами GET/POST на API endpoint</a:t>
            </a:r>
            <a:endParaRPr sz="1600"/>
          </a:p>
        </p:txBody>
      </p:sp>
      <p:sp>
        <p:nvSpPr>
          <p:cNvPr id="1874253153" name="Shape 23"/>
          <p:cNvSpPr/>
          <p:nvPr/>
        </p:nvSpPr>
        <p:spPr bwMode="auto">
          <a:xfrm>
            <a:off x="385762" y="5319713"/>
            <a:ext cx="11420475" cy="1371600"/>
          </a:xfrm>
          <a:custGeom>
            <a:avLst/>
            <a:gdLst/>
            <a:ahLst/>
            <a:cxnLst/>
            <a:rect l="l" t="t" r="r" b="b"/>
            <a:pathLst>
              <a:path w="11420475" h="1371600" fill="norm" stroke="1" extrusionOk="0">
                <a:moveTo>
                  <a:pt x="152398" y="0"/>
                </a:moveTo>
                <a:lnTo>
                  <a:pt x="11268077" y="0"/>
                </a:lnTo>
                <a:cubicBezTo>
                  <a:pt x="11352244" y="0"/>
                  <a:pt x="11420475" y="68231"/>
                  <a:pt x="11420475" y="152398"/>
                </a:cubicBezTo>
                <a:lnTo>
                  <a:pt x="11420475" y="1219202"/>
                </a:lnTo>
                <a:cubicBezTo>
                  <a:pt x="11420475" y="1303369"/>
                  <a:pt x="11352244" y="1371600"/>
                  <a:pt x="11268077" y="1371600"/>
                </a:cubicBezTo>
                <a:lnTo>
                  <a:pt x="152398" y="1371600"/>
                </a:lnTo>
                <a:cubicBezTo>
                  <a:pt x="68231" y="1371600"/>
                  <a:pt x="0" y="1303369"/>
                  <a:pt x="0" y="12192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158711" name="Shape 24"/>
          <p:cNvSpPr/>
          <p:nvPr/>
        </p:nvSpPr>
        <p:spPr bwMode="auto">
          <a:xfrm>
            <a:off x="619125" y="5591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00473684" name="Text 25"/>
          <p:cNvSpPr/>
          <p:nvPr/>
        </p:nvSpPr>
        <p:spPr bwMode="auto">
          <a:xfrm>
            <a:off x="999807" y="5553075"/>
            <a:ext cx="1066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8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Результат урока</a:t>
            </a:r>
            <a:endParaRPr sz="1800"/>
          </a:p>
        </p:txBody>
      </p:sp>
      <p:sp>
        <p:nvSpPr>
          <p:cNvPr id="2039689523" name="Text 26"/>
          <p:cNvSpPr/>
          <p:nvPr/>
        </p:nvSpPr>
        <p:spPr bwMode="auto">
          <a:xfrm>
            <a:off x="999807" y="5895975"/>
            <a:ext cx="106584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 концу урока вы создадите </a:t>
            </a: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полноценную форму обратной связи</a:t>
            </a: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 с валидацией полей, которая отправляет данные на сервер и корректно обрабатывает ответ.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67815" name="Text 0"/>
          <p:cNvSpPr/>
          <p:nvPr/>
        </p:nvSpPr>
        <p:spPr bwMode="auto">
          <a:xfrm>
            <a:off x="336099" y="336099"/>
            <a:ext cx="11578618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46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Оценивание</a:t>
            </a:r>
            <a:endParaRPr lang="en-US" sz="1600"/>
          </a:p>
        </p:txBody>
      </p:sp>
      <p:sp>
        <p:nvSpPr>
          <p:cNvPr id="433340382" name="Text 1"/>
          <p:cNvSpPr/>
          <p:nvPr/>
        </p:nvSpPr>
        <p:spPr bwMode="auto">
          <a:xfrm>
            <a:off x="336099" y="604979"/>
            <a:ext cx="11721461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2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Критерии оценки</a:t>
            </a:r>
            <a:endParaRPr lang="en-US" sz="1600"/>
          </a:p>
        </p:txBody>
      </p:sp>
      <p:sp>
        <p:nvSpPr>
          <p:cNvPr id="392996487" name="Text 2"/>
          <p:cNvSpPr/>
          <p:nvPr/>
        </p:nvSpPr>
        <p:spPr bwMode="auto">
          <a:xfrm>
            <a:off x="336099" y="1142737"/>
            <a:ext cx="11603826" cy="235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Как будет оцениваться ваша работа</a:t>
            </a:r>
            <a:endParaRPr lang="en-US" sz="1600"/>
          </a:p>
        </p:txBody>
      </p:sp>
      <p:sp>
        <p:nvSpPr>
          <p:cNvPr id="151464880" name="Shape 3"/>
          <p:cNvSpPr/>
          <p:nvPr/>
        </p:nvSpPr>
        <p:spPr bwMode="auto">
          <a:xfrm flipH="0" flipV="0">
            <a:off x="340299" y="1378004"/>
            <a:ext cx="5646466" cy="2407312"/>
          </a:xfrm>
          <a:custGeom>
            <a:avLst/>
            <a:gdLst/>
            <a:ahLst/>
            <a:cxnLst/>
            <a:rect l="l" t="t" r="r" b="b"/>
            <a:pathLst>
              <a:path w="5646467" h="2201450" fill="norm" stroke="1" extrusionOk="0">
                <a:moveTo>
                  <a:pt x="134443" y="0"/>
                </a:moveTo>
                <a:lnTo>
                  <a:pt x="5512025" y="0"/>
                </a:lnTo>
                <a:cubicBezTo>
                  <a:pt x="5586275" y="0"/>
                  <a:pt x="5646467" y="60192"/>
                  <a:pt x="5646467" y="134443"/>
                </a:cubicBezTo>
                <a:lnTo>
                  <a:pt x="5646467" y="2067007"/>
                </a:lnTo>
                <a:cubicBezTo>
                  <a:pt x="5646467" y="2141258"/>
                  <a:pt x="5586275" y="2201450"/>
                  <a:pt x="5512025" y="2201450"/>
                </a:cubicBezTo>
                <a:lnTo>
                  <a:pt x="134443" y="2201450"/>
                </a:lnTo>
                <a:cubicBezTo>
                  <a:pt x="60192" y="2201450"/>
                  <a:pt x="0" y="2141258"/>
                  <a:pt x="0" y="2067007"/>
                </a:cubicBezTo>
                <a:lnTo>
                  <a:pt x="0" y="134443"/>
                </a:lnTo>
                <a:cubicBezTo>
                  <a:pt x="0" y="60242"/>
                  <a:pt x="60242" y="0"/>
                  <a:pt x="13444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5207" dist="840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297459401" name="Shape 4"/>
          <p:cNvSpPr/>
          <p:nvPr/>
        </p:nvSpPr>
        <p:spPr bwMode="auto">
          <a:xfrm>
            <a:off x="562965" y="1520847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 fill="norm" stroke="1" extrusionOk="0">
                <a:moveTo>
                  <a:pt x="134440" y="0"/>
                </a:moveTo>
                <a:lnTo>
                  <a:pt x="403319" y="0"/>
                </a:lnTo>
                <a:cubicBezTo>
                  <a:pt x="477518" y="0"/>
                  <a:pt x="537759" y="60240"/>
                  <a:pt x="537759" y="134440"/>
                </a:cubicBezTo>
                <a:lnTo>
                  <a:pt x="537759" y="403319"/>
                </a:lnTo>
                <a:cubicBezTo>
                  <a:pt x="537759" y="477568"/>
                  <a:pt x="477568" y="537759"/>
                  <a:pt x="403319" y="537759"/>
                </a:cubicBezTo>
                <a:lnTo>
                  <a:pt x="134440" y="537759"/>
                </a:lnTo>
                <a:cubicBezTo>
                  <a:pt x="60240" y="537759"/>
                  <a:pt x="0" y="477518"/>
                  <a:pt x="0" y="403319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98347785" name="Text 5"/>
          <p:cNvSpPr/>
          <p:nvPr/>
        </p:nvSpPr>
        <p:spPr bwMode="auto">
          <a:xfrm>
            <a:off x="499947" y="1520847"/>
            <a:ext cx="663796" cy="53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20%</a:t>
            </a:r>
            <a:endParaRPr lang="en-US" sz="1600"/>
          </a:p>
        </p:txBody>
      </p:sp>
      <p:sp>
        <p:nvSpPr>
          <p:cNvPr id="2023409218" name="Text 6"/>
          <p:cNvSpPr/>
          <p:nvPr/>
        </p:nvSpPr>
        <p:spPr bwMode="auto">
          <a:xfrm>
            <a:off x="1235164" y="1520847"/>
            <a:ext cx="108392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Задание 1</a:t>
            </a:r>
            <a:endParaRPr lang="en-US" sz="1600"/>
          </a:p>
        </p:txBody>
      </p:sp>
      <p:sp>
        <p:nvSpPr>
          <p:cNvPr id="1198767930" name="Text 7"/>
          <p:cNvSpPr/>
          <p:nvPr/>
        </p:nvSpPr>
        <p:spPr bwMode="auto">
          <a:xfrm>
            <a:off x="1235164" y="1823337"/>
            <a:ext cx="105031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HTML + CSS</a:t>
            </a:r>
            <a:endParaRPr lang="en-US" sz="1600"/>
          </a:p>
        </p:txBody>
      </p:sp>
      <p:sp>
        <p:nvSpPr>
          <p:cNvPr id="2038728213" name="Text 8"/>
          <p:cNvSpPr/>
          <p:nvPr/>
        </p:nvSpPr>
        <p:spPr bwMode="auto">
          <a:xfrm flipH="0" flipV="0">
            <a:off x="546160" y="2143125"/>
            <a:ext cx="5301965" cy="82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Создание HTML-формы с правильной семантической структурой, всеми необходимыми полями и качественной CSS-стилизацией</a:t>
            </a:r>
            <a:endParaRPr sz="1400"/>
          </a:p>
        </p:txBody>
      </p:sp>
      <p:sp>
        <p:nvSpPr>
          <p:cNvPr id="761575568" name="Shape 9"/>
          <p:cNvSpPr/>
          <p:nvPr/>
        </p:nvSpPr>
        <p:spPr bwMode="auto">
          <a:xfrm>
            <a:off x="546161" y="3037497"/>
            <a:ext cx="5234746" cy="8402"/>
          </a:xfrm>
          <a:custGeom>
            <a:avLst/>
            <a:gdLst/>
            <a:ahLst/>
            <a:cxnLst/>
            <a:rect l="l" t="t" r="r" b="b"/>
            <a:pathLst>
              <a:path w="5234746" h="8402" fill="norm" stroke="1" extrusionOk="0">
                <a:moveTo>
                  <a:pt x="0" y="0"/>
                </a:moveTo>
                <a:lnTo>
                  <a:pt x="5234746" y="0"/>
                </a:lnTo>
                <a:lnTo>
                  <a:pt x="5234746" y="8402"/>
                </a:lnTo>
                <a:lnTo>
                  <a:pt x="0" y="84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317510857" name="Shape 10"/>
          <p:cNvSpPr/>
          <p:nvPr/>
        </p:nvSpPr>
        <p:spPr bwMode="auto">
          <a:xfrm>
            <a:off x="570318" y="3201345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74549216" name="Text 11"/>
          <p:cNvSpPr/>
          <p:nvPr/>
        </p:nvSpPr>
        <p:spPr bwMode="auto">
          <a:xfrm flipH="0" flipV="0">
            <a:off x="731670" y="3071106"/>
            <a:ext cx="3141218" cy="37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Правильная структура form, input, label</a:t>
            </a:r>
            <a:endParaRPr sz="1200"/>
          </a:p>
        </p:txBody>
      </p:sp>
      <p:sp>
        <p:nvSpPr>
          <p:cNvPr id="1793077466" name="Shape 12"/>
          <p:cNvSpPr/>
          <p:nvPr/>
        </p:nvSpPr>
        <p:spPr bwMode="auto">
          <a:xfrm>
            <a:off x="570318" y="3436615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60037623" name="Text 13"/>
          <p:cNvSpPr/>
          <p:nvPr/>
        </p:nvSpPr>
        <p:spPr bwMode="auto">
          <a:xfrm flipH="0" flipV="0">
            <a:off x="760423" y="3411406"/>
            <a:ext cx="3410847" cy="298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Современный дизайн с hover/focus эффектами</a:t>
            </a:r>
            <a:endParaRPr sz="1200"/>
          </a:p>
        </p:txBody>
      </p:sp>
      <p:sp>
        <p:nvSpPr>
          <p:cNvPr id="214824191" name="Shape 14"/>
          <p:cNvSpPr/>
          <p:nvPr/>
        </p:nvSpPr>
        <p:spPr bwMode="auto">
          <a:xfrm flipH="0" flipV="0">
            <a:off x="6199629" y="1378004"/>
            <a:ext cx="5646466" cy="2407312"/>
          </a:xfrm>
          <a:custGeom>
            <a:avLst/>
            <a:gdLst/>
            <a:ahLst/>
            <a:cxnLst/>
            <a:rect l="l" t="t" r="r" b="b"/>
            <a:pathLst>
              <a:path w="5646467" h="2201450" fill="norm" stroke="1" extrusionOk="0">
                <a:moveTo>
                  <a:pt x="134443" y="0"/>
                </a:moveTo>
                <a:lnTo>
                  <a:pt x="5512025" y="0"/>
                </a:lnTo>
                <a:cubicBezTo>
                  <a:pt x="5586275" y="0"/>
                  <a:pt x="5646467" y="60192"/>
                  <a:pt x="5646467" y="134443"/>
                </a:cubicBezTo>
                <a:lnTo>
                  <a:pt x="5646467" y="2067007"/>
                </a:lnTo>
                <a:cubicBezTo>
                  <a:pt x="5646467" y="2141258"/>
                  <a:pt x="5586275" y="2201450"/>
                  <a:pt x="5512025" y="2201450"/>
                </a:cubicBezTo>
                <a:lnTo>
                  <a:pt x="134443" y="2201450"/>
                </a:lnTo>
                <a:cubicBezTo>
                  <a:pt x="60192" y="2201450"/>
                  <a:pt x="0" y="2141258"/>
                  <a:pt x="0" y="2067007"/>
                </a:cubicBezTo>
                <a:lnTo>
                  <a:pt x="0" y="134443"/>
                </a:lnTo>
                <a:cubicBezTo>
                  <a:pt x="0" y="60242"/>
                  <a:pt x="60242" y="0"/>
                  <a:pt x="13444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5207" dist="840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876774316" name="Shape 15"/>
          <p:cNvSpPr/>
          <p:nvPr/>
        </p:nvSpPr>
        <p:spPr bwMode="auto">
          <a:xfrm>
            <a:off x="6422295" y="1520847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 fill="norm" stroke="1" extrusionOk="0">
                <a:moveTo>
                  <a:pt x="134440" y="0"/>
                </a:moveTo>
                <a:lnTo>
                  <a:pt x="403319" y="0"/>
                </a:lnTo>
                <a:cubicBezTo>
                  <a:pt x="477518" y="0"/>
                  <a:pt x="537759" y="60240"/>
                  <a:pt x="537759" y="134440"/>
                </a:cubicBezTo>
                <a:lnTo>
                  <a:pt x="537759" y="403319"/>
                </a:lnTo>
                <a:cubicBezTo>
                  <a:pt x="537759" y="477568"/>
                  <a:pt x="477568" y="537759"/>
                  <a:pt x="403319" y="537759"/>
                </a:cubicBezTo>
                <a:lnTo>
                  <a:pt x="134440" y="537759"/>
                </a:lnTo>
                <a:cubicBezTo>
                  <a:pt x="60240" y="537759"/>
                  <a:pt x="0" y="477518"/>
                  <a:pt x="0" y="403319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40464771" name="Text 16"/>
          <p:cNvSpPr/>
          <p:nvPr/>
        </p:nvSpPr>
        <p:spPr bwMode="auto">
          <a:xfrm>
            <a:off x="6359277" y="1520847"/>
            <a:ext cx="663796" cy="53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20%</a:t>
            </a:r>
            <a:endParaRPr lang="en-US" sz="1600"/>
          </a:p>
        </p:txBody>
      </p:sp>
      <p:sp>
        <p:nvSpPr>
          <p:cNvPr id="1306793984" name="Text 17"/>
          <p:cNvSpPr/>
          <p:nvPr/>
        </p:nvSpPr>
        <p:spPr bwMode="auto">
          <a:xfrm>
            <a:off x="7094494" y="1554457"/>
            <a:ext cx="111753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Задание 2</a:t>
            </a:r>
            <a:endParaRPr lang="en-US" sz="1600"/>
          </a:p>
        </p:txBody>
      </p:sp>
      <p:sp>
        <p:nvSpPr>
          <p:cNvPr id="101002643" name="Text 18"/>
          <p:cNvSpPr/>
          <p:nvPr/>
        </p:nvSpPr>
        <p:spPr bwMode="auto">
          <a:xfrm>
            <a:off x="7094494" y="1823337"/>
            <a:ext cx="108392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Валидация</a:t>
            </a:r>
            <a:endParaRPr lang="en-US" sz="1600"/>
          </a:p>
        </p:txBody>
      </p:sp>
      <p:sp>
        <p:nvSpPr>
          <p:cNvPr id="2092918222" name="Text 19"/>
          <p:cNvSpPr/>
          <p:nvPr/>
        </p:nvSpPr>
        <p:spPr bwMode="auto">
          <a:xfrm>
            <a:off x="6405491" y="2461927"/>
            <a:ext cx="5301966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Добавление валидации полей с использованием HTML5 атрибутов и JavaScript Constraint Validation API</a:t>
            </a:r>
            <a:endParaRPr sz="1400"/>
          </a:p>
        </p:txBody>
      </p:sp>
      <p:sp>
        <p:nvSpPr>
          <p:cNvPr id="1287572913" name="Shape 20"/>
          <p:cNvSpPr/>
          <p:nvPr/>
        </p:nvSpPr>
        <p:spPr bwMode="auto">
          <a:xfrm>
            <a:off x="6405491" y="3037497"/>
            <a:ext cx="5234746" cy="8402"/>
          </a:xfrm>
          <a:custGeom>
            <a:avLst/>
            <a:gdLst/>
            <a:ahLst/>
            <a:cxnLst/>
            <a:rect l="l" t="t" r="r" b="b"/>
            <a:pathLst>
              <a:path w="5234746" h="8402" fill="norm" stroke="1" extrusionOk="0">
                <a:moveTo>
                  <a:pt x="0" y="0"/>
                </a:moveTo>
                <a:lnTo>
                  <a:pt x="5234746" y="0"/>
                </a:lnTo>
                <a:lnTo>
                  <a:pt x="5234746" y="8402"/>
                </a:lnTo>
                <a:lnTo>
                  <a:pt x="0" y="84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72581796" name="Shape 21"/>
          <p:cNvSpPr/>
          <p:nvPr/>
        </p:nvSpPr>
        <p:spPr bwMode="auto">
          <a:xfrm>
            <a:off x="6429648" y="3201345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67544455" name="Text 22"/>
          <p:cNvSpPr/>
          <p:nvPr/>
        </p:nvSpPr>
        <p:spPr bwMode="auto">
          <a:xfrm flipH="0" flipV="0">
            <a:off x="6619753" y="3155918"/>
            <a:ext cx="2571158" cy="27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HTML5: required, type, minlength</a:t>
            </a:r>
            <a:endParaRPr sz="1200"/>
          </a:p>
        </p:txBody>
      </p:sp>
      <p:sp>
        <p:nvSpPr>
          <p:cNvPr id="1786976927" name="Shape 23"/>
          <p:cNvSpPr/>
          <p:nvPr/>
        </p:nvSpPr>
        <p:spPr bwMode="auto">
          <a:xfrm>
            <a:off x="6429648" y="3436615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81190941" name="Text 24"/>
          <p:cNvSpPr/>
          <p:nvPr/>
        </p:nvSpPr>
        <p:spPr bwMode="auto">
          <a:xfrm flipH="0" flipV="0">
            <a:off x="6619753" y="3336303"/>
            <a:ext cx="3232745" cy="373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JavaScript: checkValidity(), setCustomValidity()</a:t>
            </a:r>
            <a:endParaRPr sz="1200"/>
          </a:p>
        </p:txBody>
      </p:sp>
      <p:sp>
        <p:nvSpPr>
          <p:cNvPr id="1535743164" name="Shape 25"/>
          <p:cNvSpPr/>
          <p:nvPr/>
        </p:nvSpPr>
        <p:spPr bwMode="auto">
          <a:xfrm>
            <a:off x="340300" y="3995380"/>
            <a:ext cx="5646467" cy="2201450"/>
          </a:xfrm>
          <a:custGeom>
            <a:avLst/>
            <a:gdLst/>
            <a:ahLst/>
            <a:cxnLst/>
            <a:rect l="l" t="t" r="r" b="b"/>
            <a:pathLst>
              <a:path w="5646467" h="2201450" fill="norm" stroke="1" extrusionOk="0">
                <a:moveTo>
                  <a:pt x="134443" y="0"/>
                </a:moveTo>
                <a:lnTo>
                  <a:pt x="5512025" y="0"/>
                </a:lnTo>
                <a:cubicBezTo>
                  <a:pt x="5586275" y="0"/>
                  <a:pt x="5646467" y="60192"/>
                  <a:pt x="5646467" y="134443"/>
                </a:cubicBezTo>
                <a:lnTo>
                  <a:pt x="5646467" y="2067007"/>
                </a:lnTo>
                <a:cubicBezTo>
                  <a:pt x="5646467" y="2141258"/>
                  <a:pt x="5586275" y="2201450"/>
                  <a:pt x="5512025" y="2201450"/>
                </a:cubicBezTo>
                <a:lnTo>
                  <a:pt x="134443" y="2201450"/>
                </a:lnTo>
                <a:cubicBezTo>
                  <a:pt x="60192" y="2201450"/>
                  <a:pt x="0" y="2141258"/>
                  <a:pt x="0" y="2067007"/>
                </a:cubicBezTo>
                <a:lnTo>
                  <a:pt x="0" y="134443"/>
                </a:lnTo>
                <a:cubicBezTo>
                  <a:pt x="0" y="60242"/>
                  <a:pt x="60242" y="0"/>
                  <a:pt x="13444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5207" dist="840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204240331" name="Shape 26"/>
          <p:cNvSpPr/>
          <p:nvPr/>
        </p:nvSpPr>
        <p:spPr bwMode="auto">
          <a:xfrm>
            <a:off x="546161" y="4201241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 fill="norm" stroke="1" extrusionOk="0">
                <a:moveTo>
                  <a:pt x="134440" y="0"/>
                </a:moveTo>
                <a:lnTo>
                  <a:pt x="403319" y="0"/>
                </a:lnTo>
                <a:cubicBezTo>
                  <a:pt x="477518" y="0"/>
                  <a:pt x="537759" y="60240"/>
                  <a:pt x="537759" y="134440"/>
                </a:cubicBezTo>
                <a:lnTo>
                  <a:pt x="537759" y="403319"/>
                </a:lnTo>
                <a:cubicBezTo>
                  <a:pt x="537759" y="477568"/>
                  <a:pt x="477568" y="537759"/>
                  <a:pt x="403319" y="537759"/>
                </a:cubicBezTo>
                <a:lnTo>
                  <a:pt x="134440" y="537759"/>
                </a:lnTo>
                <a:cubicBezTo>
                  <a:pt x="60240" y="537759"/>
                  <a:pt x="0" y="477518"/>
                  <a:pt x="0" y="403319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05327951" name="Text 27"/>
          <p:cNvSpPr/>
          <p:nvPr/>
        </p:nvSpPr>
        <p:spPr bwMode="auto">
          <a:xfrm>
            <a:off x="483143" y="4201241"/>
            <a:ext cx="663796" cy="53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40%</a:t>
            </a:r>
            <a:endParaRPr lang="en-US" sz="1600"/>
          </a:p>
        </p:txBody>
      </p:sp>
      <p:sp>
        <p:nvSpPr>
          <p:cNvPr id="1212294483" name="Text 28"/>
          <p:cNvSpPr/>
          <p:nvPr/>
        </p:nvSpPr>
        <p:spPr bwMode="auto">
          <a:xfrm>
            <a:off x="1218360" y="4234850"/>
            <a:ext cx="122676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Задание 3</a:t>
            </a:r>
            <a:endParaRPr lang="en-US" sz="1600"/>
          </a:p>
        </p:txBody>
      </p:sp>
      <p:sp>
        <p:nvSpPr>
          <p:cNvPr id="1190646923" name="Text 29"/>
          <p:cNvSpPr/>
          <p:nvPr/>
        </p:nvSpPr>
        <p:spPr bwMode="auto">
          <a:xfrm>
            <a:off x="1218360" y="4503730"/>
            <a:ext cx="119315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Отправка данных</a:t>
            </a:r>
            <a:endParaRPr lang="en-US" sz="1600"/>
          </a:p>
        </p:txBody>
      </p:sp>
      <p:sp>
        <p:nvSpPr>
          <p:cNvPr id="1493400453" name="Text 30"/>
          <p:cNvSpPr/>
          <p:nvPr/>
        </p:nvSpPr>
        <p:spPr bwMode="auto">
          <a:xfrm>
            <a:off x="546161" y="4873439"/>
            <a:ext cx="5301966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Настройка отправки формы методом POST на webhook endpoint с правильным форматом данных</a:t>
            </a:r>
            <a:endParaRPr sz="1400"/>
          </a:p>
        </p:txBody>
      </p:sp>
      <p:sp>
        <p:nvSpPr>
          <p:cNvPr id="1315448810" name="Shape 31"/>
          <p:cNvSpPr/>
          <p:nvPr/>
        </p:nvSpPr>
        <p:spPr bwMode="auto">
          <a:xfrm>
            <a:off x="546161" y="5449009"/>
            <a:ext cx="5234746" cy="8402"/>
          </a:xfrm>
          <a:custGeom>
            <a:avLst/>
            <a:gdLst/>
            <a:ahLst/>
            <a:cxnLst/>
            <a:rect l="l" t="t" r="r" b="b"/>
            <a:pathLst>
              <a:path w="5234746" h="8402" fill="norm" stroke="1" extrusionOk="0">
                <a:moveTo>
                  <a:pt x="0" y="0"/>
                </a:moveTo>
                <a:lnTo>
                  <a:pt x="5234746" y="0"/>
                </a:lnTo>
                <a:lnTo>
                  <a:pt x="5234746" y="8402"/>
                </a:lnTo>
                <a:lnTo>
                  <a:pt x="0" y="84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510516432" name="Shape 32"/>
          <p:cNvSpPr/>
          <p:nvPr/>
        </p:nvSpPr>
        <p:spPr bwMode="auto">
          <a:xfrm>
            <a:off x="570318" y="5612857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4811048" name="Text 33"/>
          <p:cNvSpPr/>
          <p:nvPr/>
        </p:nvSpPr>
        <p:spPr bwMode="auto">
          <a:xfrm flipH="0" flipV="0">
            <a:off x="757024" y="5522529"/>
            <a:ext cx="3023290" cy="2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method="POST", action="URL"</a:t>
            </a:r>
            <a:endParaRPr sz="1200"/>
          </a:p>
        </p:txBody>
      </p:sp>
      <p:sp>
        <p:nvSpPr>
          <p:cNvPr id="2079761719" name="Shape 34"/>
          <p:cNvSpPr/>
          <p:nvPr/>
        </p:nvSpPr>
        <p:spPr bwMode="auto">
          <a:xfrm>
            <a:off x="570318" y="5848127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42027162" name="Text 35"/>
          <p:cNvSpPr/>
          <p:nvPr/>
        </p:nvSpPr>
        <p:spPr bwMode="auto">
          <a:xfrm flipH="0" flipV="0">
            <a:off x="760423" y="5755699"/>
            <a:ext cx="2950718" cy="33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Правильные атрибуты name для полей</a:t>
            </a:r>
            <a:endParaRPr sz="1200"/>
          </a:p>
        </p:txBody>
      </p:sp>
      <p:sp>
        <p:nvSpPr>
          <p:cNvPr id="1247394050" name="Shape 36"/>
          <p:cNvSpPr/>
          <p:nvPr/>
        </p:nvSpPr>
        <p:spPr bwMode="auto">
          <a:xfrm>
            <a:off x="6199630" y="3995380"/>
            <a:ext cx="5646467" cy="2201450"/>
          </a:xfrm>
          <a:custGeom>
            <a:avLst/>
            <a:gdLst/>
            <a:ahLst/>
            <a:cxnLst/>
            <a:rect l="l" t="t" r="r" b="b"/>
            <a:pathLst>
              <a:path w="5646467" h="2201450" fill="norm" stroke="1" extrusionOk="0">
                <a:moveTo>
                  <a:pt x="134443" y="0"/>
                </a:moveTo>
                <a:lnTo>
                  <a:pt x="5512025" y="0"/>
                </a:lnTo>
                <a:cubicBezTo>
                  <a:pt x="5586275" y="0"/>
                  <a:pt x="5646467" y="60192"/>
                  <a:pt x="5646467" y="134443"/>
                </a:cubicBezTo>
                <a:lnTo>
                  <a:pt x="5646467" y="2067007"/>
                </a:lnTo>
                <a:cubicBezTo>
                  <a:pt x="5646467" y="2141258"/>
                  <a:pt x="5586275" y="2201450"/>
                  <a:pt x="5512025" y="2201450"/>
                </a:cubicBezTo>
                <a:lnTo>
                  <a:pt x="134443" y="2201450"/>
                </a:lnTo>
                <a:cubicBezTo>
                  <a:pt x="60192" y="2201450"/>
                  <a:pt x="0" y="2141258"/>
                  <a:pt x="0" y="2067007"/>
                </a:cubicBezTo>
                <a:lnTo>
                  <a:pt x="0" y="134443"/>
                </a:lnTo>
                <a:cubicBezTo>
                  <a:pt x="0" y="60242"/>
                  <a:pt x="60242" y="0"/>
                  <a:pt x="13444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5207" dist="840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985421684" name="Shape 37"/>
          <p:cNvSpPr/>
          <p:nvPr/>
        </p:nvSpPr>
        <p:spPr bwMode="auto">
          <a:xfrm>
            <a:off x="6405491" y="4201241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 fill="norm" stroke="1" extrusionOk="0">
                <a:moveTo>
                  <a:pt x="134440" y="0"/>
                </a:moveTo>
                <a:lnTo>
                  <a:pt x="403319" y="0"/>
                </a:lnTo>
                <a:cubicBezTo>
                  <a:pt x="477518" y="0"/>
                  <a:pt x="537759" y="60240"/>
                  <a:pt x="537759" y="134440"/>
                </a:cubicBezTo>
                <a:lnTo>
                  <a:pt x="537759" y="403319"/>
                </a:lnTo>
                <a:cubicBezTo>
                  <a:pt x="537759" y="477568"/>
                  <a:pt x="477568" y="537759"/>
                  <a:pt x="403319" y="537759"/>
                </a:cubicBezTo>
                <a:lnTo>
                  <a:pt x="134440" y="537759"/>
                </a:lnTo>
                <a:cubicBezTo>
                  <a:pt x="60240" y="537759"/>
                  <a:pt x="0" y="477518"/>
                  <a:pt x="0" y="403319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44136901" name="Text 38"/>
          <p:cNvSpPr/>
          <p:nvPr/>
        </p:nvSpPr>
        <p:spPr bwMode="auto">
          <a:xfrm>
            <a:off x="6342473" y="4201241"/>
            <a:ext cx="663796" cy="53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20%</a:t>
            </a:r>
            <a:endParaRPr lang="en-US" sz="1600"/>
          </a:p>
        </p:txBody>
      </p:sp>
      <p:sp>
        <p:nvSpPr>
          <p:cNvPr id="1494794883" name="Text 39"/>
          <p:cNvSpPr/>
          <p:nvPr/>
        </p:nvSpPr>
        <p:spPr bwMode="auto">
          <a:xfrm>
            <a:off x="7077690" y="4234850"/>
            <a:ext cx="111753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Задание 4</a:t>
            </a:r>
            <a:endParaRPr lang="en-US" sz="1600"/>
          </a:p>
        </p:txBody>
      </p:sp>
      <p:sp>
        <p:nvSpPr>
          <p:cNvPr id="950933723" name="Text 40"/>
          <p:cNvSpPr/>
          <p:nvPr/>
        </p:nvSpPr>
        <p:spPr bwMode="auto">
          <a:xfrm>
            <a:off x="7077690" y="4503730"/>
            <a:ext cx="108392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Тестирование</a:t>
            </a:r>
            <a:endParaRPr lang="en-US" sz="1600"/>
          </a:p>
        </p:txBody>
      </p:sp>
      <p:sp>
        <p:nvSpPr>
          <p:cNvPr id="277320058" name="Text 41"/>
          <p:cNvSpPr/>
          <p:nvPr/>
        </p:nvSpPr>
        <p:spPr bwMode="auto">
          <a:xfrm>
            <a:off x="6405491" y="4873439"/>
            <a:ext cx="5301966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Тестирование формы с помощью DevTools, анализ запросов и ответов сервера, отладка ошибок</a:t>
            </a:r>
            <a:endParaRPr sz="1400"/>
          </a:p>
        </p:txBody>
      </p:sp>
      <p:sp>
        <p:nvSpPr>
          <p:cNvPr id="1443540752" name="Shape 42"/>
          <p:cNvSpPr/>
          <p:nvPr/>
        </p:nvSpPr>
        <p:spPr bwMode="auto">
          <a:xfrm>
            <a:off x="6405491" y="5449009"/>
            <a:ext cx="5234746" cy="8402"/>
          </a:xfrm>
          <a:custGeom>
            <a:avLst/>
            <a:gdLst/>
            <a:ahLst/>
            <a:cxnLst/>
            <a:rect l="l" t="t" r="r" b="b"/>
            <a:pathLst>
              <a:path w="5234746" h="8402" fill="norm" stroke="1" extrusionOk="0">
                <a:moveTo>
                  <a:pt x="0" y="0"/>
                </a:moveTo>
                <a:lnTo>
                  <a:pt x="5234746" y="0"/>
                </a:lnTo>
                <a:lnTo>
                  <a:pt x="5234746" y="8402"/>
                </a:lnTo>
                <a:lnTo>
                  <a:pt x="0" y="84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979033186" name="Shape 43"/>
          <p:cNvSpPr/>
          <p:nvPr/>
        </p:nvSpPr>
        <p:spPr bwMode="auto">
          <a:xfrm>
            <a:off x="6429648" y="5612857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145752" name="Text 44"/>
          <p:cNvSpPr/>
          <p:nvPr/>
        </p:nvSpPr>
        <p:spPr bwMode="auto">
          <a:xfrm flipH="0" flipV="0">
            <a:off x="6619753" y="5522529"/>
            <a:ext cx="3005960" cy="325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Использование вкладки Network</a:t>
            </a:r>
            <a:endParaRPr sz="1200"/>
          </a:p>
        </p:txBody>
      </p:sp>
      <p:sp>
        <p:nvSpPr>
          <p:cNvPr id="1022145000" name="Shape 45"/>
          <p:cNvSpPr/>
          <p:nvPr/>
        </p:nvSpPr>
        <p:spPr bwMode="auto">
          <a:xfrm>
            <a:off x="6429648" y="5848127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 fill="norm" stroke="1" extrusionOk="0">
                <a:moveTo>
                  <a:pt x="99898" y="16106"/>
                </a:moveTo>
                <a:cubicBezTo>
                  <a:pt x="103183" y="18495"/>
                  <a:pt x="103918" y="23090"/>
                  <a:pt x="101529" y="26376"/>
                </a:cubicBezTo>
                <a:lnTo>
                  <a:pt x="42712" y="107250"/>
                </a:lnTo>
                <a:cubicBezTo>
                  <a:pt x="41448" y="108996"/>
                  <a:pt x="39495" y="110076"/>
                  <a:pt x="37335" y="110260"/>
                </a:cubicBezTo>
                <a:cubicBezTo>
                  <a:pt x="35176" y="110443"/>
                  <a:pt x="33085" y="109639"/>
                  <a:pt x="31568" y="108123"/>
                </a:cubicBezTo>
                <a:lnTo>
                  <a:pt x="2160" y="78714"/>
                </a:lnTo>
                <a:cubicBezTo>
                  <a:pt x="-712" y="75842"/>
                  <a:pt x="-712" y="71178"/>
                  <a:pt x="2160" y="68306"/>
                </a:cubicBezTo>
                <a:cubicBezTo>
                  <a:pt x="5032" y="65434"/>
                  <a:pt x="9696" y="65434"/>
                  <a:pt x="12568" y="68306"/>
                </a:cubicBezTo>
                <a:lnTo>
                  <a:pt x="35888" y="91626"/>
                </a:lnTo>
                <a:lnTo>
                  <a:pt x="89651" y="17714"/>
                </a:lnTo>
                <a:cubicBezTo>
                  <a:pt x="92040" y="14429"/>
                  <a:pt x="96635" y="13693"/>
                  <a:pt x="99921" y="160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66731498" name="Text 46"/>
          <p:cNvSpPr/>
          <p:nvPr/>
        </p:nvSpPr>
        <p:spPr bwMode="auto">
          <a:xfrm flipH="0" flipV="0">
            <a:off x="6619753" y="5755699"/>
            <a:ext cx="2851745" cy="33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Анализ статусов ответа (200, 400, 500)</a:t>
            </a:r>
            <a:endParaRPr sz="1200"/>
          </a:p>
        </p:txBody>
      </p:sp>
      <p:sp>
        <p:nvSpPr>
          <p:cNvPr id="521843910" name="Shape 47"/>
          <p:cNvSpPr/>
          <p:nvPr/>
        </p:nvSpPr>
        <p:spPr bwMode="auto">
          <a:xfrm>
            <a:off x="340300" y="6339672"/>
            <a:ext cx="11511399" cy="512551"/>
          </a:xfrm>
          <a:custGeom>
            <a:avLst/>
            <a:gdLst/>
            <a:ahLst/>
            <a:cxnLst/>
            <a:rect l="l" t="t" r="r" b="b"/>
            <a:pathLst>
              <a:path w="11511399" h="512551" fill="norm" stroke="1" extrusionOk="0">
                <a:moveTo>
                  <a:pt x="100829" y="0"/>
                </a:moveTo>
                <a:lnTo>
                  <a:pt x="11410570" y="0"/>
                </a:lnTo>
                <a:cubicBezTo>
                  <a:pt x="11466256" y="0"/>
                  <a:pt x="11511399" y="45143"/>
                  <a:pt x="11511399" y="100829"/>
                </a:cubicBezTo>
                <a:lnTo>
                  <a:pt x="11511399" y="411722"/>
                </a:lnTo>
                <a:cubicBezTo>
                  <a:pt x="11511399" y="467409"/>
                  <a:pt x="11466256" y="512551"/>
                  <a:pt x="11410570" y="512551"/>
                </a:cubicBezTo>
                <a:lnTo>
                  <a:pt x="100829" y="512551"/>
                </a:lnTo>
                <a:cubicBezTo>
                  <a:pt x="45143" y="512551"/>
                  <a:pt x="0" y="467409"/>
                  <a:pt x="0" y="411722"/>
                </a:cubicBezTo>
                <a:lnTo>
                  <a:pt x="0" y="100829"/>
                </a:lnTo>
                <a:cubicBezTo>
                  <a:pt x="0" y="45143"/>
                  <a:pt x="45143" y="0"/>
                  <a:pt x="10082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77774021" name="Shape 48"/>
          <p:cNvSpPr/>
          <p:nvPr/>
        </p:nvSpPr>
        <p:spPr bwMode="auto">
          <a:xfrm>
            <a:off x="4171271" y="6497217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 fill="norm" stroke="1" extrusionOk="0">
                <a:moveTo>
                  <a:pt x="101585" y="-6203"/>
                </a:moveTo>
                <a:cubicBezTo>
                  <a:pt x="100239" y="-8829"/>
                  <a:pt x="97515" y="-10503"/>
                  <a:pt x="94561" y="-10503"/>
                </a:cubicBezTo>
                <a:cubicBezTo>
                  <a:pt x="91607" y="-10503"/>
                  <a:pt x="88882" y="-8829"/>
                  <a:pt x="87537" y="-6203"/>
                </a:cubicBezTo>
                <a:lnTo>
                  <a:pt x="63380" y="41126"/>
                </a:lnTo>
                <a:lnTo>
                  <a:pt x="10897" y="49463"/>
                </a:lnTo>
                <a:cubicBezTo>
                  <a:pt x="7976" y="49923"/>
                  <a:pt x="5547" y="51990"/>
                  <a:pt x="4628" y="54813"/>
                </a:cubicBezTo>
                <a:cubicBezTo>
                  <a:pt x="3709" y="57636"/>
                  <a:pt x="4464" y="60721"/>
                  <a:pt x="6532" y="62822"/>
                </a:cubicBezTo>
                <a:lnTo>
                  <a:pt x="44080" y="100403"/>
                </a:lnTo>
                <a:lnTo>
                  <a:pt x="35809" y="152886"/>
                </a:lnTo>
                <a:cubicBezTo>
                  <a:pt x="35350" y="155807"/>
                  <a:pt x="36564" y="158761"/>
                  <a:pt x="38960" y="160501"/>
                </a:cubicBezTo>
                <a:cubicBezTo>
                  <a:pt x="41356" y="162240"/>
                  <a:pt x="44507" y="162503"/>
                  <a:pt x="47165" y="161157"/>
                </a:cubicBezTo>
                <a:lnTo>
                  <a:pt x="94561" y="137065"/>
                </a:lnTo>
                <a:lnTo>
                  <a:pt x="141923" y="161157"/>
                </a:lnTo>
                <a:cubicBezTo>
                  <a:pt x="144549" y="162503"/>
                  <a:pt x="147733" y="162240"/>
                  <a:pt x="150129" y="160501"/>
                </a:cubicBezTo>
                <a:cubicBezTo>
                  <a:pt x="152525" y="158761"/>
                  <a:pt x="153739" y="155840"/>
                  <a:pt x="153280" y="152886"/>
                </a:cubicBezTo>
                <a:lnTo>
                  <a:pt x="144976" y="100403"/>
                </a:lnTo>
                <a:lnTo>
                  <a:pt x="182524" y="62822"/>
                </a:lnTo>
                <a:cubicBezTo>
                  <a:pt x="184625" y="60721"/>
                  <a:pt x="185347" y="57636"/>
                  <a:pt x="184428" y="54813"/>
                </a:cubicBezTo>
                <a:cubicBezTo>
                  <a:pt x="183509" y="51990"/>
                  <a:pt x="181113" y="49923"/>
                  <a:pt x="178159" y="49463"/>
                </a:cubicBezTo>
                <a:lnTo>
                  <a:pt x="125709" y="41126"/>
                </a:lnTo>
                <a:lnTo>
                  <a:pt x="101585" y="-620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90851308" name="Text 49"/>
          <p:cNvSpPr/>
          <p:nvPr/>
        </p:nvSpPr>
        <p:spPr bwMode="auto">
          <a:xfrm flipH="0" flipV="0">
            <a:off x="4471660" y="6463607"/>
            <a:ext cx="3248677" cy="37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Максимальный балл: 100%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822474" name="Text 0"/>
          <p:cNvSpPr/>
          <p:nvPr/>
        </p:nvSpPr>
        <p:spPr bwMode="auto">
          <a:xfrm>
            <a:off x="341992" y="341992"/>
            <a:ext cx="11567865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47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Повторение</a:t>
            </a:r>
            <a:endParaRPr lang="en-US" sz="1600"/>
          </a:p>
        </p:txBody>
      </p:sp>
      <p:sp>
        <p:nvSpPr>
          <p:cNvPr id="684072618" name="Text 1"/>
          <p:cNvSpPr/>
          <p:nvPr/>
        </p:nvSpPr>
        <p:spPr bwMode="auto">
          <a:xfrm>
            <a:off x="341992" y="615584"/>
            <a:ext cx="11713212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2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Актуализация знаний</a:t>
            </a:r>
            <a:endParaRPr lang="en-US" sz="1600"/>
          </a:p>
        </p:txBody>
      </p:sp>
      <p:sp>
        <p:nvSpPr>
          <p:cNvPr id="1269571586" name="Text 2"/>
          <p:cNvSpPr/>
          <p:nvPr/>
        </p:nvSpPr>
        <p:spPr bwMode="auto">
          <a:xfrm>
            <a:off x="341992" y="1162771"/>
            <a:ext cx="1159351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Вспомним ключевые концепции перед практикой</a:t>
            </a:r>
            <a:endParaRPr lang="en-US" sz="1600"/>
          </a:p>
        </p:txBody>
      </p:sp>
      <p:sp>
        <p:nvSpPr>
          <p:cNvPr id="873933036" name="Shape 3"/>
          <p:cNvSpPr/>
          <p:nvPr/>
        </p:nvSpPr>
        <p:spPr bwMode="auto">
          <a:xfrm>
            <a:off x="354816" y="1641560"/>
            <a:ext cx="230844" cy="205195"/>
          </a:xfrm>
          <a:custGeom>
            <a:avLst/>
            <a:gdLst/>
            <a:ahLst/>
            <a:cxnLst/>
            <a:rect l="l" t="t" r="r" b="b"/>
            <a:pathLst>
              <a:path w="230844" h="205195" fill="norm" stroke="1" extrusionOk="0">
                <a:moveTo>
                  <a:pt x="144598" y="481"/>
                </a:moveTo>
                <a:cubicBezTo>
                  <a:pt x="137785" y="-1483"/>
                  <a:pt x="130692" y="2485"/>
                  <a:pt x="128728" y="9298"/>
                </a:cubicBezTo>
                <a:lnTo>
                  <a:pt x="77429" y="188843"/>
                </a:lnTo>
                <a:cubicBezTo>
                  <a:pt x="75465" y="195657"/>
                  <a:pt x="79433" y="202750"/>
                  <a:pt x="86246" y="204714"/>
                </a:cubicBezTo>
                <a:cubicBezTo>
                  <a:pt x="93059" y="206678"/>
                  <a:pt x="100153" y="202710"/>
                  <a:pt x="102117" y="195897"/>
                </a:cubicBezTo>
                <a:lnTo>
                  <a:pt x="153415" y="16351"/>
                </a:lnTo>
                <a:cubicBezTo>
                  <a:pt x="155379" y="9538"/>
                  <a:pt x="151411" y="2445"/>
                  <a:pt x="144598" y="481"/>
                </a:cubicBezTo>
                <a:close/>
                <a:moveTo>
                  <a:pt x="170488" y="55026"/>
                </a:moveTo>
                <a:cubicBezTo>
                  <a:pt x="165479" y="60036"/>
                  <a:pt x="165479" y="68171"/>
                  <a:pt x="170488" y="73181"/>
                </a:cubicBezTo>
                <a:lnTo>
                  <a:pt x="199905" y="102597"/>
                </a:lnTo>
                <a:lnTo>
                  <a:pt x="170488" y="132014"/>
                </a:lnTo>
                <a:cubicBezTo>
                  <a:pt x="165479" y="137024"/>
                  <a:pt x="165479" y="145159"/>
                  <a:pt x="170488" y="150169"/>
                </a:cubicBezTo>
                <a:cubicBezTo>
                  <a:pt x="175498" y="155179"/>
                  <a:pt x="183633" y="155179"/>
                  <a:pt x="188643" y="150169"/>
                </a:cubicBezTo>
                <a:lnTo>
                  <a:pt x="227117" y="111695"/>
                </a:lnTo>
                <a:cubicBezTo>
                  <a:pt x="232127" y="106685"/>
                  <a:pt x="232127" y="98550"/>
                  <a:pt x="227117" y="93540"/>
                </a:cubicBezTo>
                <a:lnTo>
                  <a:pt x="188643" y="55066"/>
                </a:lnTo>
                <a:cubicBezTo>
                  <a:pt x="183633" y="50056"/>
                  <a:pt x="175498" y="50056"/>
                  <a:pt x="170488" y="55066"/>
                </a:cubicBezTo>
                <a:close/>
                <a:moveTo>
                  <a:pt x="60396" y="55026"/>
                </a:moveTo>
                <a:cubicBezTo>
                  <a:pt x="55387" y="50016"/>
                  <a:pt x="47251" y="50016"/>
                  <a:pt x="42241" y="55026"/>
                </a:cubicBezTo>
                <a:lnTo>
                  <a:pt x="3767" y="93500"/>
                </a:lnTo>
                <a:cubicBezTo>
                  <a:pt x="-1242" y="98510"/>
                  <a:pt x="-1242" y="106645"/>
                  <a:pt x="3767" y="111655"/>
                </a:cubicBezTo>
                <a:lnTo>
                  <a:pt x="42241" y="150129"/>
                </a:lnTo>
                <a:cubicBezTo>
                  <a:pt x="47251" y="155139"/>
                  <a:pt x="55387" y="155139"/>
                  <a:pt x="60396" y="150129"/>
                </a:cubicBezTo>
                <a:cubicBezTo>
                  <a:pt x="65406" y="145119"/>
                  <a:pt x="65406" y="136984"/>
                  <a:pt x="60396" y="131974"/>
                </a:cubicBezTo>
                <a:lnTo>
                  <a:pt x="30980" y="102597"/>
                </a:lnTo>
                <a:lnTo>
                  <a:pt x="60356" y="73181"/>
                </a:lnTo>
                <a:cubicBezTo>
                  <a:pt x="65366" y="68171"/>
                  <a:pt x="65366" y="60036"/>
                  <a:pt x="60356" y="5502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95421931" name="Text 4"/>
          <p:cNvSpPr/>
          <p:nvPr/>
        </p:nvSpPr>
        <p:spPr bwMode="auto">
          <a:xfrm>
            <a:off x="598485" y="1607360"/>
            <a:ext cx="5463316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HTML-формы</a:t>
            </a:r>
            <a:endParaRPr lang="en-US" sz="1600"/>
          </a:p>
        </p:txBody>
      </p:sp>
      <p:sp>
        <p:nvSpPr>
          <p:cNvPr id="1324759020" name="Shape 5"/>
          <p:cNvSpPr/>
          <p:nvPr/>
        </p:nvSpPr>
        <p:spPr bwMode="auto">
          <a:xfrm>
            <a:off x="346265" y="2056224"/>
            <a:ext cx="5608662" cy="829330"/>
          </a:xfrm>
          <a:custGeom>
            <a:avLst/>
            <a:gdLst/>
            <a:ahLst/>
            <a:cxnLst/>
            <a:rect l="l" t="t" r="r" b="b"/>
            <a:pathLst>
              <a:path w="5608662" h="829330" fill="norm" stroke="1" extrusionOk="0">
                <a:moveTo>
                  <a:pt x="102596" y="0"/>
                </a:moveTo>
                <a:lnTo>
                  <a:pt x="5506066" y="0"/>
                </a:lnTo>
                <a:cubicBezTo>
                  <a:pt x="5562728" y="0"/>
                  <a:pt x="5608662" y="45934"/>
                  <a:pt x="5608662" y="102596"/>
                </a:cubicBezTo>
                <a:lnTo>
                  <a:pt x="5608662" y="726733"/>
                </a:lnTo>
                <a:cubicBezTo>
                  <a:pt x="5608662" y="783396"/>
                  <a:pt x="5562728" y="829330"/>
                  <a:pt x="5506066" y="829330"/>
                </a:cubicBezTo>
                <a:lnTo>
                  <a:pt x="102596" y="829330"/>
                </a:lnTo>
                <a:cubicBezTo>
                  <a:pt x="45934" y="829330"/>
                  <a:pt x="0" y="783396"/>
                  <a:pt x="0" y="726733"/>
                </a:cubicBezTo>
                <a:lnTo>
                  <a:pt x="0" y="102596"/>
                </a:lnTo>
                <a:cubicBezTo>
                  <a:pt x="0" y="45972"/>
                  <a:pt x="45972" y="0"/>
                  <a:pt x="10259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05156028" name="Text 6"/>
          <p:cNvSpPr/>
          <p:nvPr/>
        </p:nvSpPr>
        <p:spPr bwMode="auto">
          <a:xfrm>
            <a:off x="521537" y="2231495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endParaRPr lang="en-US" sz="1600"/>
          </a:p>
        </p:txBody>
      </p:sp>
      <p:sp>
        <p:nvSpPr>
          <p:cNvPr id="2086025527" name="Text 7"/>
          <p:cNvSpPr/>
          <p:nvPr/>
        </p:nvSpPr>
        <p:spPr bwMode="auto">
          <a:xfrm>
            <a:off x="521537" y="2505088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Контейнер для всех элементов формы: &lt;form&gt;</a:t>
            </a:r>
            <a:endParaRPr sz="1600"/>
          </a:p>
        </p:txBody>
      </p:sp>
      <p:sp>
        <p:nvSpPr>
          <p:cNvPr id="1231584470" name="Shape 8"/>
          <p:cNvSpPr/>
          <p:nvPr/>
        </p:nvSpPr>
        <p:spPr bwMode="auto">
          <a:xfrm>
            <a:off x="346265" y="3030900"/>
            <a:ext cx="5608662" cy="829330"/>
          </a:xfrm>
          <a:custGeom>
            <a:avLst/>
            <a:gdLst/>
            <a:ahLst/>
            <a:cxnLst/>
            <a:rect l="l" t="t" r="r" b="b"/>
            <a:pathLst>
              <a:path w="5608662" h="829330" fill="norm" stroke="1" extrusionOk="0">
                <a:moveTo>
                  <a:pt x="102596" y="0"/>
                </a:moveTo>
                <a:lnTo>
                  <a:pt x="5506066" y="0"/>
                </a:lnTo>
                <a:cubicBezTo>
                  <a:pt x="5562728" y="0"/>
                  <a:pt x="5608662" y="45934"/>
                  <a:pt x="5608662" y="102596"/>
                </a:cubicBezTo>
                <a:lnTo>
                  <a:pt x="5608662" y="726733"/>
                </a:lnTo>
                <a:cubicBezTo>
                  <a:pt x="5608662" y="783396"/>
                  <a:pt x="5562728" y="829330"/>
                  <a:pt x="5506066" y="829330"/>
                </a:cubicBezTo>
                <a:lnTo>
                  <a:pt x="102596" y="829330"/>
                </a:lnTo>
                <a:cubicBezTo>
                  <a:pt x="45934" y="829330"/>
                  <a:pt x="0" y="783396"/>
                  <a:pt x="0" y="726733"/>
                </a:cubicBezTo>
                <a:lnTo>
                  <a:pt x="0" y="102596"/>
                </a:lnTo>
                <a:cubicBezTo>
                  <a:pt x="0" y="45972"/>
                  <a:pt x="45972" y="0"/>
                  <a:pt x="10259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91543587" name="Text 9"/>
          <p:cNvSpPr/>
          <p:nvPr/>
        </p:nvSpPr>
        <p:spPr bwMode="auto">
          <a:xfrm>
            <a:off x="521537" y="3206171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endParaRPr lang="en-US" sz="1600"/>
          </a:p>
        </p:txBody>
      </p:sp>
      <p:sp>
        <p:nvSpPr>
          <p:cNvPr id="1550330496" name="Text 10"/>
          <p:cNvSpPr/>
          <p:nvPr/>
        </p:nvSpPr>
        <p:spPr bwMode="auto">
          <a:xfrm>
            <a:off x="521537" y="3479764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Поля ввода: text.</a:t>
            </a:r>
            <a:endParaRPr sz="1600"/>
          </a:p>
        </p:txBody>
      </p:sp>
      <p:sp>
        <p:nvSpPr>
          <p:cNvPr id="521448855" name="Shape 11"/>
          <p:cNvSpPr/>
          <p:nvPr/>
        </p:nvSpPr>
        <p:spPr bwMode="auto">
          <a:xfrm>
            <a:off x="346265" y="4005576"/>
            <a:ext cx="5608662" cy="829330"/>
          </a:xfrm>
          <a:custGeom>
            <a:avLst/>
            <a:gdLst/>
            <a:ahLst/>
            <a:cxnLst/>
            <a:rect l="l" t="t" r="r" b="b"/>
            <a:pathLst>
              <a:path w="5608662" h="829330" fill="norm" stroke="1" extrusionOk="0">
                <a:moveTo>
                  <a:pt x="102596" y="0"/>
                </a:moveTo>
                <a:lnTo>
                  <a:pt x="5506066" y="0"/>
                </a:lnTo>
                <a:cubicBezTo>
                  <a:pt x="5562728" y="0"/>
                  <a:pt x="5608662" y="45934"/>
                  <a:pt x="5608662" y="102596"/>
                </a:cubicBezTo>
                <a:lnTo>
                  <a:pt x="5608662" y="726733"/>
                </a:lnTo>
                <a:cubicBezTo>
                  <a:pt x="5608662" y="783396"/>
                  <a:pt x="5562728" y="829330"/>
                  <a:pt x="5506066" y="829330"/>
                </a:cubicBezTo>
                <a:lnTo>
                  <a:pt x="102596" y="829330"/>
                </a:lnTo>
                <a:cubicBezTo>
                  <a:pt x="45934" y="829330"/>
                  <a:pt x="0" y="783396"/>
                  <a:pt x="0" y="726733"/>
                </a:cubicBezTo>
                <a:lnTo>
                  <a:pt x="0" y="102596"/>
                </a:lnTo>
                <a:cubicBezTo>
                  <a:pt x="0" y="45972"/>
                  <a:pt x="45972" y="0"/>
                  <a:pt x="10259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8725157" name="Text 12"/>
          <p:cNvSpPr/>
          <p:nvPr/>
        </p:nvSpPr>
        <p:spPr bwMode="auto">
          <a:xfrm>
            <a:off x="521537" y="4180847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endParaRPr lang="en-US" sz="1600"/>
          </a:p>
        </p:txBody>
      </p:sp>
      <p:sp>
        <p:nvSpPr>
          <p:cNvPr id="351402112" name="Text 13"/>
          <p:cNvSpPr/>
          <p:nvPr/>
        </p:nvSpPr>
        <p:spPr bwMode="auto">
          <a:xfrm>
            <a:off x="521537" y="4454440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Метки для полей (Label)</a:t>
            </a:r>
            <a:endParaRPr sz="1600"/>
          </a:p>
        </p:txBody>
      </p:sp>
      <p:sp>
        <p:nvSpPr>
          <p:cNvPr id="1080837536" name="Shape 14"/>
          <p:cNvSpPr/>
          <p:nvPr/>
        </p:nvSpPr>
        <p:spPr bwMode="auto">
          <a:xfrm>
            <a:off x="346265" y="4980251"/>
            <a:ext cx="5608662" cy="829330"/>
          </a:xfrm>
          <a:custGeom>
            <a:avLst/>
            <a:gdLst/>
            <a:ahLst/>
            <a:cxnLst/>
            <a:rect l="l" t="t" r="r" b="b"/>
            <a:pathLst>
              <a:path w="5608662" h="829330" fill="norm" stroke="1" extrusionOk="0">
                <a:moveTo>
                  <a:pt x="102596" y="0"/>
                </a:moveTo>
                <a:lnTo>
                  <a:pt x="5506066" y="0"/>
                </a:lnTo>
                <a:cubicBezTo>
                  <a:pt x="5562728" y="0"/>
                  <a:pt x="5608662" y="45934"/>
                  <a:pt x="5608662" y="102596"/>
                </a:cubicBezTo>
                <a:lnTo>
                  <a:pt x="5608662" y="726733"/>
                </a:lnTo>
                <a:cubicBezTo>
                  <a:pt x="5608662" y="783396"/>
                  <a:pt x="5562728" y="829330"/>
                  <a:pt x="5506066" y="829330"/>
                </a:cubicBezTo>
                <a:lnTo>
                  <a:pt x="102596" y="829330"/>
                </a:lnTo>
                <a:cubicBezTo>
                  <a:pt x="45934" y="829330"/>
                  <a:pt x="0" y="783396"/>
                  <a:pt x="0" y="726733"/>
                </a:cubicBezTo>
                <a:lnTo>
                  <a:pt x="0" y="102596"/>
                </a:lnTo>
                <a:cubicBezTo>
                  <a:pt x="0" y="45972"/>
                  <a:pt x="45972" y="0"/>
                  <a:pt x="10259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7902728" name="Text 15"/>
          <p:cNvSpPr/>
          <p:nvPr/>
        </p:nvSpPr>
        <p:spPr bwMode="auto">
          <a:xfrm>
            <a:off x="521537" y="5155523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endParaRPr lang="en-US" sz="1600"/>
          </a:p>
        </p:txBody>
      </p:sp>
      <p:sp>
        <p:nvSpPr>
          <p:cNvPr id="191644543" name="Text 16"/>
          <p:cNvSpPr/>
          <p:nvPr/>
        </p:nvSpPr>
        <p:spPr bwMode="auto">
          <a:xfrm>
            <a:off x="521537" y="5429116"/>
            <a:ext cx="53265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Кнопка отправки формы</a:t>
            </a:r>
            <a:endParaRPr sz="1600"/>
          </a:p>
        </p:txBody>
      </p:sp>
      <p:sp>
        <p:nvSpPr>
          <p:cNvPr id="2025394000" name="Shape 17"/>
          <p:cNvSpPr/>
          <p:nvPr/>
        </p:nvSpPr>
        <p:spPr bwMode="auto">
          <a:xfrm>
            <a:off x="6257591" y="1641560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 fill="norm" stroke="1" extrusionOk="0">
                <a:moveTo>
                  <a:pt x="102597" y="205195"/>
                </a:moveTo>
                <a:cubicBezTo>
                  <a:pt x="159223" y="205195"/>
                  <a:pt x="205195" y="159223"/>
                  <a:pt x="205195" y="102597"/>
                </a:cubicBezTo>
                <a:cubicBezTo>
                  <a:pt x="205195" y="45972"/>
                  <a:pt x="159223" y="0"/>
                  <a:pt x="102597" y="0"/>
                </a:cubicBezTo>
                <a:cubicBezTo>
                  <a:pt x="45972" y="0"/>
                  <a:pt x="0" y="45972"/>
                  <a:pt x="0" y="102597"/>
                </a:cubicBezTo>
                <a:cubicBezTo>
                  <a:pt x="0" y="159223"/>
                  <a:pt x="45972" y="205195"/>
                  <a:pt x="102597" y="205195"/>
                </a:cubicBezTo>
                <a:close/>
                <a:moveTo>
                  <a:pt x="102597" y="70536"/>
                </a:moveTo>
                <a:cubicBezTo>
                  <a:pt x="95504" y="70536"/>
                  <a:pt x="89773" y="76267"/>
                  <a:pt x="89773" y="83360"/>
                </a:cubicBezTo>
                <a:cubicBezTo>
                  <a:pt x="89773" y="88691"/>
                  <a:pt x="85485" y="92979"/>
                  <a:pt x="80154" y="92979"/>
                </a:cubicBezTo>
                <a:cubicBezTo>
                  <a:pt x="74824" y="92979"/>
                  <a:pt x="70536" y="88691"/>
                  <a:pt x="70536" y="83360"/>
                </a:cubicBezTo>
                <a:cubicBezTo>
                  <a:pt x="70536" y="65646"/>
                  <a:pt x="84883" y="51299"/>
                  <a:pt x="102597" y="51299"/>
                </a:cubicBezTo>
                <a:cubicBezTo>
                  <a:pt x="120312" y="51299"/>
                  <a:pt x="134659" y="65646"/>
                  <a:pt x="134659" y="83360"/>
                </a:cubicBezTo>
                <a:cubicBezTo>
                  <a:pt x="134659" y="102277"/>
                  <a:pt x="120231" y="110292"/>
                  <a:pt x="112216" y="113218"/>
                </a:cubicBezTo>
                <a:lnTo>
                  <a:pt x="112216" y="114741"/>
                </a:lnTo>
                <a:cubicBezTo>
                  <a:pt x="112216" y="120071"/>
                  <a:pt x="107928" y="124359"/>
                  <a:pt x="102597" y="124359"/>
                </a:cubicBezTo>
                <a:cubicBezTo>
                  <a:pt x="97267" y="124359"/>
                  <a:pt x="92979" y="120071"/>
                  <a:pt x="92979" y="114741"/>
                </a:cubicBezTo>
                <a:lnTo>
                  <a:pt x="92979" y="111495"/>
                </a:lnTo>
                <a:cubicBezTo>
                  <a:pt x="92979" y="103279"/>
                  <a:pt x="98910" y="97387"/>
                  <a:pt x="105042" y="95384"/>
                </a:cubicBezTo>
                <a:cubicBezTo>
                  <a:pt x="107607" y="94542"/>
                  <a:pt x="110332" y="93179"/>
                  <a:pt x="112336" y="91256"/>
                </a:cubicBezTo>
                <a:cubicBezTo>
                  <a:pt x="114060" y="89572"/>
                  <a:pt x="115422" y="87248"/>
                  <a:pt x="115422" y="83401"/>
                </a:cubicBezTo>
                <a:cubicBezTo>
                  <a:pt x="115422" y="76307"/>
                  <a:pt x="109691" y="70576"/>
                  <a:pt x="102597" y="70576"/>
                </a:cubicBezTo>
                <a:close/>
                <a:moveTo>
                  <a:pt x="89773" y="147484"/>
                </a:moveTo>
                <a:cubicBezTo>
                  <a:pt x="89773" y="140406"/>
                  <a:pt x="95519" y="134659"/>
                  <a:pt x="102597" y="134659"/>
                </a:cubicBezTo>
                <a:cubicBezTo>
                  <a:pt x="109676" y="134659"/>
                  <a:pt x="115422" y="140406"/>
                  <a:pt x="115422" y="147484"/>
                </a:cubicBezTo>
                <a:cubicBezTo>
                  <a:pt x="115422" y="154562"/>
                  <a:pt x="109676" y="160309"/>
                  <a:pt x="102597" y="160309"/>
                </a:cubicBezTo>
                <a:cubicBezTo>
                  <a:pt x="95519" y="160309"/>
                  <a:pt x="89773" y="154562"/>
                  <a:pt x="89773" y="14748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35220190" name="Text 18"/>
          <p:cNvSpPr/>
          <p:nvPr/>
        </p:nvSpPr>
        <p:spPr bwMode="auto">
          <a:xfrm>
            <a:off x="6488436" y="1607360"/>
            <a:ext cx="5463316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Проверка знаний</a:t>
            </a:r>
            <a:endParaRPr lang="en-US" sz="1600"/>
          </a:p>
        </p:txBody>
      </p:sp>
      <p:sp>
        <p:nvSpPr>
          <p:cNvPr id="82194683" name="Shape 19"/>
          <p:cNvSpPr/>
          <p:nvPr/>
        </p:nvSpPr>
        <p:spPr bwMode="auto">
          <a:xfrm>
            <a:off x="6249041" y="2051950"/>
            <a:ext cx="5600111" cy="820780"/>
          </a:xfrm>
          <a:custGeom>
            <a:avLst/>
            <a:gdLst/>
            <a:ahLst/>
            <a:cxnLst/>
            <a:rect l="l" t="t" r="r" b="b"/>
            <a:pathLst>
              <a:path w="5600112" h="820780" fill="norm" stroke="1" extrusionOk="0">
                <a:moveTo>
                  <a:pt x="34199" y="0"/>
                </a:moveTo>
                <a:lnTo>
                  <a:pt x="5497515" y="0"/>
                </a:lnTo>
                <a:cubicBezTo>
                  <a:pt x="5554178" y="0"/>
                  <a:pt x="5600112" y="45934"/>
                  <a:pt x="5600112" y="102597"/>
                </a:cubicBezTo>
                <a:lnTo>
                  <a:pt x="5600112" y="718182"/>
                </a:lnTo>
                <a:cubicBezTo>
                  <a:pt x="5600112" y="774845"/>
                  <a:pt x="5554178" y="820780"/>
                  <a:pt x="5497515" y="820780"/>
                </a:cubicBez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21578499" name="Shape 20"/>
          <p:cNvSpPr/>
          <p:nvPr/>
        </p:nvSpPr>
        <p:spPr bwMode="auto">
          <a:xfrm>
            <a:off x="6249041" y="2051950"/>
            <a:ext cx="34199" cy="820780"/>
          </a:xfrm>
          <a:custGeom>
            <a:avLst/>
            <a:gdLst/>
            <a:ahLst/>
            <a:cxnLst/>
            <a:rect l="l" t="t" r="r" b="b"/>
            <a:pathLst>
              <a:path w="34199" h="820780" fill="norm" stroke="1" extrusionOk="0">
                <a:moveTo>
                  <a:pt x="34199" y="0"/>
                </a:moveTo>
                <a:lnTo>
                  <a:pt x="34199" y="0"/>
                </a:lnTo>
                <a:lnTo>
                  <a:pt x="34199" y="820780"/>
                </a:ln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69578663" name="Text 21"/>
          <p:cNvSpPr/>
          <p:nvPr/>
        </p:nvSpPr>
        <p:spPr bwMode="auto">
          <a:xfrm>
            <a:off x="6437137" y="2222945"/>
            <a:ext cx="53094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Что делает атрибут action?</a:t>
            </a:r>
            <a:endParaRPr sz="1600"/>
          </a:p>
        </p:txBody>
      </p:sp>
      <p:sp>
        <p:nvSpPr>
          <p:cNvPr id="1574429524" name="Text 22"/>
          <p:cNvSpPr/>
          <p:nvPr/>
        </p:nvSpPr>
        <p:spPr bwMode="auto">
          <a:xfrm>
            <a:off x="6437137" y="2496539"/>
            <a:ext cx="53094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Указывает URL, куда отправляются данные формы</a:t>
            </a:r>
            <a:endParaRPr sz="1600"/>
          </a:p>
        </p:txBody>
      </p:sp>
      <p:sp>
        <p:nvSpPr>
          <p:cNvPr id="169749089" name="Shape 23"/>
          <p:cNvSpPr/>
          <p:nvPr/>
        </p:nvSpPr>
        <p:spPr bwMode="auto">
          <a:xfrm>
            <a:off x="6249041" y="3009526"/>
            <a:ext cx="5600111" cy="820780"/>
          </a:xfrm>
          <a:custGeom>
            <a:avLst/>
            <a:gdLst/>
            <a:ahLst/>
            <a:cxnLst/>
            <a:rect l="l" t="t" r="r" b="b"/>
            <a:pathLst>
              <a:path w="5600112" h="820780" fill="norm" stroke="1" extrusionOk="0">
                <a:moveTo>
                  <a:pt x="34199" y="0"/>
                </a:moveTo>
                <a:lnTo>
                  <a:pt x="5497515" y="0"/>
                </a:lnTo>
                <a:cubicBezTo>
                  <a:pt x="5554178" y="0"/>
                  <a:pt x="5600112" y="45934"/>
                  <a:pt x="5600112" y="102597"/>
                </a:cubicBezTo>
                <a:lnTo>
                  <a:pt x="5600112" y="718182"/>
                </a:lnTo>
                <a:cubicBezTo>
                  <a:pt x="5600112" y="774845"/>
                  <a:pt x="5554178" y="820780"/>
                  <a:pt x="5497515" y="820780"/>
                </a:cubicBez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81389758" name="Shape 24"/>
          <p:cNvSpPr/>
          <p:nvPr/>
        </p:nvSpPr>
        <p:spPr bwMode="auto">
          <a:xfrm>
            <a:off x="6249041" y="3009526"/>
            <a:ext cx="34199" cy="820780"/>
          </a:xfrm>
          <a:custGeom>
            <a:avLst/>
            <a:gdLst/>
            <a:ahLst/>
            <a:cxnLst/>
            <a:rect l="l" t="t" r="r" b="b"/>
            <a:pathLst>
              <a:path w="34199" h="820780" fill="norm" stroke="1" extrusionOk="0">
                <a:moveTo>
                  <a:pt x="34199" y="0"/>
                </a:moveTo>
                <a:lnTo>
                  <a:pt x="34199" y="0"/>
                </a:lnTo>
                <a:lnTo>
                  <a:pt x="34199" y="820780"/>
                </a:ln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76354746" name="Text 25"/>
          <p:cNvSpPr/>
          <p:nvPr/>
        </p:nvSpPr>
        <p:spPr bwMode="auto">
          <a:xfrm>
            <a:off x="6437137" y="3180521"/>
            <a:ext cx="53094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Зачем нужен атрибут method?</a:t>
            </a:r>
            <a:endParaRPr sz="1600"/>
          </a:p>
        </p:txBody>
      </p:sp>
      <p:sp>
        <p:nvSpPr>
          <p:cNvPr id="2115494500" name="Text 26"/>
          <p:cNvSpPr/>
          <p:nvPr/>
        </p:nvSpPr>
        <p:spPr bwMode="auto">
          <a:xfrm>
            <a:off x="6437137" y="3454115"/>
            <a:ext cx="53094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Определяет HTTP-метод: GET или POST</a:t>
            </a:r>
            <a:endParaRPr sz="1600"/>
          </a:p>
        </p:txBody>
      </p:sp>
      <p:sp>
        <p:nvSpPr>
          <p:cNvPr id="326663839" name="Shape 27"/>
          <p:cNvSpPr/>
          <p:nvPr/>
        </p:nvSpPr>
        <p:spPr bwMode="auto">
          <a:xfrm>
            <a:off x="6249041" y="3967101"/>
            <a:ext cx="5600111" cy="820780"/>
          </a:xfrm>
          <a:custGeom>
            <a:avLst/>
            <a:gdLst/>
            <a:ahLst/>
            <a:cxnLst/>
            <a:rect l="l" t="t" r="r" b="b"/>
            <a:pathLst>
              <a:path w="5600112" h="820780" fill="norm" stroke="1" extrusionOk="0">
                <a:moveTo>
                  <a:pt x="34199" y="0"/>
                </a:moveTo>
                <a:lnTo>
                  <a:pt x="5497515" y="0"/>
                </a:lnTo>
                <a:cubicBezTo>
                  <a:pt x="5554178" y="0"/>
                  <a:pt x="5600112" y="45934"/>
                  <a:pt x="5600112" y="102597"/>
                </a:cubicBezTo>
                <a:lnTo>
                  <a:pt x="5600112" y="718182"/>
                </a:lnTo>
                <a:cubicBezTo>
                  <a:pt x="5600112" y="774845"/>
                  <a:pt x="5554178" y="820780"/>
                  <a:pt x="5497515" y="820780"/>
                </a:cubicBez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22563359" name="Shape 28"/>
          <p:cNvSpPr/>
          <p:nvPr/>
        </p:nvSpPr>
        <p:spPr bwMode="auto">
          <a:xfrm>
            <a:off x="6249041" y="3967101"/>
            <a:ext cx="34199" cy="820780"/>
          </a:xfrm>
          <a:custGeom>
            <a:avLst/>
            <a:gdLst/>
            <a:ahLst/>
            <a:cxnLst/>
            <a:rect l="l" t="t" r="r" b="b"/>
            <a:pathLst>
              <a:path w="34199" h="820780" fill="norm" stroke="1" extrusionOk="0">
                <a:moveTo>
                  <a:pt x="34199" y="0"/>
                </a:moveTo>
                <a:lnTo>
                  <a:pt x="34199" y="0"/>
                </a:lnTo>
                <a:lnTo>
                  <a:pt x="34199" y="820780"/>
                </a:ln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6028724" name="Text 29"/>
          <p:cNvSpPr/>
          <p:nvPr/>
        </p:nvSpPr>
        <p:spPr bwMode="auto">
          <a:xfrm>
            <a:off x="6437137" y="4138098"/>
            <a:ext cx="53094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Какие типы input вы знаете?</a:t>
            </a:r>
            <a:endParaRPr sz="1600"/>
          </a:p>
        </p:txBody>
      </p:sp>
      <p:sp>
        <p:nvSpPr>
          <p:cNvPr id="1855217780" name="Text 30"/>
          <p:cNvSpPr/>
          <p:nvPr/>
        </p:nvSpPr>
        <p:spPr bwMode="auto">
          <a:xfrm>
            <a:off x="6437137" y="4411691"/>
            <a:ext cx="53094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text, email, password, number, date, checkbox, radio...</a:t>
            </a:r>
            <a:endParaRPr sz="1600"/>
          </a:p>
        </p:txBody>
      </p:sp>
      <p:sp>
        <p:nvSpPr>
          <p:cNvPr id="1415369703" name="Shape 31"/>
          <p:cNvSpPr/>
          <p:nvPr/>
        </p:nvSpPr>
        <p:spPr bwMode="auto">
          <a:xfrm>
            <a:off x="6249041" y="4924679"/>
            <a:ext cx="5600111" cy="820780"/>
          </a:xfrm>
          <a:custGeom>
            <a:avLst/>
            <a:gdLst/>
            <a:ahLst/>
            <a:cxnLst/>
            <a:rect l="l" t="t" r="r" b="b"/>
            <a:pathLst>
              <a:path w="5600112" h="820780" fill="norm" stroke="1" extrusionOk="0">
                <a:moveTo>
                  <a:pt x="34199" y="0"/>
                </a:moveTo>
                <a:lnTo>
                  <a:pt x="5497515" y="0"/>
                </a:lnTo>
                <a:cubicBezTo>
                  <a:pt x="5554178" y="0"/>
                  <a:pt x="5600112" y="45934"/>
                  <a:pt x="5600112" y="102597"/>
                </a:cubicBezTo>
                <a:lnTo>
                  <a:pt x="5600112" y="718182"/>
                </a:lnTo>
                <a:cubicBezTo>
                  <a:pt x="5600112" y="774845"/>
                  <a:pt x="5554178" y="820780"/>
                  <a:pt x="5497515" y="820780"/>
                </a:cubicBez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47844652" name="Shape 32"/>
          <p:cNvSpPr/>
          <p:nvPr/>
        </p:nvSpPr>
        <p:spPr bwMode="auto">
          <a:xfrm>
            <a:off x="6249041" y="4924679"/>
            <a:ext cx="34199" cy="820780"/>
          </a:xfrm>
          <a:custGeom>
            <a:avLst/>
            <a:gdLst/>
            <a:ahLst/>
            <a:cxnLst/>
            <a:rect l="l" t="t" r="r" b="b"/>
            <a:pathLst>
              <a:path w="34199" h="820780" fill="norm" stroke="1" extrusionOk="0">
                <a:moveTo>
                  <a:pt x="34199" y="0"/>
                </a:moveTo>
                <a:lnTo>
                  <a:pt x="34199" y="0"/>
                </a:lnTo>
                <a:lnTo>
                  <a:pt x="34199" y="820780"/>
                </a:lnTo>
                <a:lnTo>
                  <a:pt x="34199" y="820780"/>
                </a:lnTo>
                <a:cubicBezTo>
                  <a:pt x="15311" y="820780"/>
                  <a:pt x="0" y="805468"/>
                  <a:pt x="0" y="786581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70843963" name="Text 33"/>
          <p:cNvSpPr/>
          <p:nvPr/>
        </p:nvSpPr>
        <p:spPr bwMode="auto">
          <a:xfrm>
            <a:off x="6437136" y="4993077"/>
            <a:ext cx="53094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Что такое клиент-сервер?</a:t>
            </a:r>
            <a:endParaRPr sz="1600"/>
          </a:p>
        </p:txBody>
      </p:sp>
      <p:sp>
        <p:nvSpPr>
          <p:cNvPr id="1171462761" name="Text 34"/>
          <p:cNvSpPr/>
          <p:nvPr/>
        </p:nvSpPr>
        <p:spPr bwMode="auto">
          <a:xfrm flipH="0" flipV="0">
            <a:off x="6437136" y="5369267"/>
            <a:ext cx="5570794" cy="37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Клиент (браузер) отправляет запросы, сервер обрабатывает</a:t>
            </a:r>
            <a:endParaRPr sz="1600"/>
          </a:p>
        </p:txBody>
      </p:sp>
      <p:sp>
        <p:nvSpPr>
          <p:cNvPr id="482299178" name="Shape 36"/>
          <p:cNvSpPr/>
          <p:nvPr/>
        </p:nvSpPr>
        <p:spPr bwMode="auto">
          <a:xfrm>
            <a:off x="568560" y="6232796"/>
            <a:ext cx="153896" cy="205195"/>
          </a:xfrm>
          <a:custGeom>
            <a:avLst/>
            <a:gdLst/>
            <a:ahLst/>
            <a:cxnLst/>
            <a:rect l="l" t="t" r="r" b="b"/>
            <a:pathLst>
              <a:path w="153896" h="205195" fill="norm" stroke="1" extrusionOk="0">
                <a:moveTo>
                  <a:pt x="117386" y="153896"/>
                </a:moveTo>
                <a:cubicBezTo>
                  <a:pt x="120312" y="144959"/>
                  <a:pt x="126163" y="136863"/>
                  <a:pt x="132776" y="129890"/>
                </a:cubicBezTo>
                <a:cubicBezTo>
                  <a:pt x="145881" y="116103"/>
                  <a:pt x="153896" y="97468"/>
                  <a:pt x="153896" y="76948"/>
                </a:cubicBezTo>
                <a:cubicBezTo>
                  <a:pt x="153896" y="34466"/>
                  <a:pt x="119430" y="0"/>
                  <a:pt x="76948" y="0"/>
                </a:cubicBezTo>
                <a:cubicBezTo>
                  <a:pt x="34466" y="0"/>
                  <a:pt x="0" y="34466"/>
                  <a:pt x="0" y="76948"/>
                </a:cubicBezTo>
                <a:cubicBezTo>
                  <a:pt x="0" y="97468"/>
                  <a:pt x="8015" y="116103"/>
                  <a:pt x="21121" y="129890"/>
                </a:cubicBezTo>
                <a:cubicBezTo>
                  <a:pt x="27733" y="136863"/>
                  <a:pt x="33625" y="144959"/>
                  <a:pt x="36510" y="153896"/>
                </a:cubicBezTo>
                <a:lnTo>
                  <a:pt x="117346" y="153896"/>
                </a:lnTo>
                <a:close/>
                <a:moveTo>
                  <a:pt x="115422" y="173133"/>
                </a:moveTo>
                <a:lnTo>
                  <a:pt x="38474" y="173133"/>
                </a:lnTo>
                <a:lnTo>
                  <a:pt x="38474" y="179546"/>
                </a:lnTo>
                <a:cubicBezTo>
                  <a:pt x="38474" y="197260"/>
                  <a:pt x="52822" y="211607"/>
                  <a:pt x="70536" y="211607"/>
                </a:cubicBezTo>
                <a:lnTo>
                  <a:pt x="83360" y="211607"/>
                </a:lnTo>
                <a:cubicBezTo>
                  <a:pt x="101075" y="211607"/>
                  <a:pt x="115422" y="197260"/>
                  <a:pt x="115422" y="179546"/>
                </a:cubicBezTo>
                <a:lnTo>
                  <a:pt x="115422" y="173133"/>
                </a:lnTo>
                <a:close/>
                <a:moveTo>
                  <a:pt x="73742" y="44886"/>
                </a:moveTo>
                <a:cubicBezTo>
                  <a:pt x="57791" y="44886"/>
                  <a:pt x="44886" y="57791"/>
                  <a:pt x="44886" y="73742"/>
                </a:cubicBezTo>
                <a:cubicBezTo>
                  <a:pt x="44886" y="79072"/>
                  <a:pt x="40598" y="83360"/>
                  <a:pt x="35268" y="83360"/>
                </a:cubicBezTo>
                <a:cubicBezTo>
                  <a:pt x="29938" y="83360"/>
                  <a:pt x="25649" y="79072"/>
                  <a:pt x="25649" y="73742"/>
                </a:cubicBezTo>
                <a:cubicBezTo>
                  <a:pt x="25649" y="47171"/>
                  <a:pt x="47171" y="25649"/>
                  <a:pt x="73742" y="25649"/>
                </a:cubicBezTo>
                <a:cubicBezTo>
                  <a:pt x="79072" y="25649"/>
                  <a:pt x="83360" y="29938"/>
                  <a:pt x="83360" y="35268"/>
                </a:cubicBezTo>
                <a:cubicBezTo>
                  <a:pt x="83360" y="40598"/>
                  <a:pt x="79072" y="44886"/>
                  <a:pt x="73742" y="4488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09912544" name="Text 37"/>
          <p:cNvSpPr/>
          <p:nvPr/>
        </p:nvSpPr>
        <p:spPr bwMode="auto">
          <a:xfrm>
            <a:off x="904283" y="6198596"/>
            <a:ext cx="10841133" cy="47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Важно:</a:t>
            </a:r>
            <a:r>
              <a:rPr lang="en-US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Форма — это мост между пользователем и сервером. Правильная структура и валидация обеспечивают качественный пользовательский опыт.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42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57442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49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11549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2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552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" dur="500"/>
                                        <p:tgtEl>
                                          <p:spTgt spid="117146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012" name="Text 0"/>
          <p:cNvSpPr/>
          <p:nvPr/>
        </p:nvSpPr>
        <p:spPr bwMode="auto"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Теория</a:t>
            </a:r>
            <a:endParaRPr lang="en-US" sz="1600"/>
          </a:p>
        </p:txBody>
      </p:sp>
      <p:sp>
        <p:nvSpPr>
          <p:cNvPr id="167190655" name="Text 1"/>
          <p:cNvSpPr/>
          <p:nvPr/>
        </p:nvSpPr>
        <p:spPr bwMode="auto"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27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Создание HTML-формы обратной связи</a:t>
            </a:r>
            <a:endParaRPr lang="en-US" sz="1600"/>
          </a:p>
        </p:txBody>
      </p:sp>
      <p:sp>
        <p:nvSpPr>
          <p:cNvPr id="2379315" name="Text 2"/>
          <p:cNvSpPr/>
          <p:nvPr/>
        </p:nvSpPr>
        <p:spPr bwMode="auto"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Структура, элементы и CSS-стилизация</a:t>
            </a:r>
            <a:endParaRPr lang="en-US" sz="1600"/>
          </a:p>
        </p:txBody>
      </p:sp>
      <p:sp>
        <p:nvSpPr>
          <p:cNvPr id="2038407764" name="Shape 3"/>
          <p:cNvSpPr/>
          <p:nvPr/>
        </p:nvSpPr>
        <p:spPr bwMode="auto">
          <a:xfrm>
            <a:off x="404813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22381752" name="Text 4"/>
          <p:cNvSpPr/>
          <p:nvPr/>
        </p:nvSpPr>
        <p:spPr bwMode="auto">
          <a:xfrm>
            <a:off x="619125" y="15240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Структура формы</a:t>
            </a:r>
            <a:endParaRPr lang="en-US" sz="1600"/>
          </a:p>
        </p:txBody>
      </p:sp>
      <p:sp>
        <p:nvSpPr>
          <p:cNvPr id="59961766" name="Shape 5"/>
          <p:cNvSpPr/>
          <p:nvPr/>
        </p:nvSpPr>
        <p:spPr bwMode="auto">
          <a:xfrm flipH="0" flipV="0">
            <a:off x="380999" y="1904999"/>
            <a:ext cx="5600699" cy="3855792"/>
          </a:xfrm>
          <a:custGeom>
            <a:avLst/>
            <a:gdLst/>
            <a:ahLst/>
            <a:cxnLst/>
            <a:rect l="l" t="t" r="r" b="b"/>
            <a:pathLst>
              <a:path w="5600700" h="3676650" fill="norm" stroke="1" extrusionOk="0">
                <a:moveTo>
                  <a:pt x="76217" y="0"/>
                </a:moveTo>
                <a:lnTo>
                  <a:pt x="5524483" y="0"/>
                </a:lnTo>
                <a:cubicBezTo>
                  <a:pt x="5566577" y="0"/>
                  <a:pt x="5600700" y="34123"/>
                  <a:pt x="5600700" y="76217"/>
                </a:cubicBezTo>
                <a:lnTo>
                  <a:pt x="5600700" y="3600433"/>
                </a:lnTo>
                <a:cubicBezTo>
                  <a:pt x="5600700" y="3642527"/>
                  <a:pt x="5566577" y="3676650"/>
                  <a:pt x="5524483" y="3676650"/>
                </a:cubicBezTo>
                <a:lnTo>
                  <a:pt x="76217" y="3676650"/>
                </a:lnTo>
                <a:cubicBezTo>
                  <a:pt x="34123" y="3676650"/>
                  <a:pt x="0" y="3642527"/>
                  <a:pt x="0" y="3600433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863829821" name="Text 6"/>
          <p:cNvSpPr/>
          <p:nvPr/>
        </p:nvSpPr>
        <p:spPr bwMode="auto">
          <a:xfrm flipH="0" flipV="0">
            <a:off x="350043" y="1104899"/>
            <a:ext cx="5662612" cy="2124807"/>
          </a:xfrm>
          <a:prstGeom prst="rect">
            <a:avLst/>
          </a:prstGeom>
          <a:noFill/>
          <a:ln/>
        </p:spPr>
        <p:txBody>
          <a:bodyPr wrap="square" lIns="152399" tIns="152399" rIns="152399" bIns="152399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2000">
                <a:solidFill>
                  <a:srgbClr val="1D1D1D"/>
                </a:solidFill>
                <a:latin typeface="微软雅黑"/>
                <a:ea typeface="微软雅黑"/>
                <a:cs typeface="微软雅黑"/>
              </a:rPr>
              <a:t>Имя, </a:t>
            </a:r>
            <a:r>
              <a:rPr lang="en-US" sz="2000">
                <a:solidFill>
                  <a:srgbClr val="1D1D1D"/>
                </a:solidFill>
                <a:latin typeface="微软雅黑"/>
                <a:ea typeface="微软雅黑"/>
                <a:cs typeface="微软雅黑"/>
              </a:rPr>
              <a:t>Email, </a:t>
            </a:r>
            <a:r>
              <a:rPr lang="en-US" sz="2000">
                <a:solidFill>
                  <a:srgbClr val="1D1D1D"/>
                </a:solidFill>
                <a:latin typeface="微软雅黑"/>
                <a:ea typeface="微软雅黑"/>
                <a:cs typeface="微软雅黑"/>
              </a:rPr>
              <a:t>Сообщение, </a:t>
            </a:r>
            <a:r>
              <a:rPr lang="en-US" sz="2000">
                <a:solidFill>
                  <a:srgbClr val="1D1D1D"/>
                </a:solidFill>
                <a:latin typeface="微软雅黑"/>
                <a:ea typeface="微软雅黑"/>
                <a:cs typeface="微软雅黑"/>
              </a:rPr>
              <a:t>Отправить</a:t>
            </a:r>
            <a:endParaRPr sz="2000">
              <a:solidFill>
                <a:srgbClr val="1D1D1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2154798" name="Shape 7"/>
          <p:cNvSpPr/>
          <p:nvPr/>
        </p:nvSpPr>
        <p:spPr bwMode="auto">
          <a:xfrm>
            <a:off x="6234113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90500" y="95250"/>
                </a:moveTo>
                <a:cubicBezTo>
                  <a:pt x="190500" y="95585"/>
                  <a:pt x="190500" y="95920"/>
                  <a:pt x="190500" y="96255"/>
                </a:cubicBezTo>
                <a:cubicBezTo>
                  <a:pt x="190351" y="109835"/>
                  <a:pt x="177998" y="119063"/>
                  <a:pt x="164418" y="119063"/>
                </a:cubicBezTo>
                <a:lnTo>
                  <a:pt x="127992" y="119063"/>
                </a:lnTo>
                <a:cubicBezTo>
                  <a:pt x="118132" y="119063"/>
                  <a:pt x="110133" y="127062"/>
                  <a:pt x="110133" y="136922"/>
                </a:cubicBezTo>
                <a:cubicBezTo>
                  <a:pt x="110133" y="138187"/>
                  <a:pt x="110282" y="139415"/>
                  <a:pt x="110505" y="140605"/>
                </a:cubicBezTo>
                <a:cubicBezTo>
                  <a:pt x="111286" y="144400"/>
                  <a:pt x="112923" y="148047"/>
                  <a:pt x="114523" y="151730"/>
                </a:cubicBezTo>
                <a:cubicBezTo>
                  <a:pt x="116793" y="156865"/>
                  <a:pt x="119025" y="161962"/>
                  <a:pt x="119025" y="167357"/>
                </a:cubicBezTo>
                <a:cubicBezTo>
                  <a:pt x="119025" y="179189"/>
                  <a:pt x="110989" y="189942"/>
                  <a:pt x="99157" y="190426"/>
                </a:cubicBezTo>
                <a:cubicBezTo>
                  <a:pt x="97854" y="190463"/>
                  <a:pt x="96552" y="190500"/>
                  <a:pt x="95213" y="190500"/>
                </a:cubicBezTo>
                <a:cubicBezTo>
                  <a:pt x="42602" y="190500"/>
                  <a:pt x="-37" y="147861"/>
                  <a:pt x="-37" y="95250"/>
                </a:cubicBezTo>
                <a:cubicBezTo>
                  <a:pt x="-37" y="42639"/>
                  <a:pt x="42639" y="0"/>
                  <a:pt x="95250" y="0"/>
                </a:cubicBezTo>
                <a:cubicBezTo>
                  <a:pt x="147861" y="0"/>
                  <a:pt x="190500" y="42639"/>
                  <a:pt x="190500" y="95250"/>
                </a:cubicBezTo>
                <a:close/>
                <a:moveTo>
                  <a:pt x="47625" y="107156"/>
                </a:moveTo>
                <a:cubicBezTo>
                  <a:pt x="47625" y="100585"/>
                  <a:pt x="42290" y="95250"/>
                  <a:pt x="35719" y="95250"/>
                </a:cubicBezTo>
                <a:cubicBezTo>
                  <a:pt x="29148" y="95250"/>
                  <a:pt x="23812" y="100585"/>
                  <a:pt x="23812" y="107156"/>
                </a:cubicBezTo>
                <a:cubicBezTo>
                  <a:pt x="23812" y="113727"/>
                  <a:pt x="29148" y="119063"/>
                  <a:pt x="35719" y="119063"/>
                </a:cubicBezTo>
                <a:cubicBezTo>
                  <a:pt x="42290" y="119063"/>
                  <a:pt x="47625" y="113727"/>
                  <a:pt x="47625" y="107156"/>
                </a:cubicBezTo>
                <a:close/>
                <a:moveTo>
                  <a:pt x="47625" y="71438"/>
                </a:moveTo>
                <a:cubicBezTo>
                  <a:pt x="54196" y="71438"/>
                  <a:pt x="59531" y="66102"/>
                  <a:pt x="59531" y="59531"/>
                </a:cubicBezTo>
                <a:cubicBezTo>
                  <a:pt x="59531" y="52960"/>
                  <a:pt x="54196" y="47625"/>
                  <a:pt x="47625" y="47625"/>
                </a:cubicBezTo>
                <a:cubicBezTo>
                  <a:pt x="41054" y="47625"/>
                  <a:pt x="35719" y="52960"/>
                  <a:pt x="35719" y="59531"/>
                </a:cubicBezTo>
                <a:cubicBezTo>
                  <a:pt x="35719" y="66102"/>
                  <a:pt x="41054" y="71438"/>
                  <a:pt x="47625" y="71438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142875" y="71438"/>
                </a:moveTo>
                <a:cubicBezTo>
                  <a:pt x="149446" y="71438"/>
                  <a:pt x="154781" y="66102"/>
                  <a:pt x="154781" y="59531"/>
                </a:cubicBezTo>
                <a:cubicBezTo>
                  <a:pt x="154781" y="52960"/>
                  <a:pt x="149446" y="47625"/>
                  <a:pt x="142875" y="47625"/>
                </a:cubicBezTo>
                <a:cubicBezTo>
                  <a:pt x="136304" y="47625"/>
                  <a:pt x="130969" y="52960"/>
                  <a:pt x="130969" y="59531"/>
                </a:cubicBezTo>
                <a:cubicBezTo>
                  <a:pt x="130969" y="66102"/>
                  <a:pt x="136304" y="71438"/>
                  <a:pt x="142875" y="714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17873903" name="Text 8"/>
          <p:cNvSpPr/>
          <p:nvPr/>
        </p:nvSpPr>
        <p:spPr bwMode="auto">
          <a:xfrm>
            <a:off x="6448425" y="15240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CSS-стилизация</a:t>
            </a:r>
            <a:endParaRPr lang="en-US" sz="1600"/>
          </a:p>
        </p:txBody>
      </p:sp>
      <p:sp>
        <p:nvSpPr>
          <p:cNvPr id="1393690137" name="Shape 9"/>
          <p:cNvSpPr/>
          <p:nvPr/>
        </p:nvSpPr>
        <p:spPr bwMode="auto">
          <a:xfrm>
            <a:off x="6210300" y="1905000"/>
            <a:ext cx="5600700" cy="3676650"/>
          </a:xfrm>
          <a:custGeom>
            <a:avLst/>
            <a:gdLst/>
            <a:ahLst/>
            <a:cxnLst/>
            <a:rect l="l" t="t" r="r" b="b"/>
            <a:pathLst>
              <a:path w="5600700" h="3676650" fill="norm" stroke="1" extrusionOk="0">
                <a:moveTo>
                  <a:pt x="76217" y="0"/>
                </a:moveTo>
                <a:lnTo>
                  <a:pt x="5524483" y="0"/>
                </a:lnTo>
                <a:cubicBezTo>
                  <a:pt x="5566577" y="0"/>
                  <a:pt x="5600700" y="34123"/>
                  <a:pt x="5600700" y="76217"/>
                </a:cubicBezTo>
                <a:lnTo>
                  <a:pt x="5600700" y="3600433"/>
                </a:lnTo>
                <a:cubicBezTo>
                  <a:pt x="5600700" y="3642527"/>
                  <a:pt x="5566577" y="3676650"/>
                  <a:pt x="5524483" y="3676650"/>
                </a:cubicBezTo>
                <a:lnTo>
                  <a:pt x="76217" y="3676650"/>
                </a:lnTo>
                <a:cubicBezTo>
                  <a:pt x="34123" y="3676650"/>
                  <a:pt x="0" y="3642527"/>
                  <a:pt x="0" y="3600433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24122070" name="Text 10"/>
          <p:cNvSpPr/>
          <p:nvPr/>
        </p:nvSpPr>
        <p:spPr bwMode="auto">
          <a:xfrm>
            <a:off x="6210300" y="1905000"/>
            <a:ext cx="5662613" cy="367665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form { max-width: 500px; margin: 0 auto; padding: 30px;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label { display: block; margin-bottom: 8px; font-weight: 600; color: #1D1D1D;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input, textarea { width: 100%; padding: 12px 16px; border: 2px solid #E5E5E5; border-radius: 8px; font-size: 16px; transition: border-color 0.3s;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input:focus, textarea:focus { outline: none; border-color: #0071E3;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button { width: 100%; padding: 14px; background: #0071E3; color: white; border: none; border-radius: 8px; font-size: 16px; cursor: pointer; transition: background 0.3s;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button:hover { background: #0051A3; }</a:t>
            </a:r>
            <a:endParaRPr lang="en-US" sz="1600"/>
          </a:p>
        </p:txBody>
      </p:sp>
      <p:sp>
        <p:nvSpPr>
          <p:cNvPr id="690806224" name="Shape 11"/>
          <p:cNvSpPr/>
          <p:nvPr/>
        </p:nvSpPr>
        <p:spPr bwMode="auto">
          <a:xfrm>
            <a:off x="385762" y="5815013"/>
            <a:ext cx="3695700" cy="657225"/>
          </a:xfrm>
          <a:custGeom>
            <a:avLst/>
            <a:gdLst/>
            <a:ahLst/>
            <a:cxnLst/>
            <a:rect l="l" t="t" r="r" b="b"/>
            <a:pathLst>
              <a:path w="3695700" h="657225" fill="norm" stroke="1" extrusionOk="0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542927"/>
                </a:lnTo>
                <a:cubicBezTo>
                  <a:pt x="3695700" y="606010"/>
                  <a:pt x="3644485" y="657225"/>
                  <a:pt x="35814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27479409" name="Text 12"/>
          <p:cNvSpPr/>
          <p:nvPr/>
        </p:nvSpPr>
        <p:spPr bwMode="auto">
          <a:xfrm>
            <a:off x="504825" y="59340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name</a:t>
            </a:r>
            <a:endParaRPr sz="1400"/>
          </a:p>
        </p:txBody>
      </p:sp>
      <p:sp>
        <p:nvSpPr>
          <p:cNvPr id="1895117348" name="Text 13"/>
          <p:cNvSpPr/>
          <p:nvPr/>
        </p:nvSpPr>
        <p:spPr bwMode="auto">
          <a:xfrm>
            <a:off x="504825" y="61626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Ключ для отправки данных на сервер</a:t>
            </a:r>
            <a:endParaRPr sz="1400"/>
          </a:p>
        </p:txBody>
      </p:sp>
      <p:sp>
        <p:nvSpPr>
          <p:cNvPr id="478690057" name="Shape 14"/>
          <p:cNvSpPr/>
          <p:nvPr/>
        </p:nvSpPr>
        <p:spPr bwMode="auto">
          <a:xfrm>
            <a:off x="4246562" y="5815013"/>
            <a:ext cx="3695700" cy="657225"/>
          </a:xfrm>
          <a:custGeom>
            <a:avLst/>
            <a:gdLst/>
            <a:ahLst/>
            <a:cxnLst/>
            <a:rect l="l" t="t" r="r" b="b"/>
            <a:pathLst>
              <a:path w="3695700" h="657225" fill="norm" stroke="1" extrusionOk="0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542927"/>
                </a:lnTo>
                <a:cubicBezTo>
                  <a:pt x="3695700" y="606010"/>
                  <a:pt x="3644485" y="657225"/>
                  <a:pt x="35814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996656" name="Text 15"/>
          <p:cNvSpPr/>
          <p:nvPr/>
        </p:nvSpPr>
        <p:spPr bwMode="auto">
          <a:xfrm>
            <a:off x="4365625" y="59340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placeholder</a:t>
            </a:r>
            <a:endParaRPr sz="1400"/>
          </a:p>
        </p:txBody>
      </p:sp>
      <p:sp>
        <p:nvSpPr>
          <p:cNvPr id="921801469" name="Text 16"/>
          <p:cNvSpPr/>
          <p:nvPr/>
        </p:nvSpPr>
        <p:spPr bwMode="auto">
          <a:xfrm>
            <a:off x="4365625" y="61626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Подсказка внутри поля</a:t>
            </a:r>
            <a:endParaRPr sz="1400"/>
          </a:p>
        </p:txBody>
      </p:sp>
      <p:sp>
        <p:nvSpPr>
          <p:cNvPr id="617944593" name="Shape 17"/>
          <p:cNvSpPr/>
          <p:nvPr/>
        </p:nvSpPr>
        <p:spPr bwMode="auto">
          <a:xfrm>
            <a:off x="8107363" y="5815013"/>
            <a:ext cx="3695700" cy="657225"/>
          </a:xfrm>
          <a:custGeom>
            <a:avLst/>
            <a:gdLst/>
            <a:ahLst/>
            <a:cxnLst/>
            <a:rect l="l" t="t" r="r" b="b"/>
            <a:pathLst>
              <a:path w="3695700" h="657225" fill="norm" stroke="1" extrusionOk="0">
                <a:moveTo>
                  <a:pt x="114298" y="0"/>
                </a:moveTo>
                <a:lnTo>
                  <a:pt x="3581402" y="0"/>
                </a:lnTo>
                <a:cubicBezTo>
                  <a:pt x="3644485" y="0"/>
                  <a:pt x="3695700" y="51215"/>
                  <a:pt x="3695700" y="114298"/>
                </a:cubicBezTo>
                <a:lnTo>
                  <a:pt x="3695700" y="542927"/>
                </a:lnTo>
                <a:cubicBezTo>
                  <a:pt x="3695700" y="606010"/>
                  <a:pt x="3644485" y="657225"/>
                  <a:pt x="35814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80062730" name="Text 18"/>
          <p:cNvSpPr/>
          <p:nvPr/>
        </p:nvSpPr>
        <p:spPr bwMode="auto">
          <a:xfrm>
            <a:off x="8226425" y="59340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required</a:t>
            </a:r>
            <a:endParaRPr sz="1400"/>
          </a:p>
        </p:txBody>
      </p:sp>
      <p:sp>
        <p:nvSpPr>
          <p:cNvPr id="1367030781" name="Text 19"/>
          <p:cNvSpPr/>
          <p:nvPr/>
        </p:nvSpPr>
        <p:spPr bwMode="auto">
          <a:xfrm>
            <a:off x="8226425" y="61626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Делает поле обязательным</a:t>
            </a:r>
            <a:endParaRPr sz="1400"/>
          </a:p>
        </p:txBody>
      </p:sp>
      <p:pic>
        <p:nvPicPr>
          <p:cNvPr id="601635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1999" y="2358536"/>
            <a:ext cx="4838699" cy="3333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250012" name="Text 0"/>
          <p:cNvSpPr/>
          <p:nvPr/>
        </p:nvSpPr>
        <p:spPr bwMode="auto">
          <a:xfrm>
            <a:off x="350849" y="350849"/>
            <a:ext cx="1155170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47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Задание 1</a:t>
            </a:r>
            <a:endParaRPr sz="2000"/>
          </a:p>
        </p:txBody>
      </p:sp>
      <p:sp>
        <p:nvSpPr>
          <p:cNvPr id="1602926366" name="Text 1"/>
          <p:cNvSpPr/>
          <p:nvPr/>
        </p:nvSpPr>
        <p:spPr bwMode="auto">
          <a:xfrm>
            <a:off x="350849" y="631528"/>
            <a:ext cx="11700811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3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Создание HTML-формы обратной связи</a:t>
            </a:r>
            <a:endParaRPr lang="en-US" sz="1600"/>
          </a:p>
        </p:txBody>
      </p:sp>
      <p:sp>
        <p:nvSpPr>
          <p:cNvPr id="1985241792" name="Text 2"/>
          <p:cNvSpPr/>
          <p:nvPr/>
        </p:nvSpPr>
        <p:spPr bwMode="auto">
          <a:xfrm>
            <a:off x="350849" y="1192886"/>
            <a:ext cx="1157801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Создайте форму с тремя полями и стилизацией</a:t>
            </a:r>
            <a:endParaRPr lang="en-US" sz="1600"/>
          </a:p>
        </p:txBody>
      </p:sp>
      <p:sp>
        <p:nvSpPr>
          <p:cNvPr id="1836261404" name="Shape 3"/>
          <p:cNvSpPr/>
          <p:nvPr/>
        </p:nvSpPr>
        <p:spPr bwMode="auto">
          <a:xfrm>
            <a:off x="377162" y="1684075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 fill="norm" stroke="1" extrusionOk="0">
                <a:moveTo>
                  <a:pt x="55012" y="14925"/>
                </a:moveTo>
                <a:cubicBezTo>
                  <a:pt x="59494" y="18050"/>
                  <a:pt x="60563" y="24217"/>
                  <a:pt x="57438" y="28657"/>
                </a:cubicBezTo>
                <a:lnTo>
                  <a:pt x="34413" y="61549"/>
                </a:lnTo>
                <a:cubicBezTo>
                  <a:pt x="32728" y="63934"/>
                  <a:pt x="30096" y="65455"/>
                  <a:pt x="27177" y="65702"/>
                </a:cubicBezTo>
                <a:cubicBezTo>
                  <a:pt x="24258" y="65949"/>
                  <a:pt x="21380" y="64962"/>
                  <a:pt x="19324" y="62906"/>
                </a:cubicBezTo>
                <a:lnTo>
                  <a:pt x="2878" y="46460"/>
                </a:lnTo>
                <a:cubicBezTo>
                  <a:pt x="-946" y="42595"/>
                  <a:pt x="-946" y="36346"/>
                  <a:pt x="2878" y="32481"/>
                </a:cubicBezTo>
                <a:cubicBezTo>
                  <a:pt x="6702" y="28616"/>
                  <a:pt x="12992" y="28657"/>
                  <a:pt x="16857" y="32481"/>
                </a:cubicBezTo>
                <a:lnTo>
                  <a:pt x="24998" y="40622"/>
                </a:lnTo>
                <a:lnTo>
                  <a:pt x="41280" y="17351"/>
                </a:lnTo>
                <a:cubicBezTo>
                  <a:pt x="44404" y="12869"/>
                  <a:pt x="50572" y="11800"/>
                  <a:pt x="55012" y="14925"/>
                </a:cubicBezTo>
                <a:close/>
                <a:moveTo>
                  <a:pt x="55012" y="80709"/>
                </a:moveTo>
                <a:cubicBezTo>
                  <a:pt x="59494" y="83834"/>
                  <a:pt x="60563" y="90001"/>
                  <a:pt x="57438" y="94441"/>
                </a:cubicBezTo>
                <a:lnTo>
                  <a:pt x="34413" y="127333"/>
                </a:lnTo>
                <a:cubicBezTo>
                  <a:pt x="32728" y="129718"/>
                  <a:pt x="30096" y="131239"/>
                  <a:pt x="27177" y="131486"/>
                </a:cubicBezTo>
                <a:cubicBezTo>
                  <a:pt x="24258" y="131733"/>
                  <a:pt x="21380" y="130746"/>
                  <a:pt x="19324" y="128690"/>
                </a:cubicBezTo>
                <a:lnTo>
                  <a:pt x="2878" y="112244"/>
                </a:lnTo>
                <a:cubicBezTo>
                  <a:pt x="-987" y="108379"/>
                  <a:pt x="-987" y="102130"/>
                  <a:pt x="2878" y="98306"/>
                </a:cubicBezTo>
                <a:cubicBezTo>
                  <a:pt x="6743" y="94483"/>
                  <a:pt x="12992" y="94441"/>
                  <a:pt x="16816" y="98306"/>
                </a:cubicBezTo>
                <a:lnTo>
                  <a:pt x="24957" y="106447"/>
                </a:lnTo>
                <a:lnTo>
                  <a:pt x="41238" y="83176"/>
                </a:lnTo>
                <a:cubicBezTo>
                  <a:pt x="44363" y="78694"/>
                  <a:pt x="50530" y="77625"/>
                  <a:pt x="54971" y="80750"/>
                </a:cubicBezTo>
                <a:close/>
                <a:moveTo>
                  <a:pt x="92098" y="39471"/>
                </a:moveTo>
                <a:cubicBezTo>
                  <a:pt x="92098" y="32193"/>
                  <a:pt x="97977" y="26314"/>
                  <a:pt x="105255" y="26314"/>
                </a:cubicBezTo>
                <a:lnTo>
                  <a:pt x="197353" y="26314"/>
                </a:lnTo>
                <a:cubicBezTo>
                  <a:pt x="204630" y="26314"/>
                  <a:pt x="210509" y="32193"/>
                  <a:pt x="210509" y="39471"/>
                </a:cubicBezTo>
                <a:cubicBezTo>
                  <a:pt x="210509" y="46748"/>
                  <a:pt x="204630" y="52627"/>
                  <a:pt x="197353" y="52627"/>
                </a:cubicBezTo>
                <a:lnTo>
                  <a:pt x="105255" y="52627"/>
                </a:lnTo>
                <a:cubicBezTo>
                  <a:pt x="97977" y="52627"/>
                  <a:pt x="92098" y="46748"/>
                  <a:pt x="92098" y="39471"/>
                </a:cubicBezTo>
                <a:close/>
                <a:moveTo>
                  <a:pt x="92098" y="105255"/>
                </a:moveTo>
                <a:cubicBezTo>
                  <a:pt x="92098" y="97977"/>
                  <a:pt x="97977" y="92098"/>
                  <a:pt x="105255" y="92098"/>
                </a:cubicBezTo>
                <a:lnTo>
                  <a:pt x="197353" y="92098"/>
                </a:lnTo>
                <a:cubicBezTo>
                  <a:pt x="204630" y="92098"/>
                  <a:pt x="210509" y="97977"/>
                  <a:pt x="210509" y="105255"/>
                </a:cubicBezTo>
                <a:cubicBezTo>
                  <a:pt x="210509" y="112532"/>
                  <a:pt x="204630" y="118412"/>
                  <a:pt x="197353" y="118412"/>
                </a:cubicBezTo>
                <a:lnTo>
                  <a:pt x="105255" y="118412"/>
                </a:lnTo>
                <a:cubicBezTo>
                  <a:pt x="97977" y="118412"/>
                  <a:pt x="92098" y="112532"/>
                  <a:pt x="92098" y="105255"/>
                </a:cubicBezTo>
                <a:close/>
                <a:moveTo>
                  <a:pt x="65784" y="171039"/>
                </a:moveTo>
                <a:cubicBezTo>
                  <a:pt x="65784" y="163761"/>
                  <a:pt x="71664" y="157882"/>
                  <a:pt x="78941" y="157882"/>
                </a:cubicBezTo>
                <a:lnTo>
                  <a:pt x="197353" y="157882"/>
                </a:lnTo>
                <a:cubicBezTo>
                  <a:pt x="204630" y="157882"/>
                  <a:pt x="210509" y="163761"/>
                  <a:pt x="210509" y="171039"/>
                </a:cubicBezTo>
                <a:cubicBezTo>
                  <a:pt x="210509" y="178316"/>
                  <a:pt x="204630" y="184196"/>
                  <a:pt x="197353" y="184196"/>
                </a:cubicBezTo>
                <a:lnTo>
                  <a:pt x="78941" y="184196"/>
                </a:lnTo>
                <a:cubicBezTo>
                  <a:pt x="71664" y="184196"/>
                  <a:pt x="65784" y="178316"/>
                  <a:pt x="65784" y="171039"/>
                </a:cubicBezTo>
                <a:close/>
                <a:moveTo>
                  <a:pt x="26314" y="154593"/>
                </a:moveTo>
                <a:cubicBezTo>
                  <a:pt x="35390" y="154593"/>
                  <a:pt x="42760" y="161962"/>
                  <a:pt x="42760" y="171039"/>
                </a:cubicBezTo>
                <a:cubicBezTo>
                  <a:pt x="42760" y="180116"/>
                  <a:pt x="35390" y="187485"/>
                  <a:pt x="26314" y="187485"/>
                </a:cubicBezTo>
                <a:cubicBezTo>
                  <a:pt x="17237" y="187485"/>
                  <a:pt x="9868" y="180116"/>
                  <a:pt x="9868" y="171039"/>
                </a:cubicBezTo>
                <a:cubicBezTo>
                  <a:pt x="9868" y="161962"/>
                  <a:pt x="17237" y="154593"/>
                  <a:pt x="26314" y="15459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66616037" name="Text 4"/>
          <p:cNvSpPr/>
          <p:nvPr/>
        </p:nvSpPr>
        <p:spPr bwMode="auto">
          <a:xfrm>
            <a:off x="613986" y="1648990"/>
            <a:ext cx="544692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Требования</a:t>
            </a:r>
            <a:endParaRPr lang="en-US" sz="1600"/>
          </a:p>
        </p:txBody>
      </p:sp>
      <p:sp>
        <p:nvSpPr>
          <p:cNvPr id="67305012" name="Shape 5"/>
          <p:cNvSpPr/>
          <p:nvPr/>
        </p:nvSpPr>
        <p:spPr bwMode="auto">
          <a:xfrm>
            <a:off x="355235" y="2109479"/>
            <a:ext cx="5596040" cy="850809"/>
          </a:xfrm>
          <a:custGeom>
            <a:avLst/>
            <a:gdLst/>
            <a:ahLst/>
            <a:cxnLst/>
            <a:rect l="l" t="t" r="r" b="b"/>
            <a:pathLst>
              <a:path w="5596040" h="850809" fill="norm" stroke="1" extrusionOk="0">
                <a:moveTo>
                  <a:pt x="105254" y="0"/>
                </a:moveTo>
                <a:lnTo>
                  <a:pt x="5490787" y="0"/>
                </a:lnTo>
                <a:cubicBezTo>
                  <a:pt x="5548917" y="0"/>
                  <a:pt x="5596040" y="47124"/>
                  <a:pt x="5596040" y="105254"/>
                </a:cubicBezTo>
                <a:lnTo>
                  <a:pt x="5596040" y="745555"/>
                </a:lnTo>
                <a:cubicBezTo>
                  <a:pt x="5596040" y="803685"/>
                  <a:pt x="5548917" y="850809"/>
                  <a:pt x="5490787" y="850809"/>
                </a:cubicBezTo>
                <a:lnTo>
                  <a:pt x="105254" y="850809"/>
                </a:lnTo>
                <a:cubicBezTo>
                  <a:pt x="47124" y="850809"/>
                  <a:pt x="0" y="803685"/>
                  <a:pt x="0" y="745555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19784389" name="Shape 6"/>
          <p:cNvSpPr/>
          <p:nvPr/>
        </p:nvSpPr>
        <p:spPr bwMode="auto">
          <a:xfrm>
            <a:off x="535045" y="2289289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 fill="norm" stroke="1" extrusionOk="0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1472558" name="Text 7"/>
          <p:cNvSpPr/>
          <p:nvPr/>
        </p:nvSpPr>
        <p:spPr bwMode="auto">
          <a:xfrm>
            <a:off x="499960" y="2289289"/>
            <a:ext cx="35084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1</a:t>
            </a:r>
            <a:endParaRPr lang="en-US" sz="1600"/>
          </a:p>
        </p:txBody>
      </p:sp>
      <p:sp>
        <p:nvSpPr>
          <p:cNvPr id="1194228625" name="Text 8"/>
          <p:cNvSpPr/>
          <p:nvPr/>
        </p:nvSpPr>
        <p:spPr bwMode="auto">
          <a:xfrm>
            <a:off x="956063" y="2289289"/>
            <a:ext cx="275416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Поле "Имя"</a:t>
            </a:r>
            <a:endParaRPr sz="1600"/>
          </a:p>
        </p:txBody>
      </p:sp>
      <p:sp>
        <p:nvSpPr>
          <p:cNvPr id="1960518449" name="Text 9"/>
          <p:cNvSpPr/>
          <p:nvPr/>
        </p:nvSpPr>
        <p:spPr bwMode="auto">
          <a:xfrm flipH="0" flipV="0">
            <a:off x="956062" y="2569968"/>
            <a:ext cx="3952508" cy="39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type="text", id и name="name", label с for</a:t>
            </a:r>
            <a:endParaRPr sz="1400"/>
          </a:p>
        </p:txBody>
      </p:sp>
      <p:sp>
        <p:nvSpPr>
          <p:cNvPr id="1032660906" name="Shape 10"/>
          <p:cNvSpPr/>
          <p:nvPr/>
        </p:nvSpPr>
        <p:spPr bwMode="auto">
          <a:xfrm>
            <a:off x="355235" y="3109399"/>
            <a:ext cx="5596040" cy="850809"/>
          </a:xfrm>
          <a:custGeom>
            <a:avLst/>
            <a:gdLst/>
            <a:ahLst/>
            <a:cxnLst/>
            <a:rect l="l" t="t" r="r" b="b"/>
            <a:pathLst>
              <a:path w="5596040" h="850809" fill="norm" stroke="1" extrusionOk="0">
                <a:moveTo>
                  <a:pt x="105254" y="0"/>
                </a:moveTo>
                <a:lnTo>
                  <a:pt x="5490787" y="0"/>
                </a:lnTo>
                <a:cubicBezTo>
                  <a:pt x="5548917" y="0"/>
                  <a:pt x="5596040" y="47124"/>
                  <a:pt x="5596040" y="105254"/>
                </a:cubicBezTo>
                <a:lnTo>
                  <a:pt x="5596040" y="745555"/>
                </a:lnTo>
                <a:cubicBezTo>
                  <a:pt x="5596040" y="803685"/>
                  <a:pt x="5548917" y="850809"/>
                  <a:pt x="5490787" y="850809"/>
                </a:cubicBezTo>
                <a:lnTo>
                  <a:pt x="105254" y="850809"/>
                </a:lnTo>
                <a:cubicBezTo>
                  <a:pt x="47124" y="850809"/>
                  <a:pt x="0" y="803685"/>
                  <a:pt x="0" y="745555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80170788" name="Shape 11"/>
          <p:cNvSpPr/>
          <p:nvPr/>
        </p:nvSpPr>
        <p:spPr bwMode="auto">
          <a:xfrm>
            <a:off x="535045" y="3289209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 fill="norm" stroke="1" extrusionOk="0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475032" name="Text 12"/>
          <p:cNvSpPr/>
          <p:nvPr/>
        </p:nvSpPr>
        <p:spPr bwMode="auto">
          <a:xfrm>
            <a:off x="499960" y="3289209"/>
            <a:ext cx="35084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2</a:t>
            </a:r>
            <a:endParaRPr lang="en-US" sz="1600"/>
          </a:p>
        </p:txBody>
      </p:sp>
      <p:sp>
        <p:nvSpPr>
          <p:cNvPr id="1892173923" name="Text 13"/>
          <p:cNvSpPr/>
          <p:nvPr/>
        </p:nvSpPr>
        <p:spPr bwMode="auto">
          <a:xfrm>
            <a:off x="956063" y="3289209"/>
            <a:ext cx="295590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Поле "Email"</a:t>
            </a:r>
            <a:endParaRPr sz="1600"/>
          </a:p>
        </p:txBody>
      </p:sp>
      <p:sp>
        <p:nvSpPr>
          <p:cNvPr id="1803196261" name="Text 14"/>
          <p:cNvSpPr/>
          <p:nvPr/>
        </p:nvSpPr>
        <p:spPr bwMode="auto">
          <a:xfrm flipH="0" flipV="0">
            <a:off x="956062" y="3569887"/>
            <a:ext cx="3725722" cy="39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type="email", id и name="email", placeholder</a:t>
            </a:r>
            <a:endParaRPr sz="1400"/>
          </a:p>
        </p:txBody>
      </p:sp>
      <p:sp>
        <p:nvSpPr>
          <p:cNvPr id="1293651130" name="Shape 15"/>
          <p:cNvSpPr/>
          <p:nvPr/>
        </p:nvSpPr>
        <p:spPr bwMode="auto">
          <a:xfrm>
            <a:off x="355235" y="4109318"/>
            <a:ext cx="5596040" cy="850809"/>
          </a:xfrm>
          <a:custGeom>
            <a:avLst/>
            <a:gdLst/>
            <a:ahLst/>
            <a:cxnLst/>
            <a:rect l="l" t="t" r="r" b="b"/>
            <a:pathLst>
              <a:path w="5596040" h="850809" fill="norm" stroke="1" extrusionOk="0">
                <a:moveTo>
                  <a:pt x="105254" y="0"/>
                </a:moveTo>
                <a:lnTo>
                  <a:pt x="5490787" y="0"/>
                </a:lnTo>
                <a:cubicBezTo>
                  <a:pt x="5548917" y="0"/>
                  <a:pt x="5596040" y="47124"/>
                  <a:pt x="5596040" y="105254"/>
                </a:cubicBezTo>
                <a:lnTo>
                  <a:pt x="5596040" y="745555"/>
                </a:lnTo>
                <a:cubicBezTo>
                  <a:pt x="5596040" y="803685"/>
                  <a:pt x="5548917" y="850809"/>
                  <a:pt x="5490787" y="850809"/>
                </a:cubicBezTo>
                <a:lnTo>
                  <a:pt x="105254" y="850809"/>
                </a:lnTo>
                <a:cubicBezTo>
                  <a:pt x="47124" y="850809"/>
                  <a:pt x="0" y="803685"/>
                  <a:pt x="0" y="745555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3586171" name="Shape 16"/>
          <p:cNvSpPr/>
          <p:nvPr/>
        </p:nvSpPr>
        <p:spPr bwMode="auto">
          <a:xfrm>
            <a:off x="535045" y="4289128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 fill="norm" stroke="1" extrusionOk="0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70580618" name="Text 17"/>
          <p:cNvSpPr/>
          <p:nvPr/>
        </p:nvSpPr>
        <p:spPr bwMode="auto">
          <a:xfrm>
            <a:off x="499960" y="4289128"/>
            <a:ext cx="35084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3</a:t>
            </a:r>
            <a:endParaRPr lang="en-US" sz="1600"/>
          </a:p>
        </p:txBody>
      </p:sp>
      <p:sp>
        <p:nvSpPr>
          <p:cNvPr id="771341133" name="Text 18"/>
          <p:cNvSpPr/>
          <p:nvPr/>
        </p:nvSpPr>
        <p:spPr bwMode="auto">
          <a:xfrm>
            <a:off x="956063" y="4289128"/>
            <a:ext cx="251734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Поле "Сообщение"</a:t>
            </a:r>
            <a:endParaRPr sz="1600"/>
          </a:p>
        </p:txBody>
      </p:sp>
      <p:sp>
        <p:nvSpPr>
          <p:cNvPr id="2051846354" name="Text 19"/>
          <p:cNvSpPr/>
          <p:nvPr/>
        </p:nvSpPr>
        <p:spPr bwMode="auto">
          <a:xfrm flipH="0" flipV="0">
            <a:off x="956062" y="4569806"/>
            <a:ext cx="3227809" cy="31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textarea с name="message", rows="5"</a:t>
            </a:r>
            <a:endParaRPr sz="1400"/>
          </a:p>
        </p:txBody>
      </p:sp>
      <p:sp>
        <p:nvSpPr>
          <p:cNvPr id="1689450257" name="Shape 20"/>
          <p:cNvSpPr/>
          <p:nvPr/>
        </p:nvSpPr>
        <p:spPr bwMode="auto">
          <a:xfrm>
            <a:off x="355235" y="5109237"/>
            <a:ext cx="5596040" cy="850809"/>
          </a:xfrm>
          <a:custGeom>
            <a:avLst/>
            <a:gdLst/>
            <a:ahLst/>
            <a:cxnLst/>
            <a:rect l="l" t="t" r="r" b="b"/>
            <a:pathLst>
              <a:path w="5596040" h="850809" fill="norm" stroke="1" extrusionOk="0">
                <a:moveTo>
                  <a:pt x="105254" y="0"/>
                </a:moveTo>
                <a:lnTo>
                  <a:pt x="5490787" y="0"/>
                </a:lnTo>
                <a:cubicBezTo>
                  <a:pt x="5548917" y="0"/>
                  <a:pt x="5596040" y="47124"/>
                  <a:pt x="5596040" y="105254"/>
                </a:cubicBezTo>
                <a:lnTo>
                  <a:pt x="5596040" y="745555"/>
                </a:lnTo>
                <a:cubicBezTo>
                  <a:pt x="5596040" y="803685"/>
                  <a:pt x="5548917" y="850809"/>
                  <a:pt x="5490787" y="850809"/>
                </a:cubicBezTo>
                <a:lnTo>
                  <a:pt x="105254" y="850809"/>
                </a:lnTo>
                <a:cubicBezTo>
                  <a:pt x="47124" y="850809"/>
                  <a:pt x="0" y="803685"/>
                  <a:pt x="0" y="745555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95780350" name="Shape 21"/>
          <p:cNvSpPr/>
          <p:nvPr/>
        </p:nvSpPr>
        <p:spPr bwMode="auto">
          <a:xfrm>
            <a:off x="535045" y="5289047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 fill="norm" stroke="1" extrusionOk="0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22034397" name="Text 22"/>
          <p:cNvSpPr/>
          <p:nvPr/>
        </p:nvSpPr>
        <p:spPr bwMode="auto">
          <a:xfrm>
            <a:off x="499960" y="5289047"/>
            <a:ext cx="35084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4</a:t>
            </a:r>
            <a:endParaRPr lang="en-US" sz="1600"/>
          </a:p>
        </p:txBody>
      </p:sp>
      <p:sp>
        <p:nvSpPr>
          <p:cNvPr id="406095364" name="Text 23"/>
          <p:cNvSpPr/>
          <p:nvPr/>
        </p:nvSpPr>
        <p:spPr bwMode="auto">
          <a:xfrm>
            <a:off x="956063" y="5289047"/>
            <a:ext cx="322781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CSS-стилизация</a:t>
            </a:r>
            <a:endParaRPr sz="1600"/>
          </a:p>
        </p:txBody>
      </p:sp>
      <p:sp>
        <p:nvSpPr>
          <p:cNvPr id="738067627" name="Text 24"/>
          <p:cNvSpPr/>
          <p:nvPr/>
        </p:nvSpPr>
        <p:spPr bwMode="auto">
          <a:xfrm flipH="0" flipV="0">
            <a:off x="956062" y="5569726"/>
            <a:ext cx="4016008" cy="28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Отступы, границы, цвета, hover/focus эффекты</a:t>
            </a:r>
            <a:endParaRPr sz="1400"/>
          </a:p>
        </p:txBody>
      </p:sp>
      <p:sp>
        <p:nvSpPr>
          <p:cNvPr id="2060867973" name="Shape 25"/>
          <p:cNvSpPr/>
          <p:nvPr/>
        </p:nvSpPr>
        <p:spPr bwMode="auto">
          <a:xfrm>
            <a:off x="6289991" y="1684075"/>
            <a:ext cx="157882" cy="210509"/>
          </a:xfrm>
          <a:custGeom>
            <a:avLst/>
            <a:gdLst/>
            <a:ahLst/>
            <a:cxnLst/>
            <a:rect l="l" t="t" r="r" b="b"/>
            <a:pathLst>
              <a:path w="157882" h="210509" fill="norm" stroke="1" extrusionOk="0">
                <a:moveTo>
                  <a:pt x="102747" y="27465"/>
                </a:moveTo>
                <a:cubicBezTo>
                  <a:pt x="107023" y="21585"/>
                  <a:pt x="105707" y="13362"/>
                  <a:pt x="99827" y="9086"/>
                </a:cubicBezTo>
                <a:cubicBezTo>
                  <a:pt x="93948" y="4810"/>
                  <a:pt x="85725" y="6126"/>
                  <a:pt x="81449" y="12006"/>
                </a:cubicBezTo>
                <a:lnTo>
                  <a:pt x="37867" y="71910"/>
                </a:lnTo>
                <a:lnTo>
                  <a:pt x="22449" y="56492"/>
                </a:lnTo>
                <a:cubicBezTo>
                  <a:pt x="17309" y="51353"/>
                  <a:pt x="8963" y="51353"/>
                  <a:pt x="3824" y="56492"/>
                </a:cubicBezTo>
                <a:cubicBezTo>
                  <a:pt x="-1316" y="61632"/>
                  <a:pt x="-1316" y="69978"/>
                  <a:pt x="3824" y="75117"/>
                </a:cubicBezTo>
                <a:lnTo>
                  <a:pt x="30137" y="101431"/>
                </a:lnTo>
                <a:cubicBezTo>
                  <a:pt x="32851" y="104145"/>
                  <a:pt x="36634" y="105542"/>
                  <a:pt x="40457" y="105255"/>
                </a:cubicBezTo>
                <a:cubicBezTo>
                  <a:pt x="44281" y="104967"/>
                  <a:pt x="47817" y="102993"/>
                  <a:pt x="50078" y="99869"/>
                </a:cubicBezTo>
                <a:lnTo>
                  <a:pt x="102706" y="27506"/>
                </a:lnTo>
                <a:close/>
                <a:moveTo>
                  <a:pt x="155374" y="83381"/>
                </a:moveTo>
                <a:cubicBezTo>
                  <a:pt x="159650" y="77502"/>
                  <a:pt x="158334" y="69279"/>
                  <a:pt x="152455" y="65003"/>
                </a:cubicBezTo>
                <a:cubicBezTo>
                  <a:pt x="146575" y="60727"/>
                  <a:pt x="138352" y="62043"/>
                  <a:pt x="134076" y="67922"/>
                </a:cubicBezTo>
                <a:lnTo>
                  <a:pt x="64181" y="164008"/>
                </a:lnTo>
                <a:lnTo>
                  <a:pt x="35606" y="135433"/>
                </a:lnTo>
                <a:cubicBezTo>
                  <a:pt x="30466" y="130294"/>
                  <a:pt x="22120" y="130294"/>
                  <a:pt x="16981" y="135433"/>
                </a:cubicBezTo>
                <a:cubicBezTo>
                  <a:pt x="11841" y="140573"/>
                  <a:pt x="11841" y="148919"/>
                  <a:pt x="16981" y="154058"/>
                </a:cubicBezTo>
                <a:lnTo>
                  <a:pt x="56451" y="193529"/>
                </a:lnTo>
                <a:cubicBezTo>
                  <a:pt x="59165" y="196242"/>
                  <a:pt x="62947" y="197640"/>
                  <a:pt x="66771" y="197353"/>
                </a:cubicBezTo>
                <a:cubicBezTo>
                  <a:pt x="70595" y="197065"/>
                  <a:pt x="74131" y="195091"/>
                  <a:pt x="76392" y="191966"/>
                </a:cubicBezTo>
                <a:lnTo>
                  <a:pt x="155333" y="8342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16353771" name="Text 26"/>
          <p:cNvSpPr/>
          <p:nvPr/>
        </p:nvSpPr>
        <p:spPr bwMode="auto">
          <a:xfrm>
            <a:off x="6500500" y="1648990"/>
            <a:ext cx="544692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Что проверяется</a:t>
            </a:r>
            <a:endParaRPr lang="en-US" sz="1600"/>
          </a:p>
        </p:txBody>
      </p:sp>
      <p:sp>
        <p:nvSpPr>
          <p:cNvPr id="291668932" name="Shape 27"/>
          <p:cNvSpPr/>
          <p:nvPr/>
        </p:nvSpPr>
        <p:spPr bwMode="auto">
          <a:xfrm>
            <a:off x="6254906" y="2105094"/>
            <a:ext cx="5587269" cy="877122"/>
          </a:xfrm>
          <a:custGeom>
            <a:avLst/>
            <a:gdLst/>
            <a:ahLst/>
            <a:cxnLst/>
            <a:rect l="l" t="t" r="r" b="b"/>
            <a:pathLst>
              <a:path w="5587269" h="877122" fill="norm" stroke="1" extrusionOk="0">
                <a:moveTo>
                  <a:pt x="35085" y="0"/>
                </a:moveTo>
                <a:lnTo>
                  <a:pt x="5482014" y="0"/>
                </a:lnTo>
                <a:cubicBezTo>
                  <a:pt x="5540145" y="0"/>
                  <a:pt x="5587269" y="47124"/>
                  <a:pt x="5587269" y="105255"/>
                </a:cubicBezTo>
                <a:lnTo>
                  <a:pt x="5587269" y="771868"/>
                </a:lnTo>
                <a:cubicBezTo>
                  <a:pt x="5587269" y="829998"/>
                  <a:pt x="5540145" y="877122"/>
                  <a:pt x="5482014" y="877122"/>
                </a:cubicBez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0979894" name="Shape 28"/>
          <p:cNvSpPr/>
          <p:nvPr/>
        </p:nvSpPr>
        <p:spPr bwMode="auto">
          <a:xfrm>
            <a:off x="6254906" y="2105094"/>
            <a:ext cx="35085" cy="877122"/>
          </a:xfrm>
          <a:custGeom>
            <a:avLst/>
            <a:gdLst/>
            <a:ahLst/>
            <a:cxnLst/>
            <a:rect l="l" t="t" r="r" b="b"/>
            <a:pathLst>
              <a:path w="35085" h="877122" fill="norm" stroke="1" extrusionOk="0">
                <a:moveTo>
                  <a:pt x="35085" y="0"/>
                </a:moveTo>
                <a:lnTo>
                  <a:pt x="35085" y="0"/>
                </a:lnTo>
                <a:lnTo>
                  <a:pt x="35085" y="877122"/>
                </a:ln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9353402" name="Text 29"/>
          <p:cNvSpPr/>
          <p:nvPr/>
        </p:nvSpPr>
        <p:spPr bwMode="auto">
          <a:xfrm>
            <a:off x="6447873" y="2280518"/>
            <a:ext cx="529781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Семантическая структура</a:t>
            </a:r>
            <a:endParaRPr sz="1600"/>
          </a:p>
        </p:txBody>
      </p:sp>
      <p:sp>
        <p:nvSpPr>
          <p:cNvPr id="76999122" name="Text 30"/>
          <p:cNvSpPr/>
          <p:nvPr/>
        </p:nvSpPr>
        <p:spPr bwMode="auto">
          <a:xfrm>
            <a:off x="6447873" y="2596281"/>
            <a:ext cx="528904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Правильное использование form, label, input, textarea, button</a:t>
            </a:r>
            <a:endParaRPr sz="1400"/>
          </a:p>
        </p:txBody>
      </p:sp>
      <p:sp>
        <p:nvSpPr>
          <p:cNvPr id="304539378" name="Shape 31"/>
          <p:cNvSpPr/>
          <p:nvPr/>
        </p:nvSpPr>
        <p:spPr bwMode="auto">
          <a:xfrm>
            <a:off x="6254906" y="3122555"/>
            <a:ext cx="5587269" cy="877122"/>
          </a:xfrm>
          <a:custGeom>
            <a:avLst/>
            <a:gdLst/>
            <a:ahLst/>
            <a:cxnLst/>
            <a:rect l="l" t="t" r="r" b="b"/>
            <a:pathLst>
              <a:path w="5587269" h="877122" fill="norm" stroke="1" extrusionOk="0">
                <a:moveTo>
                  <a:pt x="35085" y="0"/>
                </a:moveTo>
                <a:lnTo>
                  <a:pt x="5482014" y="0"/>
                </a:lnTo>
                <a:cubicBezTo>
                  <a:pt x="5540145" y="0"/>
                  <a:pt x="5587269" y="47124"/>
                  <a:pt x="5587269" y="105255"/>
                </a:cubicBezTo>
                <a:lnTo>
                  <a:pt x="5587269" y="771868"/>
                </a:lnTo>
                <a:cubicBezTo>
                  <a:pt x="5587269" y="829998"/>
                  <a:pt x="5540145" y="877122"/>
                  <a:pt x="5482014" y="877122"/>
                </a:cubicBez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73440632" name="Shape 32"/>
          <p:cNvSpPr/>
          <p:nvPr/>
        </p:nvSpPr>
        <p:spPr bwMode="auto">
          <a:xfrm>
            <a:off x="6254906" y="3122555"/>
            <a:ext cx="35085" cy="877122"/>
          </a:xfrm>
          <a:custGeom>
            <a:avLst/>
            <a:gdLst/>
            <a:ahLst/>
            <a:cxnLst/>
            <a:rect l="l" t="t" r="r" b="b"/>
            <a:pathLst>
              <a:path w="35085" h="877122" fill="norm" stroke="1" extrusionOk="0">
                <a:moveTo>
                  <a:pt x="35085" y="0"/>
                </a:moveTo>
                <a:lnTo>
                  <a:pt x="35085" y="0"/>
                </a:lnTo>
                <a:lnTo>
                  <a:pt x="35085" y="877122"/>
                </a:ln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57475010" name="Text 33"/>
          <p:cNvSpPr/>
          <p:nvPr/>
        </p:nvSpPr>
        <p:spPr bwMode="auto">
          <a:xfrm>
            <a:off x="6447873" y="3297980"/>
            <a:ext cx="529781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Доступность</a:t>
            </a:r>
            <a:endParaRPr sz="1600"/>
          </a:p>
        </p:txBody>
      </p:sp>
      <p:sp>
        <p:nvSpPr>
          <p:cNvPr id="1269382062" name="Text 34"/>
          <p:cNvSpPr/>
          <p:nvPr/>
        </p:nvSpPr>
        <p:spPr bwMode="auto">
          <a:xfrm>
            <a:off x="6447873" y="3613744"/>
            <a:ext cx="528904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Каждое поле имеет связанный label с атрибутом for</a:t>
            </a:r>
            <a:endParaRPr sz="1400"/>
          </a:p>
        </p:txBody>
      </p:sp>
      <p:sp>
        <p:nvSpPr>
          <p:cNvPr id="1708648469" name="Shape 35"/>
          <p:cNvSpPr/>
          <p:nvPr/>
        </p:nvSpPr>
        <p:spPr bwMode="auto">
          <a:xfrm>
            <a:off x="6254906" y="4140017"/>
            <a:ext cx="5587269" cy="877122"/>
          </a:xfrm>
          <a:custGeom>
            <a:avLst/>
            <a:gdLst/>
            <a:ahLst/>
            <a:cxnLst/>
            <a:rect l="l" t="t" r="r" b="b"/>
            <a:pathLst>
              <a:path w="5587269" h="877122" fill="norm" stroke="1" extrusionOk="0">
                <a:moveTo>
                  <a:pt x="35085" y="0"/>
                </a:moveTo>
                <a:lnTo>
                  <a:pt x="5482014" y="0"/>
                </a:lnTo>
                <a:cubicBezTo>
                  <a:pt x="5540145" y="0"/>
                  <a:pt x="5587269" y="47124"/>
                  <a:pt x="5587269" y="105255"/>
                </a:cubicBezTo>
                <a:lnTo>
                  <a:pt x="5587269" y="771868"/>
                </a:lnTo>
                <a:cubicBezTo>
                  <a:pt x="5587269" y="829998"/>
                  <a:pt x="5540145" y="877122"/>
                  <a:pt x="5482014" y="877122"/>
                </a:cubicBez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1629458" name="Shape 36"/>
          <p:cNvSpPr/>
          <p:nvPr/>
        </p:nvSpPr>
        <p:spPr bwMode="auto">
          <a:xfrm>
            <a:off x="6254906" y="4140017"/>
            <a:ext cx="35085" cy="877122"/>
          </a:xfrm>
          <a:custGeom>
            <a:avLst/>
            <a:gdLst/>
            <a:ahLst/>
            <a:cxnLst/>
            <a:rect l="l" t="t" r="r" b="b"/>
            <a:pathLst>
              <a:path w="35085" h="877122" fill="norm" stroke="1" extrusionOk="0">
                <a:moveTo>
                  <a:pt x="35085" y="0"/>
                </a:moveTo>
                <a:lnTo>
                  <a:pt x="35085" y="0"/>
                </a:lnTo>
                <a:lnTo>
                  <a:pt x="35085" y="877122"/>
                </a:ln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86193429" name="Text 37"/>
          <p:cNvSpPr/>
          <p:nvPr/>
        </p:nvSpPr>
        <p:spPr bwMode="auto">
          <a:xfrm>
            <a:off x="6447873" y="4315442"/>
            <a:ext cx="529781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Визуальное оформление</a:t>
            </a:r>
            <a:endParaRPr sz="1600"/>
          </a:p>
        </p:txBody>
      </p:sp>
      <p:sp>
        <p:nvSpPr>
          <p:cNvPr id="952807423" name="Text 38"/>
          <p:cNvSpPr/>
          <p:nvPr/>
        </p:nvSpPr>
        <p:spPr bwMode="auto">
          <a:xfrm>
            <a:off x="6447873" y="4631206"/>
            <a:ext cx="528904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Современный дизайн с hover/focus состояниями</a:t>
            </a:r>
            <a:endParaRPr sz="1400"/>
          </a:p>
        </p:txBody>
      </p:sp>
      <p:sp>
        <p:nvSpPr>
          <p:cNvPr id="799035196" name="Shape 39"/>
          <p:cNvSpPr/>
          <p:nvPr/>
        </p:nvSpPr>
        <p:spPr bwMode="auto">
          <a:xfrm>
            <a:off x="6254906" y="5157479"/>
            <a:ext cx="5587269" cy="877122"/>
          </a:xfrm>
          <a:custGeom>
            <a:avLst/>
            <a:gdLst/>
            <a:ahLst/>
            <a:cxnLst/>
            <a:rect l="l" t="t" r="r" b="b"/>
            <a:pathLst>
              <a:path w="5587269" h="877122" fill="norm" stroke="1" extrusionOk="0">
                <a:moveTo>
                  <a:pt x="35085" y="0"/>
                </a:moveTo>
                <a:lnTo>
                  <a:pt x="5482014" y="0"/>
                </a:lnTo>
                <a:cubicBezTo>
                  <a:pt x="5540145" y="0"/>
                  <a:pt x="5587269" y="47124"/>
                  <a:pt x="5587269" y="105255"/>
                </a:cubicBezTo>
                <a:lnTo>
                  <a:pt x="5587269" y="771868"/>
                </a:lnTo>
                <a:cubicBezTo>
                  <a:pt x="5587269" y="829998"/>
                  <a:pt x="5540145" y="877122"/>
                  <a:pt x="5482014" y="877122"/>
                </a:cubicBez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87842261" name="Shape 40"/>
          <p:cNvSpPr/>
          <p:nvPr/>
        </p:nvSpPr>
        <p:spPr bwMode="auto">
          <a:xfrm>
            <a:off x="6254906" y="5157479"/>
            <a:ext cx="35085" cy="877122"/>
          </a:xfrm>
          <a:custGeom>
            <a:avLst/>
            <a:gdLst/>
            <a:ahLst/>
            <a:cxnLst/>
            <a:rect l="l" t="t" r="r" b="b"/>
            <a:pathLst>
              <a:path w="35085" h="877122" fill="norm" stroke="1" extrusionOk="0">
                <a:moveTo>
                  <a:pt x="35085" y="0"/>
                </a:moveTo>
                <a:lnTo>
                  <a:pt x="35085" y="0"/>
                </a:lnTo>
                <a:lnTo>
                  <a:pt x="35085" y="877122"/>
                </a:lnTo>
                <a:lnTo>
                  <a:pt x="35085" y="877122"/>
                </a:lnTo>
                <a:cubicBezTo>
                  <a:pt x="15708" y="877122"/>
                  <a:pt x="0" y="861414"/>
                  <a:pt x="0" y="84203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23818905" name="Text 41"/>
          <p:cNvSpPr/>
          <p:nvPr/>
        </p:nvSpPr>
        <p:spPr bwMode="auto">
          <a:xfrm>
            <a:off x="6447873" y="5332904"/>
            <a:ext cx="529781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Атрибуты полей</a:t>
            </a:r>
            <a:endParaRPr sz="1600"/>
          </a:p>
        </p:txBody>
      </p:sp>
      <p:sp>
        <p:nvSpPr>
          <p:cNvPr id="1861897126" name="Text 42"/>
          <p:cNvSpPr/>
          <p:nvPr/>
        </p:nvSpPr>
        <p:spPr bwMode="auto">
          <a:xfrm>
            <a:off x="6447873" y="5648668"/>
            <a:ext cx="528904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name для отправки, placeholder для подсказок</a:t>
            </a:r>
            <a:endParaRPr sz="1400"/>
          </a:p>
        </p:txBody>
      </p:sp>
      <p:sp>
        <p:nvSpPr>
          <p:cNvPr id="388792247" name="Shape 43"/>
          <p:cNvSpPr/>
          <p:nvPr/>
        </p:nvSpPr>
        <p:spPr bwMode="auto">
          <a:xfrm>
            <a:off x="355235" y="6249496"/>
            <a:ext cx="11481531" cy="605214"/>
          </a:xfrm>
          <a:custGeom>
            <a:avLst/>
            <a:gdLst/>
            <a:ahLst/>
            <a:cxnLst/>
            <a:rect l="l" t="t" r="r" b="b"/>
            <a:pathLst>
              <a:path w="11481531" h="605214" fill="norm" stroke="1" extrusionOk="0">
                <a:moveTo>
                  <a:pt x="105253" y="0"/>
                </a:moveTo>
                <a:lnTo>
                  <a:pt x="11376278" y="0"/>
                </a:lnTo>
                <a:cubicBezTo>
                  <a:pt x="11434408" y="0"/>
                  <a:pt x="11481531" y="47123"/>
                  <a:pt x="11481531" y="105253"/>
                </a:cubicBezTo>
                <a:lnTo>
                  <a:pt x="11481531" y="499962"/>
                </a:lnTo>
                <a:cubicBezTo>
                  <a:pt x="11481531" y="558091"/>
                  <a:pt x="11434408" y="605214"/>
                  <a:pt x="11376278" y="605214"/>
                </a:cubicBezTo>
                <a:lnTo>
                  <a:pt x="105253" y="605214"/>
                </a:lnTo>
                <a:cubicBezTo>
                  <a:pt x="47123" y="605214"/>
                  <a:pt x="0" y="558091"/>
                  <a:pt x="0" y="499962"/>
                </a:cubicBezTo>
                <a:lnTo>
                  <a:pt x="0" y="105253"/>
                </a:lnTo>
                <a:cubicBezTo>
                  <a:pt x="0" y="47162"/>
                  <a:pt x="47162" y="0"/>
                  <a:pt x="105253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427636318" name="Shape 44"/>
          <p:cNvSpPr/>
          <p:nvPr/>
        </p:nvSpPr>
        <p:spPr bwMode="auto">
          <a:xfrm>
            <a:off x="561358" y="644684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 fill="norm" stroke="1" extrusionOk="0">
                <a:moveTo>
                  <a:pt x="105255" y="0"/>
                </a:moveTo>
                <a:cubicBezTo>
                  <a:pt x="163346" y="0"/>
                  <a:pt x="210509" y="47163"/>
                  <a:pt x="210509" y="105255"/>
                </a:cubicBezTo>
                <a:cubicBezTo>
                  <a:pt x="210509" y="163346"/>
                  <a:pt x="163346" y="210509"/>
                  <a:pt x="105255" y="210509"/>
                </a:cubicBezTo>
                <a:cubicBezTo>
                  <a:pt x="47163" y="210509"/>
                  <a:pt x="0" y="163346"/>
                  <a:pt x="0" y="105255"/>
                </a:cubicBezTo>
                <a:cubicBezTo>
                  <a:pt x="0" y="47163"/>
                  <a:pt x="47163" y="0"/>
                  <a:pt x="105255" y="0"/>
                </a:cubicBezTo>
                <a:close/>
                <a:moveTo>
                  <a:pt x="95387" y="49338"/>
                </a:moveTo>
                <a:lnTo>
                  <a:pt x="95387" y="105255"/>
                </a:lnTo>
                <a:cubicBezTo>
                  <a:pt x="95387" y="108544"/>
                  <a:pt x="97032" y="111628"/>
                  <a:pt x="99786" y="113478"/>
                </a:cubicBezTo>
                <a:lnTo>
                  <a:pt x="139257" y="139791"/>
                </a:lnTo>
                <a:cubicBezTo>
                  <a:pt x="143780" y="142834"/>
                  <a:pt x="149906" y="141600"/>
                  <a:pt x="152948" y="137037"/>
                </a:cubicBezTo>
                <a:cubicBezTo>
                  <a:pt x="155991" y="132473"/>
                  <a:pt x="154757" y="126388"/>
                  <a:pt x="150193" y="123345"/>
                </a:cubicBezTo>
                <a:lnTo>
                  <a:pt x="115122" y="99992"/>
                </a:lnTo>
                <a:lnTo>
                  <a:pt x="115122" y="49338"/>
                </a:lnTo>
                <a:cubicBezTo>
                  <a:pt x="115122" y="43870"/>
                  <a:pt x="110723" y="39471"/>
                  <a:pt x="105255" y="39471"/>
                </a:cubicBezTo>
                <a:cubicBezTo>
                  <a:pt x="99786" y="39471"/>
                  <a:pt x="95387" y="43870"/>
                  <a:pt x="95387" y="49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93926379" name="Text 45"/>
          <p:cNvSpPr/>
          <p:nvPr/>
        </p:nvSpPr>
        <p:spPr bwMode="auto">
          <a:xfrm flipH="0" flipV="0">
            <a:off x="938520" y="6429305"/>
            <a:ext cx="9177050" cy="35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Время выполнения:</a:t>
            </a:r>
            <a:r>
              <a:rPr lang="en-US" sz="16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</a:t>
            </a:r>
            <a:r>
              <a:rPr lang="ru-RU" sz="16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10</a:t>
            </a:r>
            <a:r>
              <a:rPr lang="en-US" sz="16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минут. Сохраните результат в файл index.html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585663" name="Text 0"/>
          <p:cNvSpPr/>
          <p:nvPr/>
        </p:nvSpPr>
        <p:spPr bwMode="auto">
          <a:xfrm>
            <a:off x="341274" y="341274"/>
            <a:ext cx="1156917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47">
                <a:solidFill>
                  <a:srgbClr val="0071E3"/>
                </a:solidFill>
                <a:latin typeface="MiSans"/>
                <a:ea typeface="MiSans"/>
                <a:cs typeface="MiSans"/>
              </a:rPr>
              <a:t>Теория</a:t>
            </a:r>
            <a:endParaRPr lang="en-US" sz="1600"/>
          </a:p>
        </p:txBody>
      </p:sp>
      <p:sp>
        <p:nvSpPr>
          <p:cNvPr id="1302147683" name="Text 1"/>
          <p:cNvSpPr/>
          <p:nvPr/>
        </p:nvSpPr>
        <p:spPr bwMode="auto">
          <a:xfrm>
            <a:off x="341274" y="580165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2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Валидация формы</a:t>
            </a:r>
            <a:endParaRPr lang="en-US" sz="1600"/>
          </a:p>
        </p:txBody>
      </p:sp>
      <p:sp>
        <p:nvSpPr>
          <p:cNvPr id="856244541" name="Text 2"/>
          <p:cNvSpPr/>
          <p:nvPr/>
        </p:nvSpPr>
        <p:spPr bwMode="auto">
          <a:xfrm>
            <a:off x="341274" y="989693"/>
            <a:ext cx="1158623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HTML5 + JavaScript Constraint Validation API</a:t>
            </a:r>
            <a:endParaRPr lang="en-US" sz="1600"/>
          </a:p>
        </p:txBody>
      </p:sp>
      <p:sp>
        <p:nvSpPr>
          <p:cNvPr id="431633009" name="Shape 3"/>
          <p:cNvSpPr/>
          <p:nvPr/>
        </p:nvSpPr>
        <p:spPr bwMode="auto">
          <a:xfrm>
            <a:off x="383933" y="1399222"/>
            <a:ext cx="127977" cy="170637"/>
          </a:xfrm>
          <a:custGeom>
            <a:avLst/>
            <a:gdLst/>
            <a:ahLst/>
            <a:cxnLst/>
            <a:rect l="l" t="t" r="r" b="b"/>
            <a:pathLst>
              <a:path w="127978" h="170637" fill="norm" stroke="1" extrusionOk="0">
                <a:moveTo>
                  <a:pt x="0" y="10665"/>
                </a:moveTo>
                <a:lnTo>
                  <a:pt x="11631" y="142575"/>
                </a:lnTo>
                <a:lnTo>
                  <a:pt x="63822" y="159972"/>
                </a:lnTo>
                <a:lnTo>
                  <a:pt x="116346" y="142575"/>
                </a:lnTo>
                <a:lnTo>
                  <a:pt x="127978" y="10665"/>
                </a:lnTo>
                <a:lnTo>
                  <a:pt x="0" y="10665"/>
                </a:lnTo>
                <a:close/>
                <a:moveTo>
                  <a:pt x="102715" y="53291"/>
                </a:moveTo>
                <a:lnTo>
                  <a:pt x="41459" y="53291"/>
                </a:lnTo>
                <a:lnTo>
                  <a:pt x="42826" y="69754"/>
                </a:lnTo>
                <a:lnTo>
                  <a:pt x="101349" y="69754"/>
                </a:lnTo>
                <a:lnTo>
                  <a:pt x="96816" y="119212"/>
                </a:lnTo>
                <a:lnTo>
                  <a:pt x="64189" y="128211"/>
                </a:lnTo>
                <a:lnTo>
                  <a:pt x="64189" y="128311"/>
                </a:lnTo>
                <a:lnTo>
                  <a:pt x="63822" y="128311"/>
                </a:lnTo>
                <a:lnTo>
                  <a:pt x="30928" y="119212"/>
                </a:lnTo>
                <a:lnTo>
                  <a:pt x="28928" y="93950"/>
                </a:lnTo>
                <a:lnTo>
                  <a:pt x="44825" y="93950"/>
                </a:lnTo>
                <a:lnTo>
                  <a:pt x="45992" y="106648"/>
                </a:lnTo>
                <a:lnTo>
                  <a:pt x="63822" y="111480"/>
                </a:lnTo>
                <a:lnTo>
                  <a:pt x="81719" y="106648"/>
                </a:lnTo>
                <a:lnTo>
                  <a:pt x="83719" y="85918"/>
                </a:lnTo>
                <a:lnTo>
                  <a:pt x="28095" y="85918"/>
                </a:lnTo>
                <a:lnTo>
                  <a:pt x="23829" y="37393"/>
                </a:lnTo>
                <a:lnTo>
                  <a:pt x="104182" y="37393"/>
                </a:lnTo>
                <a:lnTo>
                  <a:pt x="102715" y="5329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95387807" name="Text 4"/>
          <p:cNvSpPr/>
          <p:nvPr/>
        </p:nvSpPr>
        <p:spPr bwMode="auto">
          <a:xfrm>
            <a:off x="554570" y="1365094"/>
            <a:ext cx="55286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HTML5 валидация</a:t>
            </a:r>
            <a:endParaRPr lang="en-US" sz="1600"/>
          </a:p>
        </p:txBody>
      </p:sp>
      <p:sp>
        <p:nvSpPr>
          <p:cNvPr id="1874174377" name="Shape 5"/>
          <p:cNvSpPr/>
          <p:nvPr/>
        </p:nvSpPr>
        <p:spPr bwMode="auto">
          <a:xfrm flipH="0" flipV="0">
            <a:off x="345539" y="1710633"/>
            <a:ext cx="5648077" cy="2108524"/>
          </a:xfrm>
          <a:custGeom>
            <a:avLst/>
            <a:gdLst/>
            <a:ahLst/>
            <a:cxnLst/>
            <a:rect l="l" t="t" r="r" b="b"/>
            <a:pathLst>
              <a:path w="5648078" h="1100607" fill="norm" stroke="1" extrusionOk="0">
                <a:moveTo>
                  <a:pt x="68260" y="0"/>
                </a:moveTo>
                <a:lnTo>
                  <a:pt x="5579819" y="0"/>
                </a:lnTo>
                <a:cubicBezTo>
                  <a:pt x="5617517" y="0"/>
                  <a:pt x="5648078" y="30561"/>
                  <a:pt x="5648078" y="68260"/>
                </a:cubicBezTo>
                <a:lnTo>
                  <a:pt x="5648078" y="1032348"/>
                </a:lnTo>
                <a:cubicBezTo>
                  <a:pt x="5648078" y="1070047"/>
                  <a:pt x="5617517" y="1100607"/>
                  <a:pt x="5579819" y="1100607"/>
                </a:cubicBezTo>
                <a:lnTo>
                  <a:pt x="68260" y="1100607"/>
                </a:lnTo>
                <a:cubicBezTo>
                  <a:pt x="30561" y="1100607"/>
                  <a:pt x="0" y="1070047"/>
                  <a:pt x="0" y="1032348"/>
                </a:cubicBezTo>
                <a:lnTo>
                  <a:pt x="0" y="68260"/>
                </a:lnTo>
                <a:cubicBezTo>
                  <a:pt x="0" y="30586"/>
                  <a:pt x="30586" y="0"/>
                  <a:pt x="6826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71695177" name="Text 6"/>
          <p:cNvSpPr/>
          <p:nvPr/>
        </p:nvSpPr>
        <p:spPr bwMode="auto">
          <a:xfrm>
            <a:off x="452188" y="1817282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required</a:t>
            </a:r>
            <a:endParaRPr sz="1400"/>
          </a:p>
        </p:txBody>
      </p:sp>
      <p:sp>
        <p:nvSpPr>
          <p:cNvPr id="1734542758" name="Text 7"/>
          <p:cNvSpPr/>
          <p:nvPr/>
        </p:nvSpPr>
        <p:spPr bwMode="auto">
          <a:xfrm>
            <a:off x="452188" y="2022046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Обязательное поле</a:t>
            </a:r>
            <a:endParaRPr sz="1400"/>
          </a:p>
        </p:txBody>
      </p:sp>
      <p:sp>
        <p:nvSpPr>
          <p:cNvPr id="1712747025" name="Text 9"/>
          <p:cNvSpPr/>
          <p:nvPr/>
        </p:nvSpPr>
        <p:spPr bwMode="auto">
          <a:xfrm flipH="0" flipV="0">
            <a:off x="452187" y="2260937"/>
            <a:ext cx="5490238" cy="1411682"/>
          </a:xfrm>
          <a:prstGeom prst="rect">
            <a:avLst/>
          </a:prstGeom>
          <a:noFill/>
          <a:ln/>
        </p:spPr>
        <p:txBody>
          <a:bodyPr wrap="square" lIns="136508" tIns="136508" rIns="136508" bIns="136508" rtlCol="0" anchor="ctr"/>
          <a:lstStyle/>
          <a:p>
            <a:pPr>
              <a:lnSpc>
                <a:spcPct val="130000"/>
              </a:lnSpc>
              <a:defRPr/>
            </a:pPr>
            <a:endParaRPr lang="en-US" sz="1600"/>
          </a:p>
        </p:txBody>
      </p:sp>
      <p:sp>
        <p:nvSpPr>
          <p:cNvPr id="1612485680" name="Shape 10"/>
          <p:cNvSpPr/>
          <p:nvPr/>
        </p:nvSpPr>
        <p:spPr bwMode="auto">
          <a:xfrm flipH="0" flipV="0">
            <a:off x="383932" y="4193398"/>
            <a:ext cx="5648077" cy="1919664"/>
          </a:xfrm>
          <a:custGeom>
            <a:avLst/>
            <a:gdLst/>
            <a:ahLst/>
            <a:cxnLst/>
            <a:rect l="l" t="t" r="r" b="b"/>
            <a:pathLst>
              <a:path w="5648078" h="1100607" fill="norm" stroke="1" extrusionOk="0">
                <a:moveTo>
                  <a:pt x="68260" y="0"/>
                </a:moveTo>
                <a:lnTo>
                  <a:pt x="5579819" y="0"/>
                </a:lnTo>
                <a:cubicBezTo>
                  <a:pt x="5617517" y="0"/>
                  <a:pt x="5648078" y="30561"/>
                  <a:pt x="5648078" y="68260"/>
                </a:cubicBezTo>
                <a:lnTo>
                  <a:pt x="5648078" y="1032348"/>
                </a:lnTo>
                <a:cubicBezTo>
                  <a:pt x="5648078" y="1070047"/>
                  <a:pt x="5617517" y="1100607"/>
                  <a:pt x="5579819" y="1100607"/>
                </a:cubicBezTo>
                <a:lnTo>
                  <a:pt x="68260" y="1100607"/>
                </a:lnTo>
                <a:cubicBezTo>
                  <a:pt x="30561" y="1100607"/>
                  <a:pt x="0" y="1070047"/>
                  <a:pt x="0" y="1032348"/>
                </a:cubicBezTo>
                <a:lnTo>
                  <a:pt x="0" y="68260"/>
                </a:lnTo>
                <a:cubicBezTo>
                  <a:pt x="0" y="30586"/>
                  <a:pt x="30586" y="0"/>
                  <a:pt x="6826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30211504" name="Text 11"/>
          <p:cNvSpPr/>
          <p:nvPr/>
        </p:nvSpPr>
        <p:spPr bwMode="auto">
          <a:xfrm>
            <a:off x="490581" y="4300047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type="email"</a:t>
            </a:r>
            <a:endParaRPr sz="1400"/>
          </a:p>
        </p:txBody>
      </p:sp>
      <p:sp>
        <p:nvSpPr>
          <p:cNvPr id="346916077" name="Text 12"/>
          <p:cNvSpPr/>
          <p:nvPr/>
        </p:nvSpPr>
        <p:spPr bwMode="auto">
          <a:xfrm>
            <a:off x="490581" y="4504810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Проверка формата email</a:t>
            </a:r>
            <a:endParaRPr sz="1400"/>
          </a:p>
        </p:txBody>
      </p:sp>
      <p:sp>
        <p:nvSpPr>
          <p:cNvPr id="2137519039" name="Text 14"/>
          <p:cNvSpPr/>
          <p:nvPr/>
        </p:nvSpPr>
        <p:spPr bwMode="auto">
          <a:xfrm flipH="0" flipV="0">
            <a:off x="490580" y="4743702"/>
            <a:ext cx="5490238" cy="1249914"/>
          </a:xfrm>
          <a:prstGeom prst="rect">
            <a:avLst/>
          </a:prstGeom>
          <a:noFill/>
          <a:ln/>
        </p:spPr>
        <p:txBody>
          <a:bodyPr wrap="square" lIns="136508" tIns="136508" rIns="136508" bIns="136508" rtlCol="0" anchor="ctr"/>
          <a:lstStyle/>
          <a:p>
            <a:pPr>
              <a:lnSpc>
                <a:spcPct val="130000"/>
              </a:lnSpc>
              <a:defRPr/>
            </a:pPr>
            <a:endParaRPr lang="en-US" sz="1600"/>
          </a:p>
        </p:txBody>
      </p:sp>
      <p:sp>
        <p:nvSpPr>
          <p:cNvPr id="918565871" name="Shape 25"/>
          <p:cNvSpPr/>
          <p:nvPr/>
        </p:nvSpPr>
        <p:spPr bwMode="auto">
          <a:xfrm>
            <a:off x="6231799" y="1399222"/>
            <a:ext cx="149307" cy="170637"/>
          </a:xfrm>
          <a:custGeom>
            <a:avLst/>
            <a:gdLst/>
            <a:ahLst/>
            <a:cxnLst/>
            <a:rect l="l" t="t" r="r" b="b"/>
            <a:pathLst>
              <a:path w="149307" h="170637" fill="norm" stroke="1" extrusionOk="0">
                <a:moveTo>
                  <a:pt x="0" y="10665"/>
                </a:moveTo>
                <a:lnTo>
                  <a:pt x="0" y="159972"/>
                </a:lnTo>
                <a:lnTo>
                  <a:pt x="149307" y="159972"/>
                </a:lnTo>
                <a:lnTo>
                  <a:pt x="149307" y="10665"/>
                </a:lnTo>
                <a:lnTo>
                  <a:pt x="0" y="10665"/>
                </a:lnTo>
                <a:close/>
                <a:moveTo>
                  <a:pt x="81252" y="127111"/>
                </a:moveTo>
                <a:cubicBezTo>
                  <a:pt x="81252" y="141642"/>
                  <a:pt x="72721" y="148274"/>
                  <a:pt x="60289" y="148274"/>
                </a:cubicBezTo>
                <a:cubicBezTo>
                  <a:pt x="49058" y="148274"/>
                  <a:pt x="42559" y="142475"/>
                  <a:pt x="39226" y="135443"/>
                </a:cubicBezTo>
                <a:lnTo>
                  <a:pt x="50658" y="128544"/>
                </a:lnTo>
                <a:cubicBezTo>
                  <a:pt x="52857" y="132443"/>
                  <a:pt x="54857" y="135743"/>
                  <a:pt x="59690" y="135743"/>
                </a:cubicBezTo>
                <a:cubicBezTo>
                  <a:pt x="64289" y="135743"/>
                  <a:pt x="67222" y="133943"/>
                  <a:pt x="67222" y="126911"/>
                </a:cubicBezTo>
                <a:lnTo>
                  <a:pt x="67222" y="79219"/>
                </a:lnTo>
                <a:lnTo>
                  <a:pt x="81252" y="79219"/>
                </a:lnTo>
                <a:lnTo>
                  <a:pt x="81252" y="127111"/>
                </a:lnTo>
                <a:close/>
                <a:moveTo>
                  <a:pt x="114447" y="148274"/>
                </a:moveTo>
                <a:cubicBezTo>
                  <a:pt x="101416" y="148274"/>
                  <a:pt x="92984" y="142075"/>
                  <a:pt x="88884" y="133943"/>
                </a:cubicBezTo>
                <a:lnTo>
                  <a:pt x="100316" y="127344"/>
                </a:lnTo>
                <a:cubicBezTo>
                  <a:pt x="103315" y="132244"/>
                  <a:pt x="107248" y="135876"/>
                  <a:pt x="114147" y="135876"/>
                </a:cubicBezTo>
                <a:cubicBezTo>
                  <a:pt x="119946" y="135876"/>
                  <a:pt x="123678" y="132977"/>
                  <a:pt x="123678" y="128944"/>
                </a:cubicBezTo>
                <a:cubicBezTo>
                  <a:pt x="123678" y="124145"/>
                  <a:pt x="119879" y="122445"/>
                  <a:pt x="113447" y="119612"/>
                </a:cubicBezTo>
                <a:lnTo>
                  <a:pt x="109947" y="118113"/>
                </a:lnTo>
                <a:cubicBezTo>
                  <a:pt x="99816" y="113813"/>
                  <a:pt x="93117" y="108381"/>
                  <a:pt x="93117" y="96950"/>
                </a:cubicBezTo>
                <a:cubicBezTo>
                  <a:pt x="93117" y="86418"/>
                  <a:pt x="101149" y="78420"/>
                  <a:pt x="113647" y="78420"/>
                </a:cubicBezTo>
                <a:cubicBezTo>
                  <a:pt x="122579" y="78420"/>
                  <a:pt x="128977" y="81519"/>
                  <a:pt x="133577" y="89651"/>
                </a:cubicBezTo>
                <a:lnTo>
                  <a:pt x="122645" y="96650"/>
                </a:lnTo>
                <a:cubicBezTo>
                  <a:pt x="120246" y="92351"/>
                  <a:pt x="117646" y="90651"/>
                  <a:pt x="113613" y="90651"/>
                </a:cubicBezTo>
                <a:cubicBezTo>
                  <a:pt x="109514" y="90651"/>
                  <a:pt x="106915" y="93250"/>
                  <a:pt x="106915" y="96650"/>
                </a:cubicBezTo>
                <a:cubicBezTo>
                  <a:pt x="106915" y="100849"/>
                  <a:pt x="109514" y="102549"/>
                  <a:pt x="115546" y="105182"/>
                </a:cubicBezTo>
                <a:lnTo>
                  <a:pt x="119046" y="106681"/>
                </a:lnTo>
                <a:cubicBezTo>
                  <a:pt x="130977" y="111780"/>
                  <a:pt x="137676" y="117013"/>
                  <a:pt x="137676" y="128744"/>
                </a:cubicBezTo>
                <a:cubicBezTo>
                  <a:pt x="137676" y="141342"/>
                  <a:pt x="127744" y="148274"/>
                  <a:pt x="114447" y="14827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89111550" name="Text 26"/>
          <p:cNvSpPr/>
          <p:nvPr/>
        </p:nvSpPr>
        <p:spPr bwMode="auto">
          <a:xfrm>
            <a:off x="6413100" y="1365094"/>
            <a:ext cx="55286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3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JavaScript валидация</a:t>
            </a:r>
            <a:endParaRPr lang="en-US" sz="1600"/>
          </a:p>
        </p:txBody>
      </p:sp>
      <p:sp>
        <p:nvSpPr>
          <p:cNvPr id="298958318" name="Shape 27"/>
          <p:cNvSpPr/>
          <p:nvPr/>
        </p:nvSpPr>
        <p:spPr bwMode="auto">
          <a:xfrm>
            <a:off x="6199803" y="1706368"/>
            <a:ext cx="5656610" cy="2593679"/>
          </a:xfrm>
          <a:custGeom>
            <a:avLst/>
            <a:gdLst/>
            <a:ahLst/>
            <a:cxnLst/>
            <a:rect l="l" t="t" r="r" b="b"/>
            <a:pathLst>
              <a:path w="5656610" h="2593679" fill="norm" stroke="1" extrusionOk="0">
                <a:moveTo>
                  <a:pt x="68266" y="0"/>
                </a:moveTo>
                <a:lnTo>
                  <a:pt x="5588345" y="0"/>
                </a:lnTo>
                <a:cubicBezTo>
                  <a:pt x="5626047" y="0"/>
                  <a:pt x="5656610" y="30564"/>
                  <a:pt x="5656610" y="68266"/>
                </a:cubicBezTo>
                <a:lnTo>
                  <a:pt x="5656610" y="2525414"/>
                </a:lnTo>
                <a:cubicBezTo>
                  <a:pt x="5656610" y="2563116"/>
                  <a:pt x="5626047" y="2593679"/>
                  <a:pt x="5588345" y="2593679"/>
                </a:cubicBezTo>
                <a:lnTo>
                  <a:pt x="68266" y="2593679"/>
                </a:lnTo>
                <a:cubicBezTo>
                  <a:pt x="30589" y="2593679"/>
                  <a:pt x="0" y="2563091"/>
                  <a:pt x="0" y="2525414"/>
                </a:cubicBezTo>
                <a:lnTo>
                  <a:pt x="0" y="68266"/>
                </a:lnTo>
                <a:cubicBezTo>
                  <a:pt x="0" y="30589"/>
                  <a:pt x="30589" y="0"/>
                  <a:pt x="6826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922489131" name="Text 28"/>
          <p:cNvSpPr/>
          <p:nvPr/>
        </p:nvSpPr>
        <p:spPr bwMode="auto">
          <a:xfrm>
            <a:off x="6199803" y="1706368"/>
            <a:ext cx="5712067" cy="2593679"/>
          </a:xfrm>
          <a:prstGeom prst="rect">
            <a:avLst/>
          </a:prstGeom>
          <a:noFill/>
          <a:ln/>
        </p:spPr>
        <p:txBody>
          <a:bodyPr wrap="square" lIns="136509" tIns="136509" rIns="136509" bIns="136509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const form = document.querySelector('form'); </a:t>
            </a: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const email = document.getElementById('email'); </a:t>
            </a: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// Проверка при вводе </a:t>
            </a: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email.addEventListener('input', () =&gt; { if (email.validity.typeMismatch) { email.setCustomValidity( 'Введите корректный email' ); } else { email.setCustomValidity(''); } }); </a:t>
            </a: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// Проверка при отправке </a:t>
            </a: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form.addEventListener('submit', (e) =&gt; { if (!form.checkValidity()) { e.preventDefault(); form.reportValidity(); } });</a:t>
            </a:r>
            <a:endParaRPr sz="11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020033231" name="Shape 29"/>
          <p:cNvSpPr/>
          <p:nvPr/>
        </p:nvSpPr>
        <p:spPr bwMode="auto">
          <a:xfrm>
            <a:off x="6204070" y="4406696"/>
            <a:ext cx="5648078" cy="588697"/>
          </a:xfrm>
          <a:custGeom>
            <a:avLst/>
            <a:gdLst/>
            <a:ahLst/>
            <a:cxnLst/>
            <a:rect l="l" t="t" r="r" b="b"/>
            <a:pathLst>
              <a:path w="5648078" h="588697" fill="norm" stroke="1" extrusionOk="0">
                <a:moveTo>
                  <a:pt x="68254" y="0"/>
                </a:moveTo>
                <a:lnTo>
                  <a:pt x="5579825" y="0"/>
                </a:lnTo>
                <a:cubicBezTo>
                  <a:pt x="5617520" y="0"/>
                  <a:pt x="5648078" y="30558"/>
                  <a:pt x="5648078" y="68254"/>
                </a:cubicBezTo>
                <a:lnTo>
                  <a:pt x="5648078" y="520443"/>
                </a:lnTo>
                <a:cubicBezTo>
                  <a:pt x="5648078" y="558139"/>
                  <a:pt x="5617520" y="588697"/>
                  <a:pt x="5579825" y="588697"/>
                </a:cubicBezTo>
                <a:lnTo>
                  <a:pt x="68254" y="588697"/>
                </a:lnTo>
                <a:cubicBezTo>
                  <a:pt x="30583" y="588697"/>
                  <a:pt x="0" y="558114"/>
                  <a:pt x="0" y="520443"/>
                </a:cubicBezTo>
                <a:lnTo>
                  <a:pt x="0" y="68254"/>
                </a:lnTo>
                <a:cubicBezTo>
                  <a:pt x="0" y="30583"/>
                  <a:pt x="30583" y="0"/>
                  <a:pt x="682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9818660" name="Text 30"/>
          <p:cNvSpPr/>
          <p:nvPr/>
        </p:nvSpPr>
        <p:spPr bwMode="auto">
          <a:xfrm>
            <a:off x="6310718" y="4513344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checkValidity()</a:t>
            </a:r>
            <a:endParaRPr sz="1400"/>
          </a:p>
        </p:txBody>
      </p:sp>
      <p:sp>
        <p:nvSpPr>
          <p:cNvPr id="2131594381" name="Text 31"/>
          <p:cNvSpPr/>
          <p:nvPr/>
        </p:nvSpPr>
        <p:spPr bwMode="auto">
          <a:xfrm>
            <a:off x="6310718" y="4718108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Проверяет валидность формы</a:t>
            </a:r>
            <a:endParaRPr sz="1400"/>
          </a:p>
        </p:txBody>
      </p:sp>
      <p:sp>
        <p:nvSpPr>
          <p:cNvPr id="541154437" name="Shape 32"/>
          <p:cNvSpPr/>
          <p:nvPr/>
        </p:nvSpPr>
        <p:spPr bwMode="auto">
          <a:xfrm>
            <a:off x="6204070" y="5072179"/>
            <a:ext cx="5648078" cy="588697"/>
          </a:xfrm>
          <a:custGeom>
            <a:avLst/>
            <a:gdLst/>
            <a:ahLst/>
            <a:cxnLst/>
            <a:rect l="l" t="t" r="r" b="b"/>
            <a:pathLst>
              <a:path w="5648078" h="588697" fill="norm" stroke="1" extrusionOk="0">
                <a:moveTo>
                  <a:pt x="68254" y="0"/>
                </a:moveTo>
                <a:lnTo>
                  <a:pt x="5579825" y="0"/>
                </a:lnTo>
                <a:cubicBezTo>
                  <a:pt x="5617520" y="0"/>
                  <a:pt x="5648078" y="30558"/>
                  <a:pt x="5648078" y="68254"/>
                </a:cubicBezTo>
                <a:lnTo>
                  <a:pt x="5648078" y="520443"/>
                </a:lnTo>
                <a:cubicBezTo>
                  <a:pt x="5648078" y="558139"/>
                  <a:pt x="5617520" y="588697"/>
                  <a:pt x="5579825" y="588697"/>
                </a:cubicBezTo>
                <a:lnTo>
                  <a:pt x="68254" y="588697"/>
                </a:lnTo>
                <a:cubicBezTo>
                  <a:pt x="30583" y="588697"/>
                  <a:pt x="0" y="558114"/>
                  <a:pt x="0" y="520443"/>
                </a:cubicBezTo>
                <a:lnTo>
                  <a:pt x="0" y="68254"/>
                </a:lnTo>
                <a:cubicBezTo>
                  <a:pt x="0" y="30583"/>
                  <a:pt x="30583" y="0"/>
                  <a:pt x="682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45185360" name="Text 33"/>
          <p:cNvSpPr/>
          <p:nvPr/>
        </p:nvSpPr>
        <p:spPr bwMode="auto">
          <a:xfrm>
            <a:off x="6310718" y="5178827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reportValidity()</a:t>
            </a:r>
            <a:endParaRPr sz="1400"/>
          </a:p>
        </p:txBody>
      </p:sp>
      <p:sp>
        <p:nvSpPr>
          <p:cNvPr id="1037367220" name="Text 34"/>
          <p:cNvSpPr/>
          <p:nvPr/>
        </p:nvSpPr>
        <p:spPr bwMode="auto">
          <a:xfrm>
            <a:off x="6310718" y="5383591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Показывает ошибки пользователю</a:t>
            </a:r>
            <a:endParaRPr sz="1400"/>
          </a:p>
        </p:txBody>
      </p:sp>
      <p:sp>
        <p:nvSpPr>
          <p:cNvPr id="438410083" name="Shape 35"/>
          <p:cNvSpPr/>
          <p:nvPr/>
        </p:nvSpPr>
        <p:spPr bwMode="auto">
          <a:xfrm>
            <a:off x="6204070" y="5737663"/>
            <a:ext cx="5648078" cy="588697"/>
          </a:xfrm>
          <a:custGeom>
            <a:avLst/>
            <a:gdLst/>
            <a:ahLst/>
            <a:cxnLst/>
            <a:rect l="l" t="t" r="r" b="b"/>
            <a:pathLst>
              <a:path w="5648078" h="588697" fill="norm" stroke="1" extrusionOk="0">
                <a:moveTo>
                  <a:pt x="68254" y="0"/>
                </a:moveTo>
                <a:lnTo>
                  <a:pt x="5579825" y="0"/>
                </a:lnTo>
                <a:cubicBezTo>
                  <a:pt x="5617520" y="0"/>
                  <a:pt x="5648078" y="30558"/>
                  <a:pt x="5648078" y="68254"/>
                </a:cubicBezTo>
                <a:lnTo>
                  <a:pt x="5648078" y="520443"/>
                </a:lnTo>
                <a:cubicBezTo>
                  <a:pt x="5648078" y="558139"/>
                  <a:pt x="5617520" y="588697"/>
                  <a:pt x="5579825" y="588697"/>
                </a:cubicBezTo>
                <a:lnTo>
                  <a:pt x="68254" y="588697"/>
                </a:lnTo>
                <a:cubicBezTo>
                  <a:pt x="30583" y="588697"/>
                  <a:pt x="0" y="558114"/>
                  <a:pt x="0" y="520443"/>
                </a:cubicBezTo>
                <a:lnTo>
                  <a:pt x="0" y="68254"/>
                </a:lnTo>
                <a:cubicBezTo>
                  <a:pt x="0" y="30583"/>
                  <a:pt x="30583" y="0"/>
                  <a:pt x="682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3392346" name="Text 36"/>
          <p:cNvSpPr/>
          <p:nvPr/>
        </p:nvSpPr>
        <p:spPr bwMode="auto">
          <a:xfrm>
            <a:off x="6310718" y="5844311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setCustomValidity()</a:t>
            </a:r>
            <a:endParaRPr sz="1400"/>
          </a:p>
        </p:txBody>
      </p:sp>
      <p:sp>
        <p:nvSpPr>
          <p:cNvPr id="2061891233" name="Text 37"/>
          <p:cNvSpPr/>
          <p:nvPr/>
        </p:nvSpPr>
        <p:spPr bwMode="auto">
          <a:xfrm>
            <a:off x="6310718" y="6049075"/>
            <a:ext cx="54945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Устанавливает кастомное сообщение</a:t>
            </a:r>
            <a:endParaRPr sz="1400"/>
          </a:p>
        </p:txBody>
      </p:sp>
      <p:sp>
        <p:nvSpPr>
          <p:cNvPr id="1797623861" name="Shape 38"/>
          <p:cNvSpPr/>
          <p:nvPr/>
        </p:nvSpPr>
        <p:spPr bwMode="auto">
          <a:xfrm>
            <a:off x="345540" y="6437274"/>
            <a:ext cx="11500921" cy="418060"/>
          </a:xfrm>
          <a:custGeom>
            <a:avLst/>
            <a:gdLst/>
            <a:ahLst/>
            <a:cxnLst/>
            <a:rect l="l" t="t" r="r" b="b"/>
            <a:pathLst>
              <a:path w="11500921" h="418060" fill="norm" stroke="1" extrusionOk="0">
                <a:moveTo>
                  <a:pt x="102383" y="0"/>
                </a:moveTo>
                <a:lnTo>
                  <a:pt x="11398538" y="0"/>
                </a:lnTo>
                <a:cubicBezTo>
                  <a:pt x="11455083" y="0"/>
                  <a:pt x="11500921" y="45838"/>
                  <a:pt x="11500921" y="102383"/>
                </a:cubicBezTo>
                <a:lnTo>
                  <a:pt x="11500921" y="315677"/>
                </a:lnTo>
                <a:cubicBezTo>
                  <a:pt x="11500921" y="372222"/>
                  <a:pt x="11455083" y="418060"/>
                  <a:pt x="11398538" y="418060"/>
                </a:cubicBezTo>
                <a:lnTo>
                  <a:pt x="102383" y="418060"/>
                </a:lnTo>
                <a:cubicBezTo>
                  <a:pt x="45838" y="418060"/>
                  <a:pt x="0" y="372222"/>
                  <a:pt x="0" y="315677"/>
                </a:cubicBezTo>
                <a:lnTo>
                  <a:pt x="0" y="102383"/>
                </a:lnTo>
                <a:cubicBezTo>
                  <a:pt x="0" y="45876"/>
                  <a:pt x="45876" y="0"/>
                  <a:pt x="102383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266333321" name="Shape 39"/>
          <p:cNvSpPr/>
          <p:nvPr/>
        </p:nvSpPr>
        <p:spPr bwMode="auto">
          <a:xfrm>
            <a:off x="473517" y="6560985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 fill="norm" stroke="1" extrusionOk="0">
                <a:moveTo>
                  <a:pt x="85318" y="170637"/>
                </a:moveTo>
                <a:cubicBezTo>
                  <a:pt x="132407" y="170637"/>
                  <a:pt x="170637" y="132407"/>
                  <a:pt x="170637" y="85318"/>
                </a:cubicBezTo>
                <a:cubicBezTo>
                  <a:pt x="170637" y="38230"/>
                  <a:pt x="132407" y="0"/>
                  <a:pt x="85318" y="0"/>
                </a:cubicBezTo>
                <a:cubicBezTo>
                  <a:pt x="38230" y="0"/>
                  <a:pt x="0" y="38230"/>
                  <a:pt x="0" y="85318"/>
                </a:cubicBezTo>
                <a:cubicBezTo>
                  <a:pt x="0" y="132407"/>
                  <a:pt x="38230" y="170637"/>
                  <a:pt x="85318" y="170637"/>
                </a:cubicBezTo>
                <a:close/>
                <a:moveTo>
                  <a:pt x="74654" y="53324"/>
                </a:moveTo>
                <a:cubicBezTo>
                  <a:pt x="74654" y="47438"/>
                  <a:pt x="79432" y="42659"/>
                  <a:pt x="85318" y="42659"/>
                </a:cubicBezTo>
                <a:cubicBezTo>
                  <a:pt x="91204" y="42659"/>
                  <a:pt x="95983" y="47438"/>
                  <a:pt x="95983" y="53324"/>
                </a:cubicBezTo>
                <a:cubicBezTo>
                  <a:pt x="95983" y="59210"/>
                  <a:pt x="91204" y="63989"/>
                  <a:pt x="85318" y="63989"/>
                </a:cubicBezTo>
                <a:cubicBezTo>
                  <a:pt x="79432" y="63989"/>
                  <a:pt x="74654" y="59210"/>
                  <a:pt x="74654" y="53324"/>
                </a:cubicBezTo>
                <a:close/>
                <a:moveTo>
                  <a:pt x="71987" y="74654"/>
                </a:moveTo>
                <a:lnTo>
                  <a:pt x="87985" y="74654"/>
                </a:lnTo>
                <a:cubicBezTo>
                  <a:pt x="92417" y="74654"/>
                  <a:pt x="95983" y="78220"/>
                  <a:pt x="95983" y="82652"/>
                </a:cubicBezTo>
                <a:lnTo>
                  <a:pt x="95983" y="111980"/>
                </a:lnTo>
                <a:lnTo>
                  <a:pt x="98649" y="111980"/>
                </a:lnTo>
                <a:cubicBezTo>
                  <a:pt x="103082" y="111980"/>
                  <a:pt x="106648" y="115546"/>
                  <a:pt x="106648" y="119979"/>
                </a:cubicBezTo>
                <a:cubicBezTo>
                  <a:pt x="106648" y="124412"/>
                  <a:pt x="103082" y="127978"/>
                  <a:pt x="98649" y="127978"/>
                </a:cubicBezTo>
                <a:lnTo>
                  <a:pt x="71987" y="127978"/>
                </a:lnTo>
                <a:cubicBezTo>
                  <a:pt x="67555" y="127978"/>
                  <a:pt x="63989" y="124412"/>
                  <a:pt x="63989" y="119979"/>
                </a:cubicBezTo>
                <a:cubicBezTo>
                  <a:pt x="63989" y="115546"/>
                  <a:pt x="67555" y="111980"/>
                  <a:pt x="71987" y="111980"/>
                </a:cubicBezTo>
                <a:lnTo>
                  <a:pt x="79986" y="111980"/>
                </a:lnTo>
                <a:lnTo>
                  <a:pt x="79986" y="90651"/>
                </a:lnTo>
                <a:lnTo>
                  <a:pt x="71987" y="90651"/>
                </a:lnTo>
                <a:cubicBezTo>
                  <a:pt x="67555" y="90651"/>
                  <a:pt x="63989" y="87085"/>
                  <a:pt x="63989" y="82652"/>
                </a:cubicBezTo>
                <a:cubicBezTo>
                  <a:pt x="63989" y="78220"/>
                  <a:pt x="67555" y="74654"/>
                  <a:pt x="71987" y="7465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50797850" name="Text 40"/>
          <p:cNvSpPr/>
          <p:nvPr/>
        </p:nvSpPr>
        <p:spPr bwMode="auto">
          <a:xfrm flipH="0" flipV="0">
            <a:off x="801992" y="6495142"/>
            <a:ext cx="10873864" cy="36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Совет:</a:t>
            </a:r>
            <a:r>
              <a:rPr lang="en-US" sz="16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Используйте CSS псевдоклассы :valid и :invalid для визуальной индикации состояния полей</a:t>
            </a:r>
            <a:endParaRPr sz="1600"/>
          </a:p>
        </p:txBody>
      </p:sp>
      <p:pic>
        <p:nvPicPr>
          <p:cNvPr id="16219877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7228" y="4707742"/>
            <a:ext cx="4905374" cy="1285875"/>
          </a:xfrm>
          <a:prstGeom prst="rect">
            <a:avLst/>
          </a:prstGeom>
        </p:spPr>
      </p:pic>
      <p:pic>
        <p:nvPicPr>
          <p:cNvPr id="17123592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58835" y="2306730"/>
            <a:ext cx="4905374" cy="117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687257" name="Text 0"/>
          <p:cNvSpPr/>
          <p:nvPr/>
        </p:nvSpPr>
        <p:spPr bwMode="auto"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Задание 2</a:t>
            </a:r>
            <a:endParaRPr sz="2000"/>
          </a:p>
        </p:txBody>
      </p:sp>
      <p:sp>
        <p:nvSpPr>
          <p:cNvPr id="444093962" name="Text 1"/>
          <p:cNvSpPr/>
          <p:nvPr/>
        </p:nvSpPr>
        <p:spPr bwMode="auto"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27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Добавление валидации формы</a:t>
            </a:r>
            <a:endParaRPr lang="en-US" sz="1600"/>
          </a:p>
        </p:txBody>
      </p:sp>
      <p:sp>
        <p:nvSpPr>
          <p:cNvPr id="940090059" name="Text 2"/>
          <p:cNvSpPr/>
          <p:nvPr/>
        </p:nvSpPr>
        <p:spPr bwMode="auto"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HTML5 атрибуты + JavaScript Constraint Validation API</a:t>
            </a:r>
            <a:endParaRPr lang="en-US" sz="1600"/>
          </a:p>
        </p:txBody>
      </p:sp>
      <p:sp>
        <p:nvSpPr>
          <p:cNvPr id="1042306722" name="Shape 3"/>
          <p:cNvSpPr/>
          <p:nvPr/>
        </p:nvSpPr>
        <p:spPr bwMode="auto">
          <a:xfrm>
            <a:off x="404813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2707358" name="Text 4"/>
          <p:cNvSpPr/>
          <p:nvPr/>
        </p:nvSpPr>
        <p:spPr bwMode="auto">
          <a:xfrm>
            <a:off x="619125" y="15240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Требования</a:t>
            </a:r>
            <a:endParaRPr lang="en-US" sz="1600"/>
          </a:p>
        </p:txBody>
      </p:sp>
      <p:sp>
        <p:nvSpPr>
          <p:cNvPr id="1863249188" name="Shape 5"/>
          <p:cNvSpPr/>
          <p:nvPr/>
        </p:nvSpPr>
        <p:spPr bwMode="auto">
          <a:xfrm>
            <a:off x="385762" y="1909762"/>
            <a:ext cx="5591175" cy="1190625"/>
          </a:xfrm>
          <a:custGeom>
            <a:avLst/>
            <a:gdLst/>
            <a:ahLst/>
            <a:cxnLst/>
            <a:rect l="l" t="t" r="r" b="b"/>
            <a:pathLst>
              <a:path w="5591175" h="1190625" fill="norm" stroke="1" extrusionOk="0">
                <a:moveTo>
                  <a:pt x="76200" y="0"/>
                </a:moveTo>
                <a:lnTo>
                  <a:pt x="5514975" y="0"/>
                </a:lnTo>
                <a:cubicBezTo>
                  <a:pt x="5557031" y="0"/>
                  <a:pt x="5591175" y="34144"/>
                  <a:pt x="5591175" y="76200"/>
                </a:cubicBezTo>
                <a:lnTo>
                  <a:pt x="5591175" y="1114425"/>
                </a:lnTo>
                <a:cubicBezTo>
                  <a:pt x="5591175" y="1156481"/>
                  <a:pt x="5557031" y="1190625"/>
                  <a:pt x="5514975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7334026" name="Shape 6"/>
          <p:cNvSpPr/>
          <p:nvPr/>
        </p:nvSpPr>
        <p:spPr bwMode="auto">
          <a:xfrm>
            <a:off x="504825" y="2028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03028706" name="Text 7"/>
          <p:cNvSpPr/>
          <p:nvPr/>
        </p:nvSpPr>
        <p:spPr bwMode="auto">
          <a:xfrm>
            <a:off x="471488" y="2028825"/>
            <a:ext cx="295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1</a:t>
            </a:r>
            <a:endParaRPr lang="en-US" sz="1600"/>
          </a:p>
        </p:txBody>
      </p:sp>
      <p:sp>
        <p:nvSpPr>
          <p:cNvPr id="1517352762" name="Text 8"/>
          <p:cNvSpPr/>
          <p:nvPr/>
        </p:nvSpPr>
        <p:spPr bwMode="auto">
          <a:xfrm flipH="0" flipV="0">
            <a:off x="847724" y="2028825"/>
            <a:ext cx="250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HTML5 валидация</a:t>
            </a:r>
            <a:endParaRPr sz="1400"/>
          </a:p>
        </p:txBody>
      </p:sp>
      <p:sp>
        <p:nvSpPr>
          <p:cNvPr id="1589672912" name="Text 9"/>
          <p:cNvSpPr/>
          <p:nvPr/>
        </p:nvSpPr>
        <p:spPr bwMode="auto">
          <a:xfrm>
            <a:off x="847725" y="233362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required для всех полей</a:t>
            </a:r>
            <a:endParaRPr sz="1400"/>
          </a:p>
        </p:txBody>
      </p:sp>
      <p:sp>
        <p:nvSpPr>
          <p:cNvPr id="1218511156" name="Text 10"/>
          <p:cNvSpPr/>
          <p:nvPr/>
        </p:nvSpPr>
        <p:spPr bwMode="auto">
          <a:xfrm>
            <a:off x="847725" y="256222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type="email" для email</a:t>
            </a:r>
            <a:endParaRPr sz="1400"/>
          </a:p>
        </p:txBody>
      </p:sp>
      <p:sp>
        <p:nvSpPr>
          <p:cNvPr id="1325293937" name="Text 11"/>
          <p:cNvSpPr/>
          <p:nvPr/>
        </p:nvSpPr>
        <p:spPr bwMode="auto">
          <a:xfrm>
            <a:off x="847725" y="2790824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minlength="10" для сообщения</a:t>
            </a:r>
            <a:endParaRPr sz="1400"/>
          </a:p>
        </p:txBody>
      </p:sp>
      <p:sp>
        <p:nvSpPr>
          <p:cNvPr id="661476744" name="Shape 12"/>
          <p:cNvSpPr/>
          <p:nvPr/>
        </p:nvSpPr>
        <p:spPr bwMode="auto">
          <a:xfrm>
            <a:off x="385762" y="3186113"/>
            <a:ext cx="5591175" cy="1190625"/>
          </a:xfrm>
          <a:custGeom>
            <a:avLst/>
            <a:gdLst/>
            <a:ahLst/>
            <a:cxnLst/>
            <a:rect l="l" t="t" r="r" b="b"/>
            <a:pathLst>
              <a:path w="5591175" h="1190625" fill="norm" stroke="1" extrusionOk="0">
                <a:moveTo>
                  <a:pt x="76200" y="0"/>
                </a:moveTo>
                <a:lnTo>
                  <a:pt x="5514975" y="0"/>
                </a:lnTo>
                <a:cubicBezTo>
                  <a:pt x="5557031" y="0"/>
                  <a:pt x="5591175" y="34144"/>
                  <a:pt x="5591175" y="76200"/>
                </a:cubicBezTo>
                <a:lnTo>
                  <a:pt x="5591175" y="1114425"/>
                </a:lnTo>
                <a:cubicBezTo>
                  <a:pt x="5591175" y="1156481"/>
                  <a:pt x="5557031" y="1190625"/>
                  <a:pt x="5514975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13419417" name="Shape 13"/>
          <p:cNvSpPr/>
          <p:nvPr/>
        </p:nvSpPr>
        <p:spPr bwMode="auto">
          <a:xfrm>
            <a:off x="504825" y="3305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02301807" name="Text 14"/>
          <p:cNvSpPr/>
          <p:nvPr/>
        </p:nvSpPr>
        <p:spPr bwMode="auto">
          <a:xfrm>
            <a:off x="471488" y="3305175"/>
            <a:ext cx="295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2</a:t>
            </a:r>
            <a:endParaRPr lang="en-US" sz="1600"/>
          </a:p>
        </p:txBody>
      </p:sp>
      <p:sp>
        <p:nvSpPr>
          <p:cNvPr id="541561604" name="Text 15"/>
          <p:cNvSpPr/>
          <p:nvPr/>
        </p:nvSpPr>
        <p:spPr bwMode="auto">
          <a:xfrm flipH="0" flipV="0">
            <a:off x="847724" y="3247571"/>
            <a:ext cx="2845274" cy="286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JavaScript валидация</a:t>
            </a:r>
            <a:endParaRPr sz="1400"/>
          </a:p>
        </p:txBody>
      </p:sp>
      <p:sp>
        <p:nvSpPr>
          <p:cNvPr id="876695400" name="Text 16"/>
          <p:cNvSpPr/>
          <p:nvPr/>
        </p:nvSpPr>
        <p:spPr bwMode="auto">
          <a:xfrm>
            <a:off x="847725" y="360997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Обработчик submit события</a:t>
            </a:r>
            <a:endParaRPr sz="1400"/>
          </a:p>
        </p:txBody>
      </p:sp>
      <p:sp>
        <p:nvSpPr>
          <p:cNvPr id="2068077702" name="Text 17"/>
          <p:cNvSpPr/>
          <p:nvPr/>
        </p:nvSpPr>
        <p:spPr bwMode="auto">
          <a:xfrm>
            <a:off x="847725" y="383857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checkValidity() перед отправкой</a:t>
            </a:r>
            <a:endParaRPr sz="1400"/>
          </a:p>
        </p:txBody>
      </p:sp>
      <p:sp>
        <p:nvSpPr>
          <p:cNvPr id="472688331" name="Text 18"/>
          <p:cNvSpPr/>
          <p:nvPr/>
        </p:nvSpPr>
        <p:spPr bwMode="auto">
          <a:xfrm>
            <a:off x="847725" y="406717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preventDefault() при ошибках</a:t>
            </a:r>
            <a:endParaRPr sz="1400"/>
          </a:p>
        </p:txBody>
      </p:sp>
      <p:sp>
        <p:nvSpPr>
          <p:cNvPr id="1111770503" name="Shape 19"/>
          <p:cNvSpPr/>
          <p:nvPr/>
        </p:nvSpPr>
        <p:spPr bwMode="auto">
          <a:xfrm>
            <a:off x="385762" y="4462463"/>
            <a:ext cx="5591175" cy="1190625"/>
          </a:xfrm>
          <a:custGeom>
            <a:avLst/>
            <a:gdLst/>
            <a:ahLst/>
            <a:cxnLst/>
            <a:rect l="l" t="t" r="r" b="b"/>
            <a:pathLst>
              <a:path w="5591175" h="1190625" fill="norm" stroke="1" extrusionOk="0">
                <a:moveTo>
                  <a:pt x="76200" y="0"/>
                </a:moveTo>
                <a:lnTo>
                  <a:pt x="5514975" y="0"/>
                </a:lnTo>
                <a:cubicBezTo>
                  <a:pt x="5557031" y="0"/>
                  <a:pt x="5591175" y="34144"/>
                  <a:pt x="5591175" y="76200"/>
                </a:cubicBezTo>
                <a:lnTo>
                  <a:pt x="5591175" y="1114425"/>
                </a:lnTo>
                <a:cubicBezTo>
                  <a:pt x="5591175" y="1156481"/>
                  <a:pt x="5557031" y="1190625"/>
                  <a:pt x="5514975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30736971" name="Shape 20"/>
          <p:cNvSpPr/>
          <p:nvPr/>
        </p:nvSpPr>
        <p:spPr bwMode="auto">
          <a:xfrm>
            <a:off x="504825" y="4581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14033944" name="Text 21"/>
          <p:cNvSpPr/>
          <p:nvPr/>
        </p:nvSpPr>
        <p:spPr bwMode="auto">
          <a:xfrm>
            <a:off x="471488" y="4581525"/>
            <a:ext cx="295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3</a:t>
            </a:r>
            <a:endParaRPr lang="en-US" sz="1600"/>
          </a:p>
        </p:txBody>
      </p:sp>
      <p:sp>
        <p:nvSpPr>
          <p:cNvPr id="216275561" name="Text 22"/>
          <p:cNvSpPr/>
          <p:nvPr/>
        </p:nvSpPr>
        <p:spPr bwMode="auto">
          <a:xfrm flipH="0" flipV="0">
            <a:off x="847724" y="4543425"/>
            <a:ext cx="2391703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Визуальная индикация</a:t>
            </a:r>
            <a:endParaRPr sz="1400"/>
          </a:p>
        </p:txBody>
      </p:sp>
      <p:sp>
        <p:nvSpPr>
          <p:cNvPr id="427316132" name="Text 23"/>
          <p:cNvSpPr/>
          <p:nvPr/>
        </p:nvSpPr>
        <p:spPr bwMode="auto">
          <a:xfrm>
            <a:off x="847725" y="488632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Красная рамка для :invalid</a:t>
            </a:r>
            <a:endParaRPr sz="1400"/>
          </a:p>
        </p:txBody>
      </p:sp>
      <p:sp>
        <p:nvSpPr>
          <p:cNvPr id="720087134" name="Text 24"/>
          <p:cNvSpPr/>
          <p:nvPr/>
        </p:nvSpPr>
        <p:spPr bwMode="auto">
          <a:xfrm>
            <a:off x="847725" y="511492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Зеленая рамка для :valid</a:t>
            </a:r>
            <a:endParaRPr sz="1400"/>
          </a:p>
        </p:txBody>
      </p:sp>
      <p:sp>
        <p:nvSpPr>
          <p:cNvPr id="1460953932" name="Text 25"/>
          <p:cNvSpPr/>
          <p:nvPr/>
        </p:nvSpPr>
        <p:spPr bwMode="auto">
          <a:xfrm>
            <a:off x="847725" y="534352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Понятные сообщения об ошибках</a:t>
            </a:r>
            <a:endParaRPr sz="1400"/>
          </a:p>
        </p:txBody>
      </p:sp>
      <p:sp>
        <p:nvSpPr>
          <p:cNvPr id="506415198" name="Shape 26"/>
          <p:cNvSpPr/>
          <p:nvPr/>
        </p:nvSpPr>
        <p:spPr bwMode="auto">
          <a:xfrm>
            <a:off x="6222206" y="156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44559937" name="Text 27"/>
          <p:cNvSpPr/>
          <p:nvPr/>
        </p:nvSpPr>
        <p:spPr bwMode="auto">
          <a:xfrm>
            <a:off x="6448425" y="15240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Пример кода</a:t>
            </a:r>
            <a:endParaRPr lang="en-US" sz="1600"/>
          </a:p>
        </p:txBody>
      </p:sp>
      <p:sp>
        <p:nvSpPr>
          <p:cNvPr id="235906907" name="Shape 28"/>
          <p:cNvSpPr/>
          <p:nvPr/>
        </p:nvSpPr>
        <p:spPr bwMode="auto">
          <a:xfrm>
            <a:off x="6210300" y="1905000"/>
            <a:ext cx="5600700" cy="2286000"/>
          </a:xfrm>
          <a:custGeom>
            <a:avLst/>
            <a:gdLst/>
            <a:ahLst/>
            <a:cxnLst/>
            <a:rect l="l" t="t" r="r" b="b"/>
            <a:pathLst>
              <a:path w="5600700" h="2286000" fill="norm" stroke="1" extrusionOk="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209808"/>
                </a:lnTo>
                <a:cubicBezTo>
                  <a:pt x="5600700" y="2251888"/>
                  <a:pt x="5566588" y="2286000"/>
                  <a:pt x="5524508" y="2286000"/>
                </a:cubicBezTo>
                <a:lnTo>
                  <a:pt x="76192" y="2286000"/>
                </a:lnTo>
                <a:cubicBezTo>
                  <a:pt x="34112" y="2286000"/>
                  <a:pt x="0" y="2251888"/>
                  <a:pt x="0" y="2209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940561751" name="Text 29"/>
          <p:cNvSpPr/>
          <p:nvPr/>
        </p:nvSpPr>
        <p:spPr bwMode="auto">
          <a:xfrm>
            <a:off x="6210300" y="1905000"/>
            <a:ext cx="5662613" cy="22860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// CSS для визуальной индикации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input:invalid { border-color: #FF3B30;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input:valid { border-color: #34C759;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// JavaScript валидация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const form = document.querySelector('form'); form.addEventListener('submit', (e) =&gt; { // Проверяем валидность if (!form.checkValidity()) { e.preventDefault(); form.reportValidity(); return; }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// Если все ок - отправляем </a:t>
            </a:r>
            <a:endParaRPr sz="1200">
              <a:solidFill>
                <a:srgbClr val="1D1D1D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console.log('Форма валидна!'); });</a:t>
            </a:r>
            <a:endParaRPr lang="en-US" sz="1600"/>
          </a:p>
        </p:txBody>
      </p:sp>
      <p:sp>
        <p:nvSpPr>
          <p:cNvPr id="856581546" name="Shape 30"/>
          <p:cNvSpPr/>
          <p:nvPr/>
        </p:nvSpPr>
        <p:spPr bwMode="auto">
          <a:xfrm>
            <a:off x="6215063" y="4310063"/>
            <a:ext cx="5591175" cy="1571625"/>
          </a:xfrm>
          <a:custGeom>
            <a:avLst/>
            <a:gdLst/>
            <a:ahLst/>
            <a:cxnLst/>
            <a:rect l="l" t="t" r="r" b="b"/>
            <a:pathLst>
              <a:path w="5591175" h="1571625" fill="norm" stroke="1" extrusionOk="0">
                <a:moveTo>
                  <a:pt x="76192" y="0"/>
                </a:moveTo>
                <a:lnTo>
                  <a:pt x="5514983" y="0"/>
                </a:lnTo>
                <a:cubicBezTo>
                  <a:pt x="5557063" y="0"/>
                  <a:pt x="5591175" y="34112"/>
                  <a:pt x="5591175" y="76192"/>
                </a:cubicBezTo>
                <a:lnTo>
                  <a:pt x="5591175" y="1495433"/>
                </a:lnTo>
                <a:cubicBezTo>
                  <a:pt x="5591175" y="1537513"/>
                  <a:pt x="5557063" y="1571625"/>
                  <a:pt x="551498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54069790" name="Text 31"/>
          <p:cNvSpPr/>
          <p:nvPr/>
        </p:nvSpPr>
        <p:spPr bwMode="auto">
          <a:xfrm>
            <a:off x="6334125" y="442912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Что проверяется</a:t>
            </a:r>
            <a:endParaRPr sz="1400"/>
          </a:p>
        </p:txBody>
      </p:sp>
      <p:sp>
        <p:nvSpPr>
          <p:cNvPr id="569805413" name="Shape 32"/>
          <p:cNvSpPr/>
          <p:nvPr/>
        </p:nvSpPr>
        <p:spPr bwMode="auto">
          <a:xfrm>
            <a:off x="6361509" y="4800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54885976" name="Text 33"/>
          <p:cNvSpPr/>
          <p:nvPr/>
        </p:nvSpPr>
        <p:spPr bwMode="auto">
          <a:xfrm flipH="0" flipV="0">
            <a:off x="6577012" y="4695824"/>
            <a:ext cx="3014661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Работает HTML5 валидация</a:t>
            </a:r>
            <a:endParaRPr sz="1400"/>
          </a:p>
        </p:txBody>
      </p:sp>
      <p:sp>
        <p:nvSpPr>
          <p:cNvPr id="2066387677" name="Shape 34"/>
          <p:cNvSpPr/>
          <p:nvPr/>
        </p:nvSpPr>
        <p:spPr bwMode="auto">
          <a:xfrm>
            <a:off x="6361509" y="5067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7069857" name="Text 35"/>
          <p:cNvSpPr/>
          <p:nvPr/>
        </p:nvSpPr>
        <p:spPr bwMode="auto">
          <a:xfrm flipH="0" flipV="0">
            <a:off x="6577012" y="4981574"/>
            <a:ext cx="4146343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JavaScript блокирует невалидную отправку</a:t>
            </a:r>
            <a:endParaRPr sz="1400"/>
          </a:p>
        </p:txBody>
      </p:sp>
      <p:sp>
        <p:nvSpPr>
          <p:cNvPr id="154342296" name="Shape 36"/>
          <p:cNvSpPr/>
          <p:nvPr/>
        </p:nvSpPr>
        <p:spPr bwMode="auto">
          <a:xfrm>
            <a:off x="6361509" y="5334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99524870" name="Text 37"/>
          <p:cNvSpPr/>
          <p:nvPr/>
        </p:nvSpPr>
        <p:spPr bwMode="auto">
          <a:xfrm flipH="0" flipV="0">
            <a:off x="6577012" y="5305424"/>
            <a:ext cx="3729058" cy="29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Визуальная индикация состояний</a:t>
            </a:r>
            <a:endParaRPr sz="1400"/>
          </a:p>
        </p:txBody>
      </p:sp>
      <p:sp>
        <p:nvSpPr>
          <p:cNvPr id="394810282" name="Shape 38"/>
          <p:cNvSpPr/>
          <p:nvPr/>
        </p:nvSpPr>
        <p:spPr bwMode="auto">
          <a:xfrm>
            <a:off x="6361509" y="5600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14383143" name="Text 39"/>
          <p:cNvSpPr/>
          <p:nvPr/>
        </p:nvSpPr>
        <p:spPr bwMode="auto">
          <a:xfrm flipH="0" flipV="0">
            <a:off x="6577012" y="5572125"/>
            <a:ext cx="3937701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Понятные сообщения об ошибках</a:t>
            </a:r>
            <a:endParaRPr sz="1400"/>
          </a:p>
        </p:txBody>
      </p:sp>
      <p:sp>
        <p:nvSpPr>
          <p:cNvPr id="788844401" name="Shape 40"/>
          <p:cNvSpPr/>
          <p:nvPr/>
        </p:nvSpPr>
        <p:spPr bwMode="auto">
          <a:xfrm>
            <a:off x="385762" y="60055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 fill="norm" stroke="1" extrusionOk="0">
                <a:moveTo>
                  <a:pt x="114301" y="0"/>
                </a:moveTo>
                <a:lnTo>
                  <a:pt x="11306174" y="0"/>
                </a:lnTo>
                <a:cubicBezTo>
                  <a:pt x="11369301" y="0"/>
                  <a:pt x="11420475" y="51174"/>
                  <a:pt x="11420475" y="114301"/>
                </a:cubicBezTo>
                <a:lnTo>
                  <a:pt x="11420475" y="352424"/>
                </a:lnTo>
                <a:cubicBezTo>
                  <a:pt x="11420475" y="415551"/>
                  <a:pt x="11369301" y="466725"/>
                  <a:pt x="11306174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249442662" name="Shape 41"/>
          <p:cNvSpPr/>
          <p:nvPr/>
        </p:nvSpPr>
        <p:spPr bwMode="auto">
          <a:xfrm>
            <a:off x="528638" y="6143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35530271" name="Text 42"/>
          <p:cNvSpPr/>
          <p:nvPr/>
        </p:nvSpPr>
        <p:spPr bwMode="auto">
          <a:xfrm flipH="0" flipV="0">
            <a:off x="895349" y="6124574"/>
            <a:ext cx="1086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Время выполнения:</a:t>
            </a:r>
            <a:r>
              <a:rPr lang="en-US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</a:t>
            </a:r>
            <a:r>
              <a:rPr lang="ru-RU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10</a:t>
            </a:r>
            <a:r>
              <a:rPr lang="en-US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минут. Тестируйте разные сценарии: пустые поля, невалидный email, короткое сообщение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575525" name="Text 0"/>
          <p:cNvSpPr/>
          <p:nvPr/>
        </p:nvSpPr>
        <p:spPr bwMode="auto"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Теория</a:t>
            </a:r>
            <a:endParaRPr lang="en-US" sz="1600"/>
          </a:p>
        </p:txBody>
      </p:sp>
      <p:sp>
        <p:nvSpPr>
          <p:cNvPr id="740640824" name="Text 1"/>
          <p:cNvSpPr/>
          <p:nvPr/>
        </p:nvSpPr>
        <p:spPr bwMode="auto"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27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Отправка данных: GET vs POST, API и Webhook</a:t>
            </a:r>
            <a:endParaRPr lang="en-US" sz="1600"/>
          </a:p>
        </p:txBody>
      </p:sp>
      <p:sp>
        <p:nvSpPr>
          <p:cNvPr id="486504490" name="Text 2"/>
          <p:cNvSpPr/>
          <p:nvPr/>
        </p:nvSpPr>
        <p:spPr bwMode="auto"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Как данные попадают на сервер</a:t>
            </a:r>
            <a:endParaRPr lang="en-US" sz="1600"/>
          </a:p>
        </p:txBody>
      </p:sp>
      <p:sp>
        <p:nvSpPr>
          <p:cNvPr id="1319205426" name="Shape 3"/>
          <p:cNvSpPr/>
          <p:nvPr/>
        </p:nvSpPr>
        <p:spPr bwMode="auto">
          <a:xfrm>
            <a:off x="385762" y="1528763"/>
            <a:ext cx="3695700" cy="3895725"/>
          </a:xfrm>
          <a:custGeom>
            <a:avLst/>
            <a:gdLst/>
            <a:ahLst/>
            <a:cxnLst/>
            <a:rect l="l" t="t" r="r" b="b"/>
            <a:pathLst>
              <a:path w="3695700" h="3895725" fill="norm" stroke="1" extrusionOk="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781417"/>
                </a:lnTo>
                <a:cubicBezTo>
                  <a:pt x="3695700" y="3844548"/>
                  <a:pt x="3644523" y="3895725"/>
                  <a:pt x="3581392" y="3895725"/>
                </a:cubicBezTo>
                <a:lnTo>
                  <a:pt x="114308" y="3895725"/>
                </a:lnTo>
                <a:cubicBezTo>
                  <a:pt x="51177" y="3895725"/>
                  <a:pt x="0" y="3844548"/>
                  <a:pt x="0" y="37814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53497037" name="Shape 4"/>
          <p:cNvSpPr/>
          <p:nvPr/>
        </p:nvSpPr>
        <p:spPr bwMode="auto">
          <a:xfrm>
            <a:off x="542925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848691865" name="Shape 5"/>
          <p:cNvSpPr/>
          <p:nvPr/>
        </p:nvSpPr>
        <p:spPr bwMode="auto">
          <a:xfrm>
            <a:off x="700088" y="18192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fill="norm" stroke="1" extrusionOk="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94909709" name="Text 6"/>
          <p:cNvSpPr/>
          <p:nvPr/>
        </p:nvSpPr>
        <p:spPr bwMode="auto">
          <a:xfrm>
            <a:off x="1114425" y="1781175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GET</a:t>
            </a:r>
            <a:endParaRPr lang="en-US" sz="1600"/>
          </a:p>
        </p:txBody>
      </p:sp>
      <p:sp>
        <p:nvSpPr>
          <p:cNvPr id="348859723" name="Text 7"/>
          <p:cNvSpPr/>
          <p:nvPr/>
        </p:nvSpPr>
        <p:spPr bwMode="auto">
          <a:xfrm>
            <a:off x="542925" y="2257425"/>
            <a:ext cx="34480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Запрашивает данные без изменений на сервере. Данные передаются в URL.</a:t>
            </a:r>
            <a:endParaRPr sz="1600"/>
          </a:p>
        </p:txBody>
      </p:sp>
      <p:sp>
        <p:nvSpPr>
          <p:cNvPr id="472587934" name="Shape 8"/>
          <p:cNvSpPr/>
          <p:nvPr/>
        </p:nvSpPr>
        <p:spPr bwMode="auto">
          <a:xfrm flipH="0" flipV="0">
            <a:off x="542924" y="3476625"/>
            <a:ext cx="3381374" cy="1004659"/>
          </a:xfrm>
          <a:custGeom>
            <a:avLst/>
            <a:gdLst/>
            <a:ahLst/>
            <a:cxnLst/>
            <a:rect l="l" t="t" r="r" b="b"/>
            <a:pathLst>
              <a:path w="3381375" h="676275" fill="norm" stroke="1" extrusionOk="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600072"/>
                </a:lnTo>
                <a:cubicBezTo>
                  <a:pt x="3381375" y="642158"/>
                  <a:pt x="3347258" y="676275"/>
                  <a:pt x="3305172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327150860" name="Text 9"/>
          <p:cNvSpPr/>
          <p:nvPr/>
        </p:nvSpPr>
        <p:spPr bwMode="auto">
          <a:xfrm>
            <a:off x="542925" y="3752850"/>
            <a:ext cx="3443288" cy="676275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GET /api/users?id=123 // Данные в URL ?name=John&amp;email=john@example.com</a:t>
            </a:r>
            <a:endParaRPr sz="1400"/>
          </a:p>
        </p:txBody>
      </p:sp>
      <p:sp>
        <p:nvSpPr>
          <p:cNvPr id="840022535" name="Shape 10"/>
          <p:cNvSpPr/>
          <p:nvPr/>
        </p:nvSpPr>
        <p:spPr bwMode="auto">
          <a:xfrm>
            <a:off x="578644" y="45720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fill="norm" stroke="1" extrusionOk="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017487791" name="Text 11"/>
          <p:cNvSpPr/>
          <p:nvPr/>
        </p:nvSpPr>
        <p:spPr bwMode="auto">
          <a:xfrm flipH="0" flipV="0">
            <a:off x="785812" y="4543424"/>
            <a:ext cx="2072615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Не для паролей</a:t>
            </a:r>
            <a:endParaRPr sz="1400"/>
          </a:p>
        </p:txBody>
      </p:sp>
      <p:sp>
        <p:nvSpPr>
          <p:cNvPr id="241301748" name="Shape 12"/>
          <p:cNvSpPr/>
          <p:nvPr/>
        </p:nvSpPr>
        <p:spPr bwMode="auto">
          <a:xfrm>
            <a:off x="570309" y="4838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17896500" name="Text 13"/>
          <p:cNvSpPr/>
          <p:nvPr/>
        </p:nvSpPr>
        <p:spPr bwMode="auto">
          <a:xfrm flipH="0" flipV="0">
            <a:off x="785812" y="4810124"/>
            <a:ext cx="2072615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Можно bookmark</a:t>
            </a:r>
            <a:endParaRPr sz="1400"/>
          </a:p>
        </p:txBody>
      </p:sp>
      <p:sp>
        <p:nvSpPr>
          <p:cNvPr id="1999002552" name="Shape 14"/>
          <p:cNvSpPr/>
          <p:nvPr/>
        </p:nvSpPr>
        <p:spPr bwMode="auto">
          <a:xfrm>
            <a:off x="570309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679032618" name="Text 15"/>
          <p:cNvSpPr/>
          <p:nvPr/>
        </p:nvSpPr>
        <p:spPr bwMode="auto">
          <a:xfrm flipH="0" flipV="0">
            <a:off x="785812" y="5076824"/>
            <a:ext cx="1936544" cy="29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Кэшируется</a:t>
            </a:r>
            <a:endParaRPr sz="1400"/>
          </a:p>
        </p:txBody>
      </p:sp>
      <p:sp>
        <p:nvSpPr>
          <p:cNvPr id="1966561583" name="Shape 16"/>
          <p:cNvSpPr/>
          <p:nvPr/>
        </p:nvSpPr>
        <p:spPr bwMode="auto">
          <a:xfrm>
            <a:off x="4246562" y="1528763"/>
            <a:ext cx="3695700" cy="3895725"/>
          </a:xfrm>
          <a:custGeom>
            <a:avLst/>
            <a:gdLst/>
            <a:ahLst/>
            <a:cxnLst/>
            <a:rect l="l" t="t" r="r" b="b"/>
            <a:pathLst>
              <a:path w="3695700" h="3895725" fill="norm" stroke="1" extrusionOk="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781417"/>
                </a:lnTo>
                <a:cubicBezTo>
                  <a:pt x="3695700" y="3844548"/>
                  <a:pt x="3644523" y="3895725"/>
                  <a:pt x="3581392" y="3895725"/>
                </a:cubicBezTo>
                <a:lnTo>
                  <a:pt x="114308" y="3895725"/>
                </a:lnTo>
                <a:cubicBezTo>
                  <a:pt x="51177" y="3895725"/>
                  <a:pt x="0" y="3844548"/>
                  <a:pt x="0" y="37814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00683686" name="Shape 17"/>
          <p:cNvSpPr/>
          <p:nvPr/>
        </p:nvSpPr>
        <p:spPr bwMode="auto">
          <a:xfrm>
            <a:off x="4403725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61902667" name="Shape 18"/>
          <p:cNvSpPr/>
          <p:nvPr/>
        </p:nvSpPr>
        <p:spPr bwMode="auto">
          <a:xfrm>
            <a:off x="4560887" y="18192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fill="norm" stroke="1" extrusionOk="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53406096" name="Text 19"/>
          <p:cNvSpPr/>
          <p:nvPr/>
        </p:nvSpPr>
        <p:spPr bwMode="auto">
          <a:xfrm>
            <a:off x="4975225" y="178117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POST</a:t>
            </a:r>
            <a:endParaRPr lang="en-US" sz="1600"/>
          </a:p>
        </p:txBody>
      </p:sp>
      <p:sp>
        <p:nvSpPr>
          <p:cNvPr id="245640051" name="Text 20"/>
          <p:cNvSpPr/>
          <p:nvPr/>
        </p:nvSpPr>
        <p:spPr bwMode="auto">
          <a:xfrm>
            <a:off x="4403725" y="2257425"/>
            <a:ext cx="34480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Отправляет данные для создания/изменения ресурсов. Данные в теле запроса.</a:t>
            </a:r>
            <a:endParaRPr sz="1600"/>
          </a:p>
        </p:txBody>
      </p:sp>
      <p:sp>
        <p:nvSpPr>
          <p:cNvPr id="1165517223" name="Shape 21"/>
          <p:cNvSpPr/>
          <p:nvPr/>
        </p:nvSpPr>
        <p:spPr bwMode="auto">
          <a:xfrm>
            <a:off x="4403725" y="3567113"/>
            <a:ext cx="3381375" cy="866775"/>
          </a:xfrm>
          <a:custGeom>
            <a:avLst/>
            <a:gdLst/>
            <a:ahLst/>
            <a:cxnLst/>
            <a:rect l="l" t="t" r="r" b="b"/>
            <a:pathLst>
              <a:path w="3381375" h="866775" fill="norm" stroke="1" extrusionOk="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790577"/>
                </a:lnTo>
                <a:cubicBezTo>
                  <a:pt x="3381375" y="832660"/>
                  <a:pt x="3347260" y="866775"/>
                  <a:pt x="3305177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22562823" name="Text 22"/>
          <p:cNvSpPr/>
          <p:nvPr/>
        </p:nvSpPr>
        <p:spPr bwMode="auto">
          <a:xfrm flipH="0" flipV="0">
            <a:off x="4403724" y="3476625"/>
            <a:ext cx="3443287" cy="957262"/>
          </a:xfrm>
          <a:prstGeom prst="rect">
            <a:avLst/>
          </a:prstGeom>
          <a:noFill/>
          <a:ln/>
        </p:spPr>
        <p:txBody>
          <a:bodyPr wrap="square" lIns="152399" tIns="152399" rIns="152399" bIns="152399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POST /api/messages Content-Type: application/json { "name": "John", "email": "john@example.com" }</a:t>
            </a:r>
            <a:endParaRPr sz="1400"/>
          </a:p>
        </p:txBody>
      </p:sp>
      <p:sp>
        <p:nvSpPr>
          <p:cNvPr id="1054703699" name="Shape 23"/>
          <p:cNvSpPr/>
          <p:nvPr/>
        </p:nvSpPr>
        <p:spPr bwMode="auto">
          <a:xfrm>
            <a:off x="4431109" y="4572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44135539" name="Text 24"/>
          <p:cNvSpPr/>
          <p:nvPr/>
        </p:nvSpPr>
        <p:spPr bwMode="auto">
          <a:xfrm flipH="0" flipV="0">
            <a:off x="4646611" y="4543425"/>
            <a:ext cx="2139744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Безопаснее</a:t>
            </a:r>
            <a:endParaRPr sz="1400"/>
          </a:p>
        </p:txBody>
      </p:sp>
      <p:sp>
        <p:nvSpPr>
          <p:cNvPr id="1555270407" name="Shape 25"/>
          <p:cNvSpPr/>
          <p:nvPr/>
        </p:nvSpPr>
        <p:spPr bwMode="auto">
          <a:xfrm>
            <a:off x="4431109" y="4838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758670880" name="Text 26"/>
          <p:cNvSpPr/>
          <p:nvPr/>
        </p:nvSpPr>
        <p:spPr bwMode="auto">
          <a:xfrm flipH="0" flipV="0">
            <a:off x="4646611" y="4810124"/>
            <a:ext cx="2139744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Больше данных</a:t>
            </a:r>
            <a:endParaRPr sz="1400"/>
          </a:p>
        </p:txBody>
      </p:sp>
      <p:sp>
        <p:nvSpPr>
          <p:cNvPr id="1735432927" name="Shape 27"/>
          <p:cNvSpPr/>
          <p:nvPr/>
        </p:nvSpPr>
        <p:spPr bwMode="auto">
          <a:xfrm>
            <a:off x="4439444" y="51054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fill="norm" stroke="1" extrusionOk="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483410681" name="Text 28"/>
          <p:cNvSpPr/>
          <p:nvPr/>
        </p:nvSpPr>
        <p:spPr bwMode="auto">
          <a:xfrm flipH="0" flipV="0">
            <a:off x="4646611" y="5076824"/>
            <a:ext cx="2021816" cy="29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Не кэшируется</a:t>
            </a:r>
            <a:endParaRPr sz="1400"/>
          </a:p>
        </p:txBody>
      </p:sp>
      <p:sp>
        <p:nvSpPr>
          <p:cNvPr id="1757765828" name="Shape 29"/>
          <p:cNvSpPr/>
          <p:nvPr/>
        </p:nvSpPr>
        <p:spPr bwMode="auto">
          <a:xfrm>
            <a:off x="8107363" y="1528763"/>
            <a:ext cx="3695700" cy="3895725"/>
          </a:xfrm>
          <a:custGeom>
            <a:avLst/>
            <a:gdLst/>
            <a:ahLst/>
            <a:cxnLst/>
            <a:rect l="l" t="t" r="r" b="b"/>
            <a:pathLst>
              <a:path w="3695700" h="3895725" fill="norm" stroke="1" extrusionOk="0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781417"/>
                </a:lnTo>
                <a:cubicBezTo>
                  <a:pt x="3695700" y="3844548"/>
                  <a:pt x="3644523" y="3895725"/>
                  <a:pt x="3581392" y="3895725"/>
                </a:cubicBezTo>
                <a:lnTo>
                  <a:pt x="114308" y="3895725"/>
                </a:lnTo>
                <a:cubicBezTo>
                  <a:pt x="51177" y="3895725"/>
                  <a:pt x="0" y="3844548"/>
                  <a:pt x="0" y="37814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79276149" name="Shape 30"/>
          <p:cNvSpPr/>
          <p:nvPr/>
        </p:nvSpPr>
        <p:spPr bwMode="auto">
          <a:xfrm>
            <a:off x="8264525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969920704" name="Shape 31"/>
          <p:cNvSpPr/>
          <p:nvPr/>
        </p:nvSpPr>
        <p:spPr bwMode="auto">
          <a:xfrm>
            <a:off x="8409781" y="181927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00606177" name="Text 32"/>
          <p:cNvSpPr/>
          <p:nvPr/>
        </p:nvSpPr>
        <p:spPr bwMode="auto">
          <a:xfrm>
            <a:off x="8836025" y="1781175"/>
            <a:ext cx="39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API</a:t>
            </a:r>
            <a:endParaRPr lang="en-US" sz="1600"/>
          </a:p>
        </p:txBody>
      </p:sp>
      <p:sp>
        <p:nvSpPr>
          <p:cNvPr id="87367806" name="Text 33"/>
          <p:cNvSpPr/>
          <p:nvPr/>
        </p:nvSpPr>
        <p:spPr bwMode="auto">
          <a:xfrm>
            <a:off x="8264525" y="2257425"/>
            <a:ext cx="3448050" cy="1181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6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Application Programming Interface — интерфейс для взаимодействия приложений.</a:t>
            </a:r>
            <a:endParaRPr sz="1600"/>
          </a:p>
        </p:txBody>
      </p:sp>
      <p:sp>
        <p:nvSpPr>
          <p:cNvPr id="1560684925" name="Shape 34"/>
          <p:cNvSpPr/>
          <p:nvPr/>
        </p:nvSpPr>
        <p:spPr bwMode="auto">
          <a:xfrm flipH="0" flipV="0">
            <a:off x="8264524" y="3457574"/>
            <a:ext cx="3381374" cy="1023710"/>
          </a:xfrm>
          <a:custGeom>
            <a:avLst/>
            <a:gdLst/>
            <a:ahLst/>
            <a:cxnLst/>
            <a:rect l="l" t="t" r="r" b="b"/>
            <a:pathLst>
              <a:path w="3381375" h="876300" fill="norm" stroke="1" extrusionOk="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93863827" name="Text 35"/>
          <p:cNvSpPr/>
          <p:nvPr/>
        </p:nvSpPr>
        <p:spPr bwMode="auto">
          <a:xfrm>
            <a:off x="8378824" y="3562349"/>
            <a:ext cx="32194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Webhook</a:t>
            </a:r>
            <a:endParaRPr sz="1400"/>
          </a:p>
        </p:txBody>
      </p:sp>
      <p:sp>
        <p:nvSpPr>
          <p:cNvPr id="1931483554" name="Text 36"/>
          <p:cNvSpPr/>
          <p:nvPr/>
        </p:nvSpPr>
        <p:spPr bwMode="auto">
          <a:xfrm>
            <a:off x="8378825" y="3933824"/>
            <a:ext cx="32194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Push-уведомления: сервер автоматически отправляет данные на ваш endpoint при событии</a:t>
            </a:r>
            <a:endParaRPr sz="1400"/>
          </a:p>
        </p:txBody>
      </p:sp>
      <p:sp>
        <p:nvSpPr>
          <p:cNvPr id="1057724005" name="Shape 37"/>
          <p:cNvSpPr/>
          <p:nvPr/>
        </p:nvSpPr>
        <p:spPr bwMode="auto">
          <a:xfrm>
            <a:off x="8291910" y="4572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3829102" name="Text 38"/>
          <p:cNvSpPr/>
          <p:nvPr/>
        </p:nvSpPr>
        <p:spPr bwMode="auto">
          <a:xfrm flipH="0" flipV="0">
            <a:off x="8507412" y="4543424"/>
            <a:ext cx="2524372" cy="29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Реальное время</a:t>
            </a:r>
            <a:endParaRPr sz="1400"/>
          </a:p>
        </p:txBody>
      </p:sp>
      <p:sp>
        <p:nvSpPr>
          <p:cNvPr id="786092835" name="Shape 39"/>
          <p:cNvSpPr/>
          <p:nvPr/>
        </p:nvSpPr>
        <p:spPr bwMode="auto">
          <a:xfrm>
            <a:off x="8291910" y="4838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78721656" name="Text 40"/>
          <p:cNvSpPr/>
          <p:nvPr/>
        </p:nvSpPr>
        <p:spPr bwMode="auto">
          <a:xfrm flipH="0" flipV="0">
            <a:off x="8507412" y="4810124"/>
            <a:ext cx="1853086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Без polling</a:t>
            </a:r>
            <a:endParaRPr sz="1400"/>
          </a:p>
        </p:txBody>
      </p:sp>
      <p:sp>
        <p:nvSpPr>
          <p:cNvPr id="1502849520" name="Shape 41"/>
          <p:cNvSpPr/>
          <p:nvPr/>
        </p:nvSpPr>
        <p:spPr bwMode="auto">
          <a:xfrm>
            <a:off x="8291910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14262418" name="Text 42"/>
          <p:cNvSpPr/>
          <p:nvPr/>
        </p:nvSpPr>
        <p:spPr bwMode="auto">
          <a:xfrm flipH="0" flipV="0">
            <a:off x="8507412" y="5076824"/>
            <a:ext cx="2297586" cy="29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Event-driven</a:t>
            </a:r>
            <a:endParaRPr sz="1400"/>
          </a:p>
        </p:txBody>
      </p:sp>
      <p:sp>
        <p:nvSpPr>
          <p:cNvPr id="2009455333" name="Shape 43"/>
          <p:cNvSpPr/>
          <p:nvPr/>
        </p:nvSpPr>
        <p:spPr bwMode="auto">
          <a:xfrm>
            <a:off x="385762" y="5548313"/>
            <a:ext cx="11420475" cy="923925"/>
          </a:xfrm>
          <a:custGeom>
            <a:avLst/>
            <a:gdLst/>
            <a:ahLst/>
            <a:cxnLst/>
            <a:rect l="l" t="t" r="r" b="b"/>
            <a:pathLst>
              <a:path w="11420475" h="923925" fill="norm" stroke="1" extrusionOk="0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809626"/>
                </a:lnTo>
                <a:cubicBezTo>
                  <a:pt x="11420475" y="872752"/>
                  <a:pt x="11369302" y="923925"/>
                  <a:pt x="113061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025075741" name="Shape 44"/>
          <p:cNvSpPr/>
          <p:nvPr/>
        </p:nvSpPr>
        <p:spPr bwMode="auto">
          <a:xfrm>
            <a:off x="540544" y="591502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04303134" name="Text 45"/>
          <p:cNvSpPr/>
          <p:nvPr/>
        </p:nvSpPr>
        <p:spPr bwMode="auto">
          <a:xfrm>
            <a:off x="895350" y="5667375"/>
            <a:ext cx="550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Webhook Endpoint</a:t>
            </a:r>
            <a:endParaRPr sz="1400"/>
          </a:p>
        </p:txBody>
      </p:sp>
      <p:sp>
        <p:nvSpPr>
          <p:cNvPr id="1182696909" name="Text 46"/>
          <p:cNvSpPr/>
          <p:nvPr/>
        </p:nvSpPr>
        <p:spPr bwMode="auto">
          <a:xfrm>
            <a:off x="895350" y="593407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POST http://</a:t>
            </a:r>
            <a:r>
              <a:rPr lang="en-US" sz="1400" b="0" i="0" u="none" strike="noStrike" cap="none" spc="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172.20.10.4</a:t>
            </a: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:3000/api/messages</a:t>
            </a:r>
            <a:endParaRPr sz="1400"/>
          </a:p>
        </p:txBody>
      </p:sp>
      <p:sp>
        <p:nvSpPr>
          <p:cNvPr id="1566078697" name="Text 47"/>
          <p:cNvSpPr/>
          <p:nvPr/>
        </p:nvSpPr>
        <p:spPr bwMode="auto">
          <a:xfrm flipH="0" flipV="0">
            <a:off x="895349" y="6162674"/>
            <a:ext cx="74549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Expected JSON: {"name": "Student", "email": "student@example.com", "message": "Hello!"}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461028" name="Text 0"/>
          <p:cNvSpPr/>
          <p:nvPr/>
        </p:nvSpPr>
        <p:spPr bwMode="auto">
          <a:xfrm>
            <a:off x="361512" y="361512"/>
            <a:ext cx="11532240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0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Задание 3</a:t>
            </a:r>
            <a:endParaRPr sz="2000"/>
          </a:p>
        </p:txBody>
      </p:sp>
      <p:sp>
        <p:nvSpPr>
          <p:cNvPr id="317802096" name="Text 1"/>
          <p:cNvSpPr/>
          <p:nvPr/>
        </p:nvSpPr>
        <p:spPr bwMode="auto">
          <a:xfrm>
            <a:off x="361512" y="614571"/>
            <a:ext cx="11631656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25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Настройка отправки формы (GET/POST)</a:t>
            </a:r>
            <a:endParaRPr lang="en-US" sz="1600"/>
          </a:p>
        </p:txBody>
      </p:sp>
      <p:sp>
        <p:nvSpPr>
          <p:cNvPr id="1544051525" name="Text 2"/>
          <p:cNvSpPr/>
          <p:nvPr/>
        </p:nvSpPr>
        <p:spPr bwMode="auto">
          <a:xfrm>
            <a:off x="361512" y="1048385"/>
            <a:ext cx="1155031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Отправка данных на webhook endpoint</a:t>
            </a:r>
            <a:endParaRPr lang="en-US" sz="1600"/>
          </a:p>
        </p:txBody>
      </p:sp>
      <p:sp>
        <p:nvSpPr>
          <p:cNvPr id="1060603387" name="Shape 3"/>
          <p:cNvSpPr/>
          <p:nvPr/>
        </p:nvSpPr>
        <p:spPr bwMode="auto">
          <a:xfrm>
            <a:off x="361512" y="1482200"/>
            <a:ext cx="225945" cy="180756"/>
          </a:xfrm>
          <a:custGeom>
            <a:avLst/>
            <a:gdLst/>
            <a:ahLst/>
            <a:cxnLst/>
            <a:rect l="l" t="t" r="r" b="b"/>
            <a:pathLst>
              <a:path w="225945" h="180756" fill="norm" stroke="1" extrusionOk="0">
                <a:moveTo>
                  <a:pt x="146829" y="74315"/>
                </a:moveTo>
                <a:cubicBezTo>
                  <a:pt x="151136" y="73150"/>
                  <a:pt x="155655" y="75197"/>
                  <a:pt x="157597" y="79187"/>
                </a:cubicBezTo>
                <a:lnTo>
                  <a:pt x="164163" y="92461"/>
                </a:lnTo>
                <a:cubicBezTo>
                  <a:pt x="167800" y="92955"/>
                  <a:pt x="171365" y="93944"/>
                  <a:pt x="174719" y="95321"/>
                </a:cubicBezTo>
                <a:lnTo>
                  <a:pt x="187076" y="87095"/>
                </a:lnTo>
                <a:cubicBezTo>
                  <a:pt x="190782" y="84624"/>
                  <a:pt x="195690" y="85118"/>
                  <a:pt x="198832" y="88260"/>
                </a:cubicBezTo>
                <a:lnTo>
                  <a:pt x="205610" y="95038"/>
                </a:lnTo>
                <a:cubicBezTo>
                  <a:pt x="208752" y="98180"/>
                  <a:pt x="209246" y="103123"/>
                  <a:pt x="206775" y="106794"/>
                </a:cubicBezTo>
                <a:lnTo>
                  <a:pt x="198549" y="119115"/>
                </a:lnTo>
                <a:cubicBezTo>
                  <a:pt x="199220" y="120775"/>
                  <a:pt x="199820" y="122505"/>
                  <a:pt x="200314" y="124305"/>
                </a:cubicBezTo>
                <a:cubicBezTo>
                  <a:pt x="200809" y="126106"/>
                  <a:pt x="201126" y="127871"/>
                  <a:pt x="201374" y="129671"/>
                </a:cubicBezTo>
                <a:lnTo>
                  <a:pt x="214683" y="136238"/>
                </a:lnTo>
                <a:cubicBezTo>
                  <a:pt x="218673" y="138215"/>
                  <a:pt x="220720" y="142734"/>
                  <a:pt x="219555" y="147006"/>
                </a:cubicBezTo>
                <a:lnTo>
                  <a:pt x="217084" y="156255"/>
                </a:lnTo>
                <a:cubicBezTo>
                  <a:pt x="215919" y="160527"/>
                  <a:pt x="211929" y="163422"/>
                  <a:pt x="207481" y="163139"/>
                </a:cubicBezTo>
                <a:lnTo>
                  <a:pt x="192654" y="162186"/>
                </a:lnTo>
                <a:cubicBezTo>
                  <a:pt x="190429" y="165046"/>
                  <a:pt x="187852" y="167694"/>
                  <a:pt x="184922" y="169953"/>
                </a:cubicBezTo>
                <a:lnTo>
                  <a:pt x="185875" y="184745"/>
                </a:lnTo>
                <a:cubicBezTo>
                  <a:pt x="186158" y="189194"/>
                  <a:pt x="183263" y="193218"/>
                  <a:pt x="178991" y="194348"/>
                </a:cubicBezTo>
                <a:lnTo>
                  <a:pt x="169741" y="196819"/>
                </a:lnTo>
                <a:cubicBezTo>
                  <a:pt x="165434" y="197984"/>
                  <a:pt x="160951" y="195937"/>
                  <a:pt x="158974" y="191947"/>
                </a:cubicBezTo>
                <a:lnTo>
                  <a:pt x="152407" y="178673"/>
                </a:lnTo>
                <a:cubicBezTo>
                  <a:pt x="148771" y="178179"/>
                  <a:pt x="145205" y="177190"/>
                  <a:pt x="141851" y="175814"/>
                </a:cubicBezTo>
                <a:lnTo>
                  <a:pt x="129495" y="184039"/>
                </a:lnTo>
                <a:cubicBezTo>
                  <a:pt x="125788" y="186511"/>
                  <a:pt x="120881" y="186016"/>
                  <a:pt x="117739" y="182874"/>
                </a:cubicBezTo>
                <a:lnTo>
                  <a:pt x="110960" y="176096"/>
                </a:lnTo>
                <a:cubicBezTo>
                  <a:pt x="107818" y="172954"/>
                  <a:pt x="107324" y="168047"/>
                  <a:pt x="109795" y="164340"/>
                </a:cubicBezTo>
                <a:lnTo>
                  <a:pt x="118021" y="151983"/>
                </a:lnTo>
                <a:cubicBezTo>
                  <a:pt x="117350" y="150324"/>
                  <a:pt x="116750" y="148594"/>
                  <a:pt x="116256" y="146794"/>
                </a:cubicBezTo>
                <a:cubicBezTo>
                  <a:pt x="115762" y="144993"/>
                  <a:pt x="115444" y="143193"/>
                  <a:pt x="115197" y="141428"/>
                </a:cubicBezTo>
                <a:lnTo>
                  <a:pt x="101887" y="134861"/>
                </a:lnTo>
                <a:cubicBezTo>
                  <a:pt x="97898" y="132884"/>
                  <a:pt x="95885" y="128365"/>
                  <a:pt x="97015" y="124093"/>
                </a:cubicBezTo>
                <a:lnTo>
                  <a:pt x="99486" y="114844"/>
                </a:lnTo>
                <a:cubicBezTo>
                  <a:pt x="100652" y="110572"/>
                  <a:pt x="104641" y="107677"/>
                  <a:pt x="109089" y="107959"/>
                </a:cubicBezTo>
                <a:lnTo>
                  <a:pt x="123881" y="108913"/>
                </a:lnTo>
                <a:cubicBezTo>
                  <a:pt x="126106" y="106053"/>
                  <a:pt x="128683" y="103405"/>
                  <a:pt x="131613" y="101146"/>
                </a:cubicBezTo>
                <a:lnTo>
                  <a:pt x="130660" y="86389"/>
                </a:lnTo>
                <a:cubicBezTo>
                  <a:pt x="130377" y="81940"/>
                  <a:pt x="133272" y="77916"/>
                  <a:pt x="137544" y="76786"/>
                </a:cubicBezTo>
                <a:lnTo>
                  <a:pt x="146794" y="74315"/>
                </a:lnTo>
                <a:close/>
                <a:moveTo>
                  <a:pt x="158303" y="120033"/>
                </a:moveTo>
                <a:cubicBezTo>
                  <a:pt x="149730" y="120043"/>
                  <a:pt x="142777" y="127011"/>
                  <a:pt x="142787" y="135585"/>
                </a:cubicBezTo>
                <a:cubicBezTo>
                  <a:pt x="142796" y="144158"/>
                  <a:pt x="149765" y="151111"/>
                  <a:pt x="158338" y="151101"/>
                </a:cubicBezTo>
                <a:cubicBezTo>
                  <a:pt x="166911" y="151091"/>
                  <a:pt x="173864" y="144123"/>
                  <a:pt x="173854" y="135549"/>
                </a:cubicBezTo>
                <a:cubicBezTo>
                  <a:pt x="173844" y="126976"/>
                  <a:pt x="166876" y="120024"/>
                  <a:pt x="158303" y="120033"/>
                </a:cubicBezTo>
                <a:close/>
                <a:moveTo>
                  <a:pt x="79399" y="-16063"/>
                </a:moveTo>
                <a:lnTo>
                  <a:pt x="88648" y="-13592"/>
                </a:lnTo>
                <a:cubicBezTo>
                  <a:pt x="92920" y="-12427"/>
                  <a:pt x="95815" y="-8402"/>
                  <a:pt x="95532" y="-3989"/>
                </a:cubicBezTo>
                <a:lnTo>
                  <a:pt x="94579" y="10768"/>
                </a:lnTo>
                <a:cubicBezTo>
                  <a:pt x="97509" y="13027"/>
                  <a:pt x="100087" y="15640"/>
                  <a:pt x="102311" y="18535"/>
                </a:cubicBezTo>
                <a:lnTo>
                  <a:pt x="117138" y="17581"/>
                </a:lnTo>
                <a:cubicBezTo>
                  <a:pt x="121551" y="17299"/>
                  <a:pt x="125576" y="20194"/>
                  <a:pt x="126741" y="24466"/>
                </a:cubicBezTo>
                <a:lnTo>
                  <a:pt x="129212" y="33715"/>
                </a:lnTo>
                <a:cubicBezTo>
                  <a:pt x="130342" y="37987"/>
                  <a:pt x="128330" y="42506"/>
                  <a:pt x="124340" y="44483"/>
                </a:cubicBezTo>
                <a:lnTo>
                  <a:pt x="111031" y="51049"/>
                </a:lnTo>
                <a:cubicBezTo>
                  <a:pt x="110784" y="52850"/>
                  <a:pt x="110431" y="54650"/>
                  <a:pt x="109972" y="56416"/>
                </a:cubicBezTo>
                <a:cubicBezTo>
                  <a:pt x="109513" y="58181"/>
                  <a:pt x="108877" y="59946"/>
                  <a:pt x="108207" y="61605"/>
                </a:cubicBezTo>
                <a:lnTo>
                  <a:pt x="116432" y="73962"/>
                </a:lnTo>
                <a:cubicBezTo>
                  <a:pt x="118904" y="77669"/>
                  <a:pt x="118409" y="82576"/>
                  <a:pt x="115267" y="85718"/>
                </a:cubicBezTo>
                <a:lnTo>
                  <a:pt x="108489" y="92496"/>
                </a:lnTo>
                <a:cubicBezTo>
                  <a:pt x="105347" y="95638"/>
                  <a:pt x="100440" y="96133"/>
                  <a:pt x="96733" y="93661"/>
                </a:cubicBezTo>
                <a:lnTo>
                  <a:pt x="84376" y="85436"/>
                </a:lnTo>
                <a:cubicBezTo>
                  <a:pt x="81023" y="86812"/>
                  <a:pt x="77457" y="87801"/>
                  <a:pt x="73821" y="88295"/>
                </a:cubicBezTo>
                <a:lnTo>
                  <a:pt x="67254" y="101569"/>
                </a:lnTo>
                <a:cubicBezTo>
                  <a:pt x="65277" y="105559"/>
                  <a:pt x="60758" y="107571"/>
                  <a:pt x="56486" y="106441"/>
                </a:cubicBezTo>
                <a:lnTo>
                  <a:pt x="47237" y="103970"/>
                </a:lnTo>
                <a:cubicBezTo>
                  <a:pt x="42930" y="102805"/>
                  <a:pt x="40070" y="98780"/>
                  <a:pt x="40352" y="94367"/>
                </a:cubicBezTo>
                <a:lnTo>
                  <a:pt x="41306" y="79575"/>
                </a:lnTo>
                <a:cubicBezTo>
                  <a:pt x="38375" y="77316"/>
                  <a:pt x="35798" y="74703"/>
                  <a:pt x="33574" y="71808"/>
                </a:cubicBezTo>
                <a:lnTo>
                  <a:pt x="18746" y="72761"/>
                </a:lnTo>
                <a:cubicBezTo>
                  <a:pt x="14333" y="73044"/>
                  <a:pt x="10309" y="70149"/>
                  <a:pt x="9144" y="65877"/>
                </a:cubicBezTo>
                <a:lnTo>
                  <a:pt x="6672" y="56628"/>
                </a:lnTo>
                <a:cubicBezTo>
                  <a:pt x="5543" y="52356"/>
                  <a:pt x="7555" y="47837"/>
                  <a:pt x="11544" y="45860"/>
                </a:cubicBezTo>
                <a:lnTo>
                  <a:pt x="24854" y="39293"/>
                </a:lnTo>
                <a:cubicBezTo>
                  <a:pt x="25101" y="37493"/>
                  <a:pt x="25454" y="35728"/>
                  <a:pt x="25913" y="33927"/>
                </a:cubicBezTo>
                <a:cubicBezTo>
                  <a:pt x="26407" y="32127"/>
                  <a:pt x="26972" y="30397"/>
                  <a:pt x="27678" y="28737"/>
                </a:cubicBezTo>
                <a:lnTo>
                  <a:pt x="19452" y="16416"/>
                </a:lnTo>
                <a:cubicBezTo>
                  <a:pt x="16981" y="12709"/>
                  <a:pt x="17475" y="7802"/>
                  <a:pt x="20617" y="4660"/>
                </a:cubicBezTo>
                <a:lnTo>
                  <a:pt x="27396" y="-2118"/>
                </a:lnTo>
                <a:cubicBezTo>
                  <a:pt x="30538" y="-5260"/>
                  <a:pt x="35445" y="-5755"/>
                  <a:pt x="39152" y="-3283"/>
                </a:cubicBezTo>
                <a:lnTo>
                  <a:pt x="51508" y="4943"/>
                </a:lnTo>
                <a:cubicBezTo>
                  <a:pt x="54862" y="3566"/>
                  <a:pt x="58428" y="2577"/>
                  <a:pt x="62064" y="2083"/>
                </a:cubicBezTo>
                <a:lnTo>
                  <a:pt x="68631" y="-11191"/>
                </a:lnTo>
                <a:cubicBezTo>
                  <a:pt x="70608" y="-15181"/>
                  <a:pt x="75091" y="-17193"/>
                  <a:pt x="79399" y="-16063"/>
                </a:cubicBezTo>
                <a:close/>
                <a:moveTo>
                  <a:pt x="67925" y="29655"/>
                </a:moveTo>
                <a:cubicBezTo>
                  <a:pt x="59351" y="29655"/>
                  <a:pt x="52391" y="36616"/>
                  <a:pt x="52391" y="45189"/>
                </a:cubicBezTo>
                <a:cubicBezTo>
                  <a:pt x="52391" y="53762"/>
                  <a:pt x="59351" y="60723"/>
                  <a:pt x="67925" y="60723"/>
                </a:cubicBezTo>
                <a:cubicBezTo>
                  <a:pt x="76498" y="60723"/>
                  <a:pt x="83458" y="53762"/>
                  <a:pt x="83458" y="45189"/>
                </a:cubicBezTo>
                <a:cubicBezTo>
                  <a:pt x="83458" y="36616"/>
                  <a:pt x="76498" y="29655"/>
                  <a:pt x="67925" y="2965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68970719" name="Text 4"/>
          <p:cNvSpPr/>
          <p:nvPr/>
        </p:nvSpPr>
        <p:spPr bwMode="auto">
          <a:xfrm>
            <a:off x="587457" y="1446049"/>
            <a:ext cx="549498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Конфигурация формы</a:t>
            </a:r>
            <a:endParaRPr lang="en-US" sz="1600"/>
          </a:p>
        </p:txBody>
      </p:sp>
      <p:sp>
        <p:nvSpPr>
          <p:cNvPr id="579857028" name="Shape 5"/>
          <p:cNvSpPr/>
          <p:nvPr/>
        </p:nvSpPr>
        <p:spPr bwMode="auto">
          <a:xfrm>
            <a:off x="361512" y="1807561"/>
            <a:ext cx="5630553" cy="3172270"/>
          </a:xfrm>
          <a:custGeom>
            <a:avLst/>
            <a:gdLst/>
            <a:ahLst/>
            <a:cxnLst/>
            <a:rect l="l" t="t" r="r" b="b"/>
            <a:pathLst>
              <a:path w="5630553" h="3172270" fill="norm" stroke="1" extrusionOk="0">
                <a:moveTo>
                  <a:pt x="72296" y="0"/>
                </a:moveTo>
                <a:lnTo>
                  <a:pt x="5558257" y="0"/>
                </a:lnTo>
                <a:cubicBezTo>
                  <a:pt x="5598185" y="0"/>
                  <a:pt x="5630553" y="32368"/>
                  <a:pt x="5630553" y="72296"/>
                </a:cubicBezTo>
                <a:lnTo>
                  <a:pt x="5630553" y="3099974"/>
                </a:lnTo>
                <a:cubicBezTo>
                  <a:pt x="5630553" y="3139902"/>
                  <a:pt x="5598185" y="3172270"/>
                  <a:pt x="5558257" y="3172270"/>
                </a:cubicBezTo>
                <a:lnTo>
                  <a:pt x="72296" y="3172270"/>
                </a:lnTo>
                <a:cubicBezTo>
                  <a:pt x="32368" y="3172270"/>
                  <a:pt x="0" y="3139902"/>
                  <a:pt x="0" y="3099974"/>
                </a:cubicBezTo>
                <a:lnTo>
                  <a:pt x="0" y="72296"/>
                </a:lnTo>
                <a:cubicBezTo>
                  <a:pt x="0" y="32395"/>
                  <a:pt x="32395" y="0"/>
                  <a:pt x="7229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480737215" name="Text 6"/>
          <p:cNvSpPr/>
          <p:nvPr/>
        </p:nvSpPr>
        <p:spPr bwMode="auto">
          <a:xfrm>
            <a:off x="361512" y="1807561"/>
            <a:ext cx="5689299" cy="3172270"/>
          </a:xfrm>
          <a:prstGeom prst="rect">
            <a:avLst/>
          </a:prstGeom>
          <a:noFill/>
          <a:ln/>
        </p:spPr>
        <p:txBody>
          <a:bodyPr wrap="square" lIns="144605" tIns="144605" rIns="144605" bIns="144605" rtlCol="0" anchor="ctr"/>
          <a:lstStyle/>
          <a:p>
            <a:pPr>
              <a:defRPr/>
            </a:pPr>
            <a:endParaRPr/>
          </a:p>
        </p:txBody>
      </p:sp>
      <p:sp>
        <p:nvSpPr>
          <p:cNvPr id="1027112920" name="Shape 7"/>
          <p:cNvSpPr/>
          <p:nvPr/>
        </p:nvSpPr>
        <p:spPr bwMode="auto">
          <a:xfrm>
            <a:off x="366031" y="5092803"/>
            <a:ext cx="5621515" cy="1202027"/>
          </a:xfrm>
          <a:custGeom>
            <a:avLst/>
            <a:gdLst/>
            <a:ahLst/>
            <a:cxnLst/>
            <a:rect l="l" t="t" r="r" b="b"/>
            <a:pathLst>
              <a:path w="5621515" h="1202028" fill="norm" stroke="1" extrusionOk="0">
                <a:moveTo>
                  <a:pt x="72302" y="0"/>
                </a:moveTo>
                <a:lnTo>
                  <a:pt x="5549213" y="0"/>
                </a:lnTo>
                <a:cubicBezTo>
                  <a:pt x="5589144" y="0"/>
                  <a:pt x="5621515" y="32371"/>
                  <a:pt x="5621515" y="72302"/>
                </a:cubicBezTo>
                <a:lnTo>
                  <a:pt x="5621515" y="1129726"/>
                </a:lnTo>
                <a:cubicBezTo>
                  <a:pt x="5621515" y="1169657"/>
                  <a:pt x="5589144" y="1202028"/>
                  <a:pt x="5549213" y="1202028"/>
                </a:cubicBezTo>
                <a:lnTo>
                  <a:pt x="72302" y="1202028"/>
                </a:lnTo>
                <a:cubicBezTo>
                  <a:pt x="32371" y="1202028"/>
                  <a:pt x="0" y="1169657"/>
                  <a:pt x="0" y="1129726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75118251" name="Text 8"/>
          <p:cNvSpPr/>
          <p:nvPr/>
        </p:nvSpPr>
        <p:spPr bwMode="auto">
          <a:xfrm>
            <a:off x="479004" y="5205776"/>
            <a:ext cx="546787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Важные атрибуты</a:t>
            </a:r>
            <a:endParaRPr lang="en-US" sz="1600"/>
          </a:p>
        </p:txBody>
      </p:sp>
      <p:sp>
        <p:nvSpPr>
          <p:cNvPr id="1866861269" name="Text 9"/>
          <p:cNvSpPr/>
          <p:nvPr/>
        </p:nvSpPr>
        <p:spPr bwMode="auto">
          <a:xfrm flipH="0" flipV="0">
            <a:off x="479003" y="5494986"/>
            <a:ext cx="810067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0071E3"/>
                </a:solidFill>
                <a:latin typeface="MiSans"/>
                <a:ea typeface="MiSans"/>
                <a:cs typeface="MiSans"/>
              </a:rPr>
              <a:t>action</a:t>
            </a:r>
            <a:endParaRPr lang="en-US" sz="1600"/>
          </a:p>
        </p:txBody>
      </p:sp>
      <p:sp>
        <p:nvSpPr>
          <p:cNvPr id="667606566" name="Text 10"/>
          <p:cNvSpPr/>
          <p:nvPr/>
        </p:nvSpPr>
        <p:spPr bwMode="auto">
          <a:xfrm flipH="0" flipV="0">
            <a:off x="1409143" y="5494986"/>
            <a:ext cx="4032073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URL endpoint для отправки</a:t>
            </a:r>
            <a:endParaRPr sz="1400"/>
          </a:p>
        </p:txBody>
      </p:sp>
      <p:sp>
        <p:nvSpPr>
          <p:cNvPr id="12130176" name="Text 11"/>
          <p:cNvSpPr/>
          <p:nvPr/>
        </p:nvSpPr>
        <p:spPr bwMode="auto">
          <a:xfrm flipH="0" flipV="0">
            <a:off x="479003" y="5748043"/>
            <a:ext cx="984971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0071E3"/>
                </a:solidFill>
                <a:latin typeface="MiSans"/>
                <a:ea typeface="MiSans"/>
                <a:cs typeface="MiSans"/>
              </a:rPr>
              <a:t>method</a:t>
            </a:r>
            <a:endParaRPr sz="1400"/>
          </a:p>
        </p:txBody>
      </p:sp>
      <p:sp>
        <p:nvSpPr>
          <p:cNvPr id="1932764499" name="Text 12"/>
          <p:cNvSpPr/>
          <p:nvPr/>
        </p:nvSpPr>
        <p:spPr bwMode="auto">
          <a:xfrm flipH="0" flipV="0">
            <a:off x="1397345" y="5752563"/>
            <a:ext cx="3558886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HTTP метод: POST</a:t>
            </a:r>
            <a:endParaRPr sz="1400"/>
          </a:p>
        </p:txBody>
      </p:sp>
      <p:sp>
        <p:nvSpPr>
          <p:cNvPr id="417917243" name="Text 13"/>
          <p:cNvSpPr/>
          <p:nvPr/>
        </p:nvSpPr>
        <p:spPr bwMode="auto">
          <a:xfrm flipH="0" flipV="0">
            <a:off x="479003" y="6001102"/>
            <a:ext cx="937067" cy="29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0071E3"/>
                </a:solidFill>
                <a:latin typeface="MiSans"/>
                <a:ea typeface="MiSans"/>
                <a:cs typeface="MiSans"/>
              </a:rPr>
              <a:t>name</a:t>
            </a:r>
            <a:endParaRPr sz="1400"/>
          </a:p>
        </p:txBody>
      </p:sp>
      <p:sp>
        <p:nvSpPr>
          <p:cNvPr id="1407427429" name="Text 14"/>
          <p:cNvSpPr/>
          <p:nvPr/>
        </p:nvSpPr>
        <p:spPr bwMode="auto">
          <a:xfrm flipH="0" flipV="0">
            <a:off x="1397345" y="6001102"/>
            <a:ext cx="3497928" cy="230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Ключи для данных формы</a:t>
            </a:r>
            <a:endParaRPr sz="1400"/>
          </a:p>
        </p:txBody>
      </p:sp>
      <p:sp>
        <p:nvSpPr>
          <p:cNvPr id="2074814548" name="Shape 15"/>
          <p:cNvSpPr/>
          <p:nvPr/>
        </p:nvSpPr>
        <p:spPr bwMode="auto">
          <a:xfrm>
            <a:off x="6217257" y="1482200"/>
            <a:ext cx="203351" cy="180756"/>
          </a:xfrm>
          <a:custGeom>
            <a:avLst/>
            <a:gdLst/>
            <a:ahLst/>
            <a:cxnLst/>
            <a:rect l="l" t="t" r="r" b="b"/>
            <a:pathLst>
              <a:path w="203351" h="180756" fill="norm" stroke="1" extrusionOk="0">
                <a:moveTo>
                  <a:pt x="189370" y="-9285"/>
                </a:moveTo>
                <a:cubicBezTo>
                  <a:pt x="192830" y="-10521"/>
                  <a:pt x="196643" y="-9638"/>
                  <a:pt x="199255" y="-7061"/>
                </a:cubicBezTo>
                <a:cubicBezTo>
                  <a:pt x="201868" y="-4484"/>
                  <a:pt x="202715" y="-635"/>
                  <a:pt x="201480" y="2824"/>
                </a:cubicBezTo>
                <a:lnTo>
                  <a:pt x="138639" y="178250"/>
                </a:lnTo>
                <a:cubicBezTo>
                  <a:pt x="136873" y="183157"/>
                  <a:pt x="132249" y="186405"/>
                  <a:pt x="127059" y="186405"/>
                </a:cubicBezTo>
                <a:cubicBezTo>
                  <a:pt x="122046" y="186405"/>
                  <a:pt x="117527" y="183369"/>
                  <a:pt x="115656" y="178744"/>
                </a:cubicBezTo>
                <a:lnTo>
                  <a:pt x="92991" y="122964"/>
                </a:lnTo>
                <a:cubicBezTo>
                  <a:pt x="91402" y="119080"/>
                  <a:pt x="92108" y="114632"/>
                  <a:pt x="94826" y="111455"/>
                </a:cubicBezTo>
                <a:lnTo>
                  <a:pt x="128189" y="71773"/>
                </a:lnTo>
                <a:cubicBezTo>
                  <a:pt x="129989" y="69619"/>
                  <a:pt x="129848" y="66477"/>
                  <a:pt x="127871" y="64500"/>
                </a:cubicBezTo>
                <a:cubicBezTo>
                  <a:pt x="125894" y="62523"/>
                  <a:pt x="122716" y="62382"/>
                  <a:pt x="120598" y="64183"/>
                </a:cubicBezTo>
                <a:lnTo>
                  <a:pt x="80917" y="97474"/>
                </a:lnTo>
                <a:cubicBezTo>
                  <a:pt x="77704" y="100157"/>
                  <a:pt x="73291" y="100863"/>
                  <a:pt x="69408" y="99310"/>
                </a:cubicBezTo>
                <a:lnTo>
                  <a:pt x="13451" y="76539"/>
                </a:lnTo>
                <a:cubicBezTo>
                  <a:pt x="8826" y="74668"/>
                  <a:pt x="5790" y="70149"/>
                  <a:pt x="5790" y="65136"/>
                </a:cubicBezTo>
                <a:cubicBezTo>
                  <a:pt x="5790" y="59946"/>
                  <a:pt x="9038" y="55321"/>
                  <a:pt x="13945" y="53556"/>
                </a:cubicBezTo>
                <a:lnTo>
                  <a:pt x="189370" y="-928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33286305" name="Text 16"/>
          <p:cNvSpPr/>
          <p:nvPr/>
        </p:nvSpPr>
        <p:spPr bwMode="auto">
          <a:xfrm>
            <a:off x="6431905" y="1446049"/>
            <a:ext cx="549498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Инструкция</a:t>
            </a:r>
            <a:endParaRPr lang="en-US" sz="1600"/>
          </a:p>
        </p:txBody>
      </p:sp>
      <p:sp>
        <p:nvSpPr>
          <p:cNvPr id="770092799" name="Shape 17"/>
          <p:cNvSpPr/>
          <p:nvPr/>
        </p:nvSpPr>
        <p:spPr bwMode="auto">
          <a:xfrm>
            <a:off x="6210479" y="1812080"/>
            <a:ext cx="5621515" cy="768213"/>
          </a:xfrm>
          <a:custGeom>
            <a:avLst/>
            <a:gdLst/>
            <a:ahLst/>
            <a:cxnLst/>
            <a:rect l="l" t="t" r="r" b="b"/>
            <a:pathLst>
              <a:path w="5621515" h="768213" fill="norm" stroke="1" extrusionOk="0">
                <a:moveTo>
                  <a:pt x="72304" y="0"/>
                </a:moveTo>
                <a:lnTo>
                  <a:pt x="5549211" y="0"/>
                </a:lnTo>
                <a:cubicBezTo>
                  <a:pt x="5589143" y="0"/>
                  <a:pt x="5621515" y="32372"/>
                  <a:pt x="5621515" y="72304"/>
                </a:cubicBezTo>
                <a:lnTo>
                  <a:pt x="5621515" y="695909"/>
                </a:lnTo>
                <a:cubicBezTo>
                  <a:pt x="5621515" y="735842"/>
                  <a:pt x="5589143" y="768213"/>
                  <a:pt x="5549211" y="768213"/>
                </a:cubicBezTo>
                <a:lnTo>
                  <a:pt x="72304" y="768213"/>
                </a:lnTo>
                <a:cubicBezTo>
                  <a:pt x="32372" y="768213"/>
                  <a:pt x="0" y="735842"/>
                  <a:pt x="0" y="695909"/>
                </a:cubicBezTo>
                <a:lnTo>
                  <a:pt x="0" y="72304"/>
                </a:lnTo>
                <a:cubicBezTo>
                  <a:pt x="0" y="32398"/>
                  <a:pt x="32398" y="0"/>
                  <a:pt x="7230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12566879" name="Shape 18"/>
          <p:cNvSpPr/>
          <p:nvPr/>
        </p:nvSpPr>
        <p:spPr bwMode="auto">
          <a:xfrm>
            <a:off x="6323452" y="1925053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 fill="norm" stroke="1" extrusionOk="0">
                <a:moveTo>
                  <a:pt x="72302" y="0"/>
                </a:moveTo>
                <a:lnTo>
                  <a:pt x="216907" y="0"/>
                </a:lnTo>
                <a:cubicBezTo>
                  <a:pt x="256812" y="0"/>
                  <a:pt x="289210" y="32398"/>
                  <a:pt x="289210" y="72302"/>
                </a:cubicBezTo>
                <a:lnTo>
                  <a:pt x="289210" y="216907"/>
                </a:lnTo>
                <a:cubicBezTo>
                  <a:pt x="289210" y="256812"/>
                  <a:pt x="256812" y="289210"/>
                  <a:pt x="216907" y="289210"/>
                </a:cubicBezTo>
                <a:lnTo>
                  <a:pt x="72302" y="289210"/>
                </a:lnTo>
                <a:cubicBezTo>
                  <a:pt x="32398" y="289210"/>
                  <a:pt x="0" y="256812"/>
                  <a:pt x="0" y="216907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88829440" name="Text 19"/>
          <p:cNvSpPr/>
          <p:nvPr/>
        </p:nvSpPr>
        <p:spPr bwMode="auto">
          <a:xfrm>
            <a:off x="6287300" y="1925053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1</a:t>
            </a:r>
            <a:endParaRPr lang="en-US" sz="1600"/>
          </a:p>
        </p:txBody>
      </p:sp>
      <p:sp>
        <p:nvSpPr>
          <p:cNvPr id="1199496607" name="Text 20"/>
          <p:cNvSpPr/>
          <p:nvPr/>
        </p:nvSpPr>
        <p:spPr bwMode="auto">
          <a:xfrm flipH="0" flipV="0">
            <a:off x="6721114" y="1868365"/>
            <a:ext cx="2704077" cy="30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Добавьте атрибуты форме</a:t>
            </a:r>
            <a:endParaRPr sz="1400"/>
          </a:p>
        </p:txBody>
      </p:sp>
      <p:sp>
        <p:nvSpPr>
          <p:cNvPr id="444840763" name="Text 21"/>
          <p:cNvSpPr/>
          <p:nvPr/>
        </p:nvSpPr>
        <p:spPr bwMode="auto">
          <a:xfrm>
            <a:off x="6721115" y="2286565"/>
            <a:ext cx="5061171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action="http://localhost:3000/api/messages" method="POST"</a:t>
            </a:r>
            <a:endParaRPr sz="1400"/>
          </a:p>
        </p:txBody>
      </p:sp>
      <p:sp>
        <p:nvSpPr>
          <p:cNvPr id="498026139" name="Shape 22"/>
          <p:cNvSpPr/>
          <p:nvPr/>
        </p:nvSpPr>
        <p:spPr bwMode="auto">
          <a:xfrm>
            <a:off x="6210479" y="2661634"/>
            <a:ext cx="5621515" cy="768213"/>
          </a:xfrm>
          <a:custGeom>
            <a:avLst/>
            <a:gdLst/>
            <a:ahLst/>
            <a:cxnLst/>
            <a:rect l="l" t="t" r="r" b="b"/>
            <a:pathLst>
              <a:path w="5621515" h="768213" fill="norm" stroke="1" extrusionOk="0">
                <a:moveTo>
                  <a:pt x="72304" y="0"/>
                </a:moveTo>
                <a:lnTo>
                  <a:pt x="5549211" y="0"/>
                </a:lnTo>
                <a:cubicBezTo>
                  <a:pt x="5589143" y="0"/>
                  <a:pt x="5621515" y="32372"/>
                  <a:pt x="5621515" y="72304"/>
                </a:cubicBezTo>
                <a:lnTo>
                  <a:pt x="5621515" y="695909"/>
                </a:lnTo>
                <a:cubicBezTo>
                  <a:pt x="5621515" y="735842"/>
                  <a:pt x="5589143" y="768213"/>
                  <a:pt x="5549211" y="768213"/>
                </a:cubicBezTo>
                <a:lnTo>
                  <a:pt x="72304" y="768213"/>
                </a:lnTo>
                <a:cubicBezTo>
                  <a:pt x="32372" y="768213"/>
                  <a:pt x="0" y="735842"/>
                  <a:pt x="0" y="695909"/>
                </a:cubicBezTo>
                <a:lnTo>
                  <a:pt x="0" y="72304"/>
                </a:lnTo>
                <a:cubicBezTo>
                  <a:pt x="0" y="32398"/>
                  <a:pt x="32398" y="0"/>
                  <a:pt x="7230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0419390" name="Shape 23"/>
          <p:cNvSpPr/>
          <p:nvPr/>
        </p:nvSpPr>
        <p:spPr bwMode="auto">
          <a:xfrm>
            <a:off x="6323452" y="2774606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 fill="norm" stroke="1" extrusionOk="0">
                <a:moveTo>
                  <a:pt x="72302" y="0"/>
                </a:moveTo>
                <a:lnTo>
                  <a:pt x="216907" y="0"/>
                </a:lnTo>
                <a:cubicBezTo>
                  <a:pt x="256812" y="0"/>
                  <a:pt x="289210" y="32398"/>
                  <a:pt x="289210" y="72302"/>
                </a:cubicBezTo>
                <a:lnTo>
                  <a:pt x="289210" y="216907"/>
                </a:lnTo>
                <a:cubicBezTo>
                  <a:pt x="289210" y="256812"/>
                  <a:pt x="256812" y="289210"/>
                  <a:pt x="216907" y="289210"/>
                </a:cubicBezTo>
                <a:lnTo>
                  <a:pt x="72302" y="289210"/>
                </a:lnTo>
                <a:cubicBezTo>
                  <a:pt x="32398" y="289210"/>
                  <a:pt x="0" y="256812"/>
                  <a:pt x="0" y="216907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3498241" name="Text 24"/>
          <p:cNvSpPr/>
          <p:nvPr/>
        </p:nvSpPr>
        <p:spPr bwMode="auto">
          <a:xfrm>
            <a:off x="6287300" y="2774606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2</a:t>
            </a:r>
            <a:endParaRPr lang="en-US" sz="1600"/>
          </a:p>
        </p:txBody>
      </p:sp>
      <p:sp>
        <p:nvSpPr>
          <p:cNvPr id="1986748373" name="Text 25"/>
          <p:cNvSpPr/>
          <p:nvPr/>
        </p:nvSpPr>
        <p:spPr bwMode="auto">
          <a:xfrm flipH="0" flipV="0">
            <a:off x="6721114" y="2810757"/>
            <a:ext cx="4174599" cy="25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Проверьте атрибуты name</a:t>
            </a:r>
            <a:endParaRPr sz="1400"/>
          </a:p>
        </p:txBody>
      </p:sp>
      <p:sp>
        <p:nvSpPr>
          <p:cNvPr id="1766782808" name="Text 26"/>
          <p:cNvSpPr/>
          <p:nvPr/>
        </p:nvSpPr>
        <p:spPr bwMode="auto">
          <a:xfrm flipH="0" flipV="0">
            <a:off x="6612661" y="3136118"/>
            <a:ext cx="5272052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У всех полей должен быть name="name", name="email", name="message"</a:t>
            </a:r>
            <a:endParaRPr sz="1200"/>
          </a:p>
        </p:txBody>
      </p:sp>
      <p:sp>
        <p:nvSpPr>
          <p:cNvPr id="1908416080" name="Shape 27"/>
          <p:cNvSpPr/>
          <p:nvPr/>
        </p:nvSpPr>
        <p:spPr bwMode="auto">
          <a:xfrm>
            <a:off x="6210479" y="3511188"/>
            <a:ext cx="5621515" cy="768213"/>
          </a:xfrm>
          <a:custGeom>
            <a:avLst/>
            <a:gdLst/>
            <a:ahLst/>
            <a:cxnLst/>
            <a:rect l="l" t="t" r="r" b="b"/>
            <a:pathLst>
              <a:path w="5621515" h="768213" fill="norm" stroke="1" extrusionOk="0">
                <a:moveTo>
                  <a:pt x="72304" y="0"/>
                </a:moveTo>
                <a:lnTo>
                  <a:pt x="5549211" y="0"/>
                </a:lnTo>
                <a:cubicBezTo>
                  <a:pt x="5589143" y="0"/>
                  <a:pt x="5621515" y="32372"/>
                  <a:pt x="5621515" y="72304"/>
                </a:cubicBezTo>
                <a:lnTo>
                  <a:pt x="5621515" y="695909"/>
                </a:lnTo>
                <a:cubicBezTo>
                  <a:pt x="5621515" y="735842"/>
                  <a:pt x="5589143" y="768213"/>
                  <a:pt x="5549211" y="768213"/>
                </a:cubicBezTo>
                <a:lnTo>
                  <a:pt x="72304" y="768213"/>
                </a:lnTo>
                <a:cubicBezTo>
                  <a:pt x="32372" y="768213"/>
                  <a:pt x="0" y="735842"/>
                  <a:pt x="0" y="695909"/>
                </a:cubicBezTo>
                <a:lnTo>
                  <a:pt x="0" y="72304"/>
                </a:lnTo>
                <a:cubicBezTo>
                  <a:pt x="0" y="32398"/>
                  <a:pt x="32398" y="0"/>
                  <a:pt x="7230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69706338" name="Shape 28"/>
          <p:cNvSpPr/>
          <p:nvPr/>
        </p:nvSpPr>
        <p:spPr bwMode="auto">
          <a:xfrm>
            <a:off x="6323452" y="3624160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 fill="norm" stroke="1" extrusionOk="0">
                <a:moveTo>
                  <a:pt x="72302" y="0"/>
                </a:moveTo>
                <a:lnTo>
                  <a:pt x="216907" y="0"/>
                </a:lnTo>
                <a:cubicBezTo>
                  <a:pt x="256812" y="0"/>
                  <a:pt x="289210" y="32398"/>
                  <a:pt x="289210" y="72302"/>
                </a:cubicBezTo>
                <a:lnTo>
                  <a:pt x="289210" y="216907"/>
                </a:lnTo>
                <a:cubicBezTo>
                  <a:pt x="289210" y="256812"/>
                  <a:pt x="256812" y="289210"/>
                  <a:pt x="216907" y="289210"/>
                </a:cubicBezTo>
                <a:lnTo>
                  <a:pt x="72302" y="289210"/>
                </a:lnTo>
                <a:cubicBezTo>
                  <a:pt x="32398" y="289210"/>
                  <a:pt x="0" y="256812"/>
                  <a:pt x="0" y="216907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6650129" name="Text 29"/>
          <p:cNvSpPr/>
          <p:nvPr/>
        </p:nvSpPr>
        <p:spPr bwMode="auto">
          <a:xfrm>
            <a:off x="6287300" y="3624160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3</a:t>
            </a:r>
            <a:endParaRPr lang="en-US" sz="1600"/>
          </a:p>
        </p:txBody>
      </p:sp>
      <p:sp>
        <p:nvSpPr>
          <p:cNvPr id="1390914654" name="Text 30"/>
          <p:cNvSpPr/>
          <p:nvPr/>
        </p:nvSpPr>
        <p:spPr bwMode="auto">
          <a:xfrm flipH="0" flipV="0">
            <a:off x="6721114" y="3624159"/>
            <a:ext cx="2639966" cy="25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ru-RU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Адрес сервера</a:t>
            </a:r>
            <a:endParaRPr sz="1400"/>
          </a:p>
        </p:txBody>
      </p:sp>
      <p:sp>
        <p:nvSpPr>
          <p:cNvPr id="1570184196" name="Text 31"/>
          <p:cNvSpPr/>
          <p:nvPr/>
        </p:nvSpPr>
        <p:spPr bwMode="auto">
          <a:xfrm flipH="0" flipV="0">
            <a:off x="6721114" y="3895294"/>
            <a:ext cx="5061170" cy="38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ru-RU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Сервер </a:t>
            </a: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API</a:t>
            </a:r>
            <a:r>
              <a:rPr lang="ru-RU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 </a:t>
            </a: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должен быть доступен по адресу http://</a:t>
            </a:r>
            <a:r>
              <a:rPr lang="en-US" sz="1200" b="0" i="0" u="none" strike="noStrike" cap="none" spc="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172.20.10.4</a:t>
            </a: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:3000/api/messages</a:t>
            </a:r>
            <a:endParaRPr sz="1200"/>
          </a:p>
        </p:txBody>
      </p:sp>
      <p:sp>
        <p:nvSpPr>
          <p:cNvPr id="101329998" name="Shape 32"/>
          <p:cNvSpPr/>
          <p:nvPr/>
        </p:nvSpPr>
        <p:spPr bwMode="auto">
          <a:xfrm>
            <a:off x="6210479" y="4360741"/>
            <a:ext cx="5621515" cy="768213"/>
          </a:xfrm>
          <a:custGeom>
            <a:avLst/>
            <a:gdLst/>
            <a:ahLst/>
            <a:cxnLst/>
            <a:rect l="l" t="t" r="r" b="b"/>
            <a:pathLst>
              <a:path w="5621515" h="768213" fill="norm" stroke="1" extrusionOk="0">
                <a:moveTo>
                  <a:pt x="72304" y="0"/>
                </a:moveTo>
                <a:lnTo>
                  <a:pt x="5549211" y="0"/>
                </a:lnTo>
                <a:cubicBezTo>
                  <a:pt x="5589143" y="0"/>
                  <a:pt x="5621515" y="32372"/>
                  <a:pt x="5621515" y="72304"/>
                </a:cubicBezTo>
                <a:lnTo>
                  <a:pt x="5621515" y="695909"/>
                </a:lnTo>
                <a:cubicBezTo>
                  <a:pt x="5621515" y="735842"/>
                  <a:pt x="5589143" y="768213"/>
                  <a:pt x="5549211" y="768213"/>
                </a:cubicBezTo>
                <a:lnTo>
                  <a:pt x="72304" y="768213"/>
                </a:lnTo>
                <a:cubicBezTo>
                  <a:pt x="32372" y="768213"/>
                  <a:pt x="0" y="735842"/>
                  <a:pt x="0" y="695909"/>
                </a:cubicBezTo>
                <a:lnTo>
                  <a:pt x="0" y="72304"/>
                </a:lnTo>
                <a:cubicBezTo>
                  <a:pt x="0" y="32398"/>
                  <a:pt x="32398" y="0"/>
                  <a:pt x="7230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87005708" name="Shape 33"/>
          <p:cNvSpPr/>
          <p:nvPr/>
        </p:nvSpPr>
        <p:spPr bwMode="auto">
          <a:xfrm>
            <a:off x="6323452" y="447371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 fill="norm" stroke="1" extrusionOk="0">
                <a:moveTo>
                  <a:pt x="72302" y="0"/>
                </a:moveTo>
                <a:lnTo>
                  <a:pt x="216907" y="0"/>
                </a:lnTo>
                <a:cubicBezTo>
                  <a:pt x="256812" y="0"/>
                  <a:pt x="289210" y="32398"/>
                  <a:pt x="289210" y="72302"/>
                </a:cubicBezTo>
                <a:lnTo>
                  <a:pt x="289210" y="216907"/>
                </a:lnTo>
                <a:cubicBezTo>
                  <a:pt x="289210" y="256812"/>
                  <a:pt x="256812" y="289210"/>
                  <a:pt x="216907" y="289210"/>
                </a:cubicBezTo>
                <a:lnTo>
                  <a:pt x="72302" y="289210"/>
                </a:lnTo>
                <a:cubicBezTo>
                  <a:pt x="32398" y="289210"/>
                  <a:pt x="0" y="256812"/>
                  <a:pt x="0" y="216907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99524195" name="Text 34"/>
          <p:cNvSpPr/>
          <p:nvPr/>
        </p:nvSpPr>
        <p:spPr bwMode="auto">
          <a:xfrm>
            <a:off x="6287300" y="4473714"/>
            <a:ext cx="36151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4</a:t>
            </a:r>
            <a:endParaRPr lang="en-US" sz="1600"/>
          </a:p>
        </p:txBody>
      </p:sp>
      <p:sp>
        <p:nvSpPr>
          <p:cNvPr id="1365039873" name="Text 35"/>
          <p:cNvSpPr/>
          <p:nvPr/>
        </p:nvSpPr>
        <p:spPr bwMode="auto">
          <a:xfrm flipH="0" flipV="0">
            <a:off x="6721114" y="4509864"/>
            <a:ext cx="4174599" cy="2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Отправьте сообщение</a:t>
            </a:r>
            <a:endParaRPr sz="1400"/>
          </a:p>
        </p:txBody>
      </p:sp>
      <p:sp>
        <p:nvSpPr>
          <p:cNvPr id="656108024" name="Text 36"/>
          <p:cNvSpPr/>
          <p:nvPr/>
        </p:nvSpPr>
        <p:spPr bwMode="auto">
          <a:xfrm>
            <a:off x="6721115" y="4835226"/>
            <a:ext cx="5061171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Заполните форму и нажмите "Отправить"</a:t>
            </a:r>
            <a:endParaRPr sz="1400"/>
          </a:p>
        </p:txBody>
      </p:sp>
      <p:sp>
        <p:nvSpPr>
          <p:cNvPr id="1481391912" name="Shape 37"/>
          <p:cNvSpPr/>
          <p:nvPr/>
        </p:nvSpPr>
        <p:spPr bwMode="auto">
          <a:xfrm>
            <a:off x="6210479" y="5210295"/>
            <a:ext cx="5621515" cy="1084537"/>
          </a:xfrm>
          <a:custGeom>
            <a:avLst/>
            <a:gdLst/>
            <a:ahLst/>
            <a:cxnLst/>
            <a:rect l="l" t="t" r="r" b="b"/>
            <a:pathLst>
              <a:path w="5621515" h="1084537" fill="norm" stroke="1" extrusionOk="0">
                <a:moveTo>
                  <a:pt x="72306" y="0"/>
                </a:moveTo>
                <a:lnTo>
                  <a:pt x="5549209" y="0"/>
                </a:lnTo>
                <a:cubicBezTo>
                  <a:pt x="5589143" y="0"/>
                  <a:pt x="5621515" y="32373"/>
                  <a:pt x="5621515" y="72306"/>
                </a:cubicBezTo>
                <a:lnTo>
                  <a:pt x="5621515" y="1012231"/>
                </a:lnTo>
                <a:cubicBezTo>
                  <a:pt x="5621515" y="1052164"/>
                  <a:pt x="5589143" y="1084537"/>
                  <a:pt x="5549209" y="1084537"/>
                </a:cubicBezTo>
                <a:lnTo>
                  <a:pt x="72306" y="1084537"/>
                </a:lnTo>
                <a:cubicBezTo>
                  <a:pt x="32399" y="1084537"/>
                  <a:pt x="0" y="1052137"/>
                  <a:pt x="0" y="1012231"/>
                </a:cubicBezTo>
                <a:lnTo>
                  <a:pt x="0" y="72306"/>
                </a:lnTo>
                <a:cubicBezTo>
                  <a:pt x="0" y="32399"/>
                  <a:pt x="32399" y="0"/>
                  <a:pt x="7230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62671505" name="Text 38"/>
          <p:cNvSpPr/>
          <p:nvPr/>
        </p:nvSpPr>
        <p:spPr bwMode="auto">
          <a:xfrm>
            <a:off x="6323452" y="5323268"/>
            <a:ext cx="5458835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Ожидаемый формат данных:</a:t>
            </a:r>
            <a:endParaRPr sz="1400"/>
          </a:p>
        </p:txBody>
      </p:sp>
      <p:sp>
        <p:nvSpPr>
          <p:cNvPr id="1456884751" name="Shape 39"/>
          <p:cNvSpPr/>
          <p:nvPr/>
        </p:nvSpPr>
        <p:spPr bwMode="auto">
          <a:xfrm>
            <a:off x="6323452" y="5540175"/>
            <a:ext cx="5395570" cy="641684"/>
          </a:xfrm>
          <a:custGeom>
            <a:avLst/>
            <a:gdLst/>
            <a:ahLst/>
            <a:cxnLst/>
            <a:rect l="l" t="t" r="r" b="b"/>
            <a:pathLst>
              <a:path w="5395570" h="641684" fill="norm" stroke="1" extrusionOk="0">
                <a:moveTo>
                  <a:pt x="72305" y="0"/>
                </a:moveTo>
                <a:lnTo>
                  <a:pt x="5323265" y="0"/>
                </a:lnTo>
                <a:cubicBezTo>
                  <a:pt x="5363198" y="0"/>
                  <a:pt x="5395570" y="32372"/>
                  <a:pt x="5395570" y="72305"/>
                </a:cubicBezTo>
                <a:lnTo>
                  <a:pt x="5395570" y="569379"/>
                </a:lnTo>
                <a:cubicBezTo>
                  <a:pt x="5395570" y="609312"/>
                  <a:pt x="5363198" y="641684"/>
                  <a:pt x="5323265" y="641684"/>
                </a:cubicBezTo>
                <a:lnTo>
                  <a:pt x="72305" y="641684"/>
                </a:lnTo>
                <a:cubicBezTo>
                  <a:pt x="32372" y="641684"/>
                  <a:pt x="0" y="609312"/>
                  <a:pt x="0" y="569379"/>
                </a:cubicBezTo>
                <a:lnTo>
                  <a:pt x="0" y="72305"/>
                </a:lnTo>
                <a:cubicBezTo>
                  <a:pt x="0" y="32372"/>
                  <a:pt x="32372" y="0"/>
                  <a:pt x="7230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976743575" name="Text 40"/>
          <p:cNvSpPr/>
          <p:nvPr/>
        </p:nvSpPr>
        <p:spPr bwMode="auto">
          <a:xfrm>
            <a:off x="6323452" y="5540175"/>
            <a:ext cx="5454316" cy="641684"/>
          </a:xfrm>
          <a:prstGeom prst="rect">
            <a:avLst/>
          </a:prstGeom>
          <a:noFill/>
          <a:ln/>
        </p:spPr>
        <p:txBody>
          <a:bodyPr wrap="square" lIns="144605" tIns="144605" rIns="144605" bIns="144605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{ "name": "Student", "email": "student@example.com", "message": "Hello!" }</a:t>
            </a:r>
            <a:endParaRPr sz="1400"/>
          </a:p>
        </p:txBody>
      </p:sp>
      <p:sp>
        <p:nvSpPr>
          <p:cNvPr id="1550875359" name="Shape 41"/>
          <p:cNvSpPr/>
          <p:nvPr/>
        </p:nvSpPr>
        <p:spPr bwMode="auto">
          <a:xfrm>
            <a:off x="366031" y="6412323"/>
            <a:ext cx="11459938" cy="442852"/>
          </a:xfrm>
          <a:custGeom>
            <a:avLst/>
            <a:gdLst/>
            <a:ahLst/>
            <a:cxnLst/>
            <a:rect l="l" t="t" r="r" b="b"/>
            <a:pathLst>
              <a:path w="11459938" h="442852" fill="norm" stroke="1" extrusionOk="0">
                <a:moveTo>
                  <a:pt x="108455" y="0"/>
                </a:moveTo>
                <a:lnTo>
                  <a:pt x="11351483" y="0"/>
                </a:lnTo>
                <a:cubicBezTo>
                  <a:pt x="11411381" y="0"/>
                  <a:pt x="11459938" y="48557"/>
                  <a:pt x="11459938" y="108455"/>
                </a:cubicBezTo>
                <a:lnTo>
                  <a:pt x="11459938" y="334398"/>
                </a:lnTo>
                <a:cubicBezTo>
                  <a:pt x="11459938" y="394296"/>
                  <a:pt x="11411381" y="442852"/>
                  <a:pt x="11351483" y="442852"/>
                </a:cubicBezTo>
                <a:lnTo>
                  <a:pt x="108455" y="442852"/>
                </a:lnTo>
                <a:cubicBezTo>
                  <a:pt x="48557" y="442852"/>
                  <a:pt x="0" y="394296"/>
                  <a:pt x="0" y="334398"/>
                </a:cubicBezTo>
                <a:lnTo>
                  <a:pt x="0" y="108455"/>
                </a:lnTo>
                <a:cubicBezTo>
                  <a:pt x="0" y="48557"/>
                  <a:pt x="48557" y="0"/>
                  <a:pt x="10845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230850266" name="Shape 42"/>
          <p:cNvSpPr/>
          <p:nvPr/>
        </p:nvSpPr>
        <p:spPr bwMode="auto">
          <a:xfrm>
            <a:off x="501598" y="6543371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 fill="norm" stroke="1" extrusionOk="0">
                <a:moveTo>
                  <a:pt x="90378" y="0"/>
                </a:moveTo>
                <a:cubicBezTo>
                  <a:pt x="140259" y="0"/>
                  <a:pt x="180756" y="40497"/>
                  <a:pt x="180756" y="90378"/>
                </a:cubicBezTo>
                <a:cubicBezTo>
                  <a:pt x="180756" y="140259"/>
                  <a:pt x="140259" y="180756"/>
                  <a:pt x="90378" y="180756"/>
                </a:cubicBezTo>
                <a:cubicBezTo>
                  <a:pt x="40497" y="180756"/>
                  <a:pt x="0" y="140259"/>
                  <a:pt x="0" y="90378"/>
                </a:cubicBezTo>
                <a:cubicBezTo>
                  <a:pt x="0" y="40497"/>
                  <a:pt x="40497" y="0"/>
                  <a:pt x="90378" y="0"/>
                </a:cubicBezTo>
                <a:close/>
                <a:moveTo>
                  <a:pt x="81905" y="42365"/>
                </a:moveTo>
                <a:lnTo>
                  <a:pt x="81905" y="90378"/>
                </a:lnTo>
                <a:cubicBezTo>
                  <a:pt x="81905" y="93202"/>
                  <a:pt x="83317" y="95850"/>
                  <a:pt x="85683" y="97439"/>
                </a:cubicBezTo>
                <a:lnTo>
                  <a:pt x="119574" y="120033"/>
                </a:lnTo>
                <a:cubicBezTo>
                  <a:pt x="123458" y="122646"/>
                  <a:pt x="128718" y="121587"/>
                  <a:pt x="131331" y="117668"/>
                </a:cubicBezTo>
                <a:cubicBezTo>
                  <a:pt x="133943" y="113749"/>
                  <a:pt x="132884" y="108524"/>
                  <a:pt x="128965" y="105912"/>
                </a:cubicBezTo>
                <a:lnTo>
                  <a:pt x="98851" y="85859"/>
                </a:lnTo>
                <a:lnTo>
                  <a:pt x="98851" y="42365"/>
                </a:lnTo>
                <a:cubicBezTo>
                  <a:pt x="98851" y="37669"/>
                  <a:pt x="95073" y="33892"/>
                  <a:pt x="90378" y="33892"/>
                </a:cubicBezTo>
                <a:cubicBezTo>
                  <a:pt x="85683" y="33892"/>
                  <a:pt x="81905" y="37669"/>
                  <a:pt x="81905" y="4236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8317751" name="Text 43"/>
          <p:cNvSpPr/>
          <p:nvPr/>
        </p:nvSpPr>
        <p:spPr bwMode="auto">
          <a:xfrm>
            <a:off x="849554" y="6525296"/>
            <a:ext cx="582034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Время выполнения:</a:t>
            </a:r>
            <a:r>
              <a:rPr lang="en-US" sz="16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1</a:t>
            </a:r>
            <a:r>
              <a:rPr lang="ru-RU" sz="16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5</a:t>
            </a:r>
            <a:r>
              <a:rPr lang="en-US" sz="16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минут. </a:t>
            </a:r>
            <a:endParaRPr sz="1600"/>
          </a:p>
        </p:txBody>
      </p:sp>
      <p:pic>
        <p:nvPicPr>
          <p:cNvPr id="1053613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51551" y="1894467"/>
            <a:ext cx="3497928" cy="30690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122891" name="Text 0"/>
          <p:cNvSpPr/>
          <p:nvPr/>
        </p:nvSpPr>
        <p:spPr bwMode="auto"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Теория</a:t>
            </a:r>
            <a:endParaRPr lang="en-US" sz="1600"/>
          </a:p>
        </p:txBody>
      </p:sp>
      <p:sp>
        <p:nvSpPr>
          <p:cNvPr id="1893170059" name="Text 1"/>
          <p:cNvSpPr/>
          <p:nvPr/>
        </p:nvSpPr>
        <p:spPr bwMode="auto"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27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Тестирование и анализ работы формы</a:t>
            </a:r>
            <a:endParaRPr lang="en-US" sz="1600"/>
          </a:p>
        </p:txBody>
      </p:sp>
      <p:sp>
        <p:nvSpPr>
          <p:cNvPr id="2079525910" name="Text 2"/>
          <p:cNvSpPr/>
          <p:nvPr/>
        </p:nvSpPr>
        <p:spPr bwMode="auto"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Chrome DevTools: Network, Console, отладка</a:t>
            </a:r>
            <a:endParaRPr lang="en-US" sz="1600"/>
          </a:p>
        </p:txBody>
      </p:sp>
      <p:sp>
        <p:nvSpPr>
          <p:cNvPr id="1602074602" name="Shape 3"/>
          <p:cNvSpPr/>
          <p:nvPr/>
        </p:nvSpPr>
        <p:spPr bwMode="auto">
          <a:xfrm>
            <a:off x="392905" y="156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06184797" name="Text 4"/>
          <p:cNvSpPr/>
          <p:nvPr/>
        </p:nvSpPr>
        <p:spPr bwMode="auto">
          <a:xfrm>
            <a:off x="619125" y="15240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Chrome DevTools</a:t>
            </a:r>
            <a:endParaRPr lang="en-US" sz="1600"/>
          </a:p>
        </p:txBody>
      </p:sp>
      <p:sp>
        <p:nvSpPr>
          <p:cNvPr id="54456632" name="Shape 5"/>
          <p:cNvSpPr/>
          <p:nvPr/>
        </p:nvSpPr>
        <p:spPr bwMode="auto">
          <a:xfrm>
            <a:off x="385762" y="1909762"/>
            <a:ext cx="5591175" cy="1000125"/>
          </a:xfrm>
          <a:custGeom>
            <a:avLst/>
            <a:gdLst/>
            <a:ahLst/>
            <a:cxnLst/>
            <a:rect l="l" t="t" r="r" b="b"/>
            <a:pathLst>
              <a:path w="5591175" h="1000125" fill="norm" stroke="1" extrusionOk="0">
                <a:moveTo>
                  <a:pt x="76200" y="0"/>
                </a:moveTo>
                <a:lnTo>
                  <a:pt x="5514975" y="0"/>
                </a:lnTo>
                <a:cubicBezTo>
                  <a:pt x="5557059" y="0"/>
                  <a:pt x="5591175" y="34116"/>
                  <a:pt x="5591175" y="76200"/>
                </a:cubicBezTo>
                <a:lnTo>
                  <a:pt x="5591175" y="923925"/>
                </a:lnTo>
                <a:cubicBezTo>
                  <a:pt x="5591175" y="966009"/>
                  <a:pt x="5557059" y="1000125"/>
                  <a:pt x="55149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86726940" name="Text 6"/>
          <p:cNvSpPr/>
          <p:nvPr/>
        </p:nvSpPr>
        <p:spPr bwMode="auto">
          <a:xfrm>
            <a:off x="504825" y="202882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Вкладка Network</a:t>
            </a:r>
            <a:endParaRPr sz="1400"/>
          </a:p>
        </p:txBody>
      </p:sp>
      <p:sp>
        <p:nvSpPr>
          <p:cNvPr id="1698551679" name="Text 7"/>
          <p:cNvSpPr/>
          <p:nvPr/>
        </p:nvSpPr>
        <p:spPr bwMode="auto">
          <a:xfrm>
            <a:off x="504825" y="233362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Отслеживание всех HTTP-запросов</a:t>
            </a:r>
            <a:endParaRPr sz="1400"/>
          </a:p>
        </p:txBody>
      </p:sp>
      <p:sp>
        <p:nvSpPr>
          <p:cNvPr id="1187748581" name="Shape 8"/>
          <p:cNvSpPr/>
          <p:nvPr/>
        </p:nvSpPr>
        <p:spPr bwMode="auto">
          <a:xfrm>
            <a:off x="515541" y="26289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 fill="norm" stroke="1" extrusionOk="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08312848" name="Text 9"/>
          <p:cNvSpPr/>
          <p:nvPr/>
        </p:nvSpPr>
        <p:spPr bwMode="auto">
          <a:xfrm flipH="0" flipV="0">
            <a:off x="747712" y="2600325"/>
            <a:ext cx="3199286" cy="309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F12 → Network → Fetch/XHR</a:t>
            </a:r>
            <a:endParaRPr sz="1400"/>
          </a:p>
        </p:txBody>
      </p:sp>
      <p:sp>
        <p:nvSpPr>
          <p:cNvPr id="1855096086" name="Shape 10"/>
          <p:cNvSpPr/>
          <p:nvPr/>
        </p:nvSpPr>
        <p:spPr bwMode="auto">
          <a:xfrm>
            <a:off x="385762" y="2995613"/>
            <a:ext cx="5591175" cy="1000125"/>
          </a:xfrm>
          <a:custGeom>
            <a:avLst/>
            <a:gdLst/>
            <a:ahLst/>
            <a:cxnLst/>
            <a:rect l="l" t="t" r="r" b="b"/>
            <a:pathLst>
              <a:path w="5591175" h="1000125" fill="norm" stroke="1" extrusionOk="0">
                <a:moveTo>
                  <a:pt x="76200" y="0"/>
                </a:moveTo>
                <a:lnTo>
                  <a:pt x="5514975" y="0"/>
                </a:lnTo>
                <a:cubicBezTo>
                  <a:pt x="5557059" y="0"/>
                  <a:pt x="5591175" y="34116"/>
                  <a:pt x="5591175" y="76200"/>
                </a:cubicBezTo>
                <a:lnTo>
                  <a:pt x="5591175" y="923925"/>
                </a:lnTo>
                <a:cubicBezTo>
                  <a:pt x="5591175" y="966009"/>
                  <a:pt x="5557059" y="1000125"/>
                  <a:pt x="55149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05010678" name="Text 11"/>
          <p:cNvSpPr/>
          <p:nvPr/>
        </p:nvSpPr>
        <p:spPr bwMode="auto">
          <a:xfrm>
            <a:off x="504825" y="311467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Вкладка Console</a:t>
            </a:r>
            <a:endParaRPr sz="1400"/>
          </a:p>
        </p:txBody>
      </p:sp>
      <p:sp>
        <p:nvSpPr>
          <p:cNvPr id="23921977" name="Text 12"/>
          <p:cNvSpPr/>
          <p:nvPr/>
        </p:nvSpPr>
        <p:spPr bwMode="auto">
          <a:xfrm>
            <a:off x="504825" y="341947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Ошибки JavaScript и логи</a:t>
            </a:r>
            <a:endParaRPr sz="1400"/>
          </a:p>
        </p:txBody>
      </p:sp>
      <p:sp>
        <p:nvSpPr>
          <p:cNvPr id="1170916425" name="Shape 13"/>
          <p:cNvSpPr/>
          <p:nvPr/>
        </p:nvSpPr>
        <p:spPr bwMode="auto">
          <a:xfrm>
            <a:off x="515541" y="37147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 fill="norm" stroke="1" extrusionOk="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07290345" name="Text 14"/>
          <p:cNvSpPr/>
          <p:nvPr/>
        </p:nvSpPr>
        <p:spPr bwMode="auto">
          <a:xfrm flipH="0" flipV="0">
            <a:off x="747712" y="3686175"/>
            <a:ext cx="1747858" cy="24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F12 → Console</a:t>
            </a:r>
            <a:endParaRPr sz="1400"/>
          </a:p>
        </p:txBody>
      </p:sp>
      <p:sp>
        <p:nvSpPr>
          <p:cNvPr id="612506814" name="Shape 15"/>
          <p:cNvSpPr/>
          <p:nvPr/>
        </p:nvSpPr>
        <p:spPr bwMode="auto">
          <a:xfrm>
            <a:off x="385762" y="4081463"/>
            <a:ext cx="5591175" cy="1000125"/>
          </a:xfrm>
          <a:custGeom>
            <a:avLst/>
            <a:gdLst/>
            <a:ahLst/>
            <a:cxnLst/>
            <a:rect l="l" t="t" r="r" b="b"/>
            <a:pathLst>
              <a:path w="5591175" h="1000125" fill="norm" stroke="1" extrusionOk="0">
                <a:moveTo>
                  <a:pt x="76200" y="0"/>
                </a:moveTo>
                <a:lnTo>
                  <a:pt x="5514975" y="0"/>
                </a:lnTo>
                <a:cubicBezTo>
                  <a:pt x="5557059" y="0"/>
                  <a:pt x="5591175" y="34116"/>
                  <a:pt x="5591175" y="76200"/>
                </a:cubicBezTo>
                <a:lnTo>
                  <a:pt x="5591175" y="923925"/>
                </a:lnTo>
                <a:cubicBezTo>
                  <a:pt x="5591175" y="966009"/>
                  <a:pt x="5557059" y="1000125"/>
                  <a:pt x="55149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23951338" name="Text 16"/>
          <p:cNvSpPr/>
          <p:nvPr/>
        </p:nvSpPr>
        <p:spPr bwMode="auto">
          <a:xfrm>
            <a:off x="504825" y="420052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Elements</a:t>
            </a:r>
            <a:endParaRPr sz="1400"/>
          </a:p>
        </p:txBody>
      </p:sp>
      <p:sp>
        <p:nvSpPr>
          <p:cNvPr id="957104192" name="Text 17"/>
          <p:cNvSpPr/>
          <p:nvPr/>
        </p:nvSpPr>
        <p:spPr bwMode="auto">
          <a:xfrm>
            <a:off x="504825" y="450532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Просмотр и редактирование DOM</a:t>
            </a:r>
            <a:endParaRPr sz="1400"/>
          </a:p>
        </p:txBody>
      </p:sp>
      <p:sp>
        <p:nvSpPr>
          <p:cNvPr id="1133887900" name="Shape 18"/>
          <p:cNvSpPr/>
          <p:nvPr/>
        </p:nvSpPr>
        <p:spPr bwMode="auto">
          <a:xfrm>
            <a:off x="515541" y="48006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 fill="norm" stroke="1" extrusionOk="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41925857" name="Text 19"/>
          <p:cNvSpPr/>
          <p:nvPr/>
        </p:nvSpPr>
        <p:spPr bwMode="auto">
          <a:xfrm flipH="0" flipV="0">
            <a:off x="747712" y="4772025"/>
            <a:ext cx="2364715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F12 → Elements</a:t>
            </a:r>
            <a:endParaRPr sz="1400"/>
          </a:p>
        </p:txBody>
      </p:sp>
      <p:sp>
        <p:nvSpPr>
          <p:cNvPr id="228816423" name="Shape 20"/>
          <p:cNvSpPr/>
          <p:nvPr/>
        </p:nvSpPr>
        <p:spPr bwMode="auto">
          <a:xfrm>
            <a:off x="6222206" y="156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5452602" name="Text 21"/>
          <p:cNvSpPr/>
          <p:nvPr/>
        </p:nvSpPr>
        <p:spPr bwMode="auto">
          <a:xfrm>
            <a:off x="6448425" y="1524000"/>
            <a:ext cx="545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Анализ запроса</a:t>
            </a:r>
            <a:endParaRPr lang="en-US" sz="1600"/>
          </a:p>
        </p:txBody>
      </p:sp>
      <p:sp>
        <p:nvSpPr>
          <p:cNvPr id="1969042465" name="Shape 22"/>
          <p:cNvSpPr/>
          <p:nvPr/>
        </p:nvSpPr>
        <p:spPr bwMode="auto">
          <a:xfrm>
            <a:off x="6215063" y="1909762"/>
            <a:ext cx="5591175" cy="1647825"/>
          </a:xfrm>
          <a:custGeom>
            <a:avLst/>
            <a:gdLst/>
            <a:ahLst/>
            <a:cxnLst/>
            <a:rect l="l" t="t" r="r" b="b"/>
            <a:pathLst>
              <a:path w="5591175" h="1647825" fill="norm" stroke="1" extrusionOk="0">
                <a:moveTo>
                  <a:pt x="76195" y="0"/>
                </a:moveTo>
                <a:lnTo>
                  <a:pt x="5514980" y="0"/>
                </a:lnTo>
                <a:cubicBezTo>
                  <a:pt x="5557033" y="0"/>
                  <a:pt x="5591175" y="34142"/>
                  <a:pt x="5591175" y="76195"/>
                </a:cubicBezTo>
                <a:lnTo>
                  <a:pt x="5591175" y="1571630"/>
                </a:lnTo>
                <a:cubicBezTo>
                  <a:pt x="5591175" y="1613711"/>
                  <a:pt x="5557061" y="1647825"/>
                  <a:pt x="5514980" y="1647825"/>
                </a:cubicBezTo>
                <a:lnTo>
                  <a:pt x="76195" y="1647825"/>
                </a:lnTo>
                <a:cubicBezTo>
                  <a:pt x="34142" y="1647825"/>
                  <a:pt x="0" y="1613683"/>
                  <a:pt x="0" y="15716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8655955" name="Text 23"/>
          <p:cNvSpPr/>
          <p:nvPr/>
        </p:nvSpPr>
        <p:spPr bwMode="auto">
          <a:xfrm>
            <a:off x="6334125" y="202882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Что проверять в Network</a:t>
            </a:r>
            <a:endParaRPr sz="1600"/>
          </a:p>
        </p:txBody>
      </p:sp>
      <p:sp>
        <p:nvSpPr>
          <p:cNvPr id="317626777" name="Text 24"/>
          <p:cNvSpPr/>
          <p:nvPr/>
        </p:nvSpPr>
        <p:spPr bwMode="auto">
          <a:xfrm>
            <a:off x="6334125" y="233362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</a:t>
            </a:r>
            <a:r>
              <a:rPr lang="en-US" sz="1400" b="1">
                <a:solidFill>
                  <a:srgbClr val="86868B"/>
                </a:solidFill>
                <a:latin typeface="MiSans"/>
                <a:ea typeface="MiSans"/>
                <a:cs typeface="MiSans"/>
              </a:rPr>
              <a:t>Method:</a:t>
            </a: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 GET или POST</a:t>
            </a:r>
            <a:endParaRPr sz="1400"/>
          </a:p>
        </p:txBody>
      </p:sp>
      <p:sp>
        <p:nvSpPr>
          <p:cNvPr id="315797101" name="Text 25"/>
          <p:cNvSpPr/>
          <p:nvPr/>
        </p:nvSpPr>
        <p:spPr bwMode="auto">
          <a:xfrm>
            <a:off x="6334125" y="256222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</a:t>
            </a:r>
            <a:r>
              <a:rPr lang="en-US" sz="1400" b="1">
                <a:solidFill>
                  <a:srgbClr val="86868B"/>
                </a:solidFill>
                <a:latin typeface="MiSans"/>
                <a:ea typeface="MiSans"/>
                <a:cs typeface="MiSans"/>
              </a:rPr>
              <a:t>Status:</a:t>
            </a: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 200, 201, 400, 404, 500</a:t>
            </a:r>
            <a:endParaRPr sz="1400"/>
          </a:p>
        </p:txBody>
      </p:sp>
      <p:sp>
        <p:nvSpPr>
          <p:cNvPr id="477467716" name="Text 26"/>
          <p:cNvSpPr/>
          <p:nvPr/>
        </p:nvSpPr>
        <p:spPr bwMode="auto">
          <a:xfrm>
            <a:off x="6334125" y="2790824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</a:t>
            </a:r>
            <a:r>
              <a:rPr lang="en-US" sz="1400" b="1">
                <a:solidFill>
                  <a:srgbClr val="86868B"/>
                </a:solidFill>
                <a:latin typeface="MiSans"/>
                <a:ea typeface="MiSans"/>
                <a:cs typeface="MiSans"/>
              </a:rPr>
              <a:t>URL:</a:t>
            </a: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 правильный endpoint</a:t>
            </a:r>
            <a:endParaRPr sz="1400"/>
          </a:p>
        </p:txBody>
      </p:sp>
      <p:sp>
        <p:nvSpPr>
          <p:cNvPr id="1822094891" name="Text 27"/>
          <p:cNvSpPr/>
          <p:nvPr/>
        </p:nvSpPr>
        <p:spPr bwMode="auto">
          <a:xfrm>
            <a:off x="6334125" y="301942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</a:t>
            </a:r>
            <a:r>
              <a:rPr lang="en-US" sz="1400" b="1">
                <a:solidFill>
                  <a:srgbClr val="86868B"/>
                </a:solidFill>
                <a:latin typeface="MiSans"/>
                <a:ea typeface="MiSans"/>
                <a:cs typeface="MiSans"/>
              </a:rPr>
              <a:t>Payload:</a:t>
            </a: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 тело запроса</a:t>
            </a:r>
            <a:endParaRPr sz="1400"/>
          </a:p>
        </p:txBody>
      </p:sp>
      <p:sp>
        <p:nvSpPr>
          <p:cNvPr id="975370805" name="Text 28"/>
          <p:cNvSpPr/>
          <p:nvPr/>
        </p:nvSpPr>
        <p:spPr bwMode="auto">
          <a:xfrm>
            <a:off x="6334125" y="324802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</a:t>
            </a:r>
            <a:r>
              <a:rPr lang="en-US" sz="1400" b="1">
                <a:solidFill>
                  <a:srgbClr val="86868B"/>
                </a:solidFill>
                <a:latin typeface="MiSans"/>
                <a:ea typeface="MiSans"/>
                <a:cs typeface="MiSans"/>
              </a:rPr>
              <a:t>Response:</a:t>
            </a: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 ответ сервера</a:t>
            </a:r>
            <a:endParaRPr sz="1400"/>
          </a:p>
        </p:txBody>
      </p:sp>
      <p:sp>
        <p:nvSpPr>
          <p:cNvPr id="1017510834" name="Shape 29"/>
          <p:cNvSpPr/>
          <p:nvPr/>
        </p:nvSpPr>
        <p:spPr bwMode="auto">
          <a:xfrm>
            <a:off x="6215063" y="3643313"/>
            <a:ext cx="5591175" cy="1571625"/>
          </a:xfrm>
          <a:custGeom>
            <a:avLst/>
            <a:gdLst/>
            <a:ahLst/>
            <a:cxnLst/>
            <a:rect l="l" t="t" r="r" b="b"/>
            <a:pathLst>
              <a:path w="5591175" h="1571625" fill="norm" stroke="1" extrusionOk="0">
                <a:moveTo>
                  <a:pt x="76192" y="0"/>
                </a:moveTo>
                <a:lnTo>
                  <a:pt x="5514983" y="0"/>
                </a:lnTo>
                <a:cubicBezTo>
                  <a:pt x="5557063" y="0"/>
                  <a:pt x="5591175" y="34112"/>
                  <a:pt x="5591175" y="76192"/>
                </a:cubicBezTo>
                <a:lnTo>
                  <a:pt x="5591175" y="1495433"/>
                </a:lnTo>
                <a:cubicBezTo>
                  <a:pt x="5591175" y="1537513"/>
                  <a:pt x="5557063" y="1571625"/>
                  <a:pt x="551498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76900924" name="Text 30"/>
          <p:cNvSpPr/>
          <p:nvPr/>
        </p:nvSpPr>
        <p:spPr bwMode="auto">
          <a:xfrm>
            <a:off x="6334125" y="376237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HTTP статусы</a:t>
            </a:r>
            <a:endParaRPr sz="1600"/>
          </a:p>
        </p:txBody>
      </p:sp>
      <p:sp>
        <p:nvSpPr>
          <p:cNvPr id="1249442891" name="Shape 31"/>
          <p:cNvSpPr/>
          <p:nvPr/>
        </p:nvSpPr>
        <p:spPr bwMode="auto">
          <a:xfrm>
            <a:off x="6334125" y="4067175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 fill="norm" stroke="1" extrusionOk="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903303558" name="Text 32"/>
          <p:cNvSpPr/>
          <p:nvPr/>
        </p:nvSpPr>
        <p:spPr bwMode="auto">
          <a:xfrm>
            <a:off x="6334125" y="4067175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008236"/>
                </a:solidFill>
                <a:latin typeface="MiSans"/>
                <a:ea typeface="MiSans"/>
                <a:cs typeface="MiSans"/>
              </a:rPr>
              <a:t>200</a:t>
            </a:r>
            <a:endParaRPr lang="en-US" sz="1600"/>
          </a:p>
        </p:txBody>
      </p:sp>
      <p:sp>
        <p:nvSpPr>
          <p:cNvPr id="848987791" name="Text 33"/>
          <p:cNvSpPr/>
          <p:nvPr/>
        </p:nvSpPr>
        <p:spPr bwMode="auto">
          <a:xfrm flipH="0" flipV="0">
            <a:off x="6777354" y="4086225"/>
            <a:ext cx="1841430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OK - Успешно</a:t>
            </a:r>
            <a:endParaRPr sz="1200"/>
          </a:p>
        </p:txBody>
      </p:sp>
      <p:sp>
        <p:nvSpPr>
          <p:cNvPr id="1179356533" name="Shape 34"/>
          <p:cNvSpPr/>
          <p:nvPr/>
        </p:nvSpPr>
        <p:spPr bwMode="auto">
          <a:xfrm>
            <a:off x="6334125" y="4333875"/>
            <a:ext cx="342900" cy="228600"/>
          </a:xfrm>
          <a:custGeom>
            <a:avLst/>
            <a:gdLst/>
            <a:ahLst/>
            <a:cxnLst/>
            <a:rect l="l" t="t" r="r" b="b"/>
            <a:pathLst>
              <a:path w="342900" h="228600" fill="norm" stroke="1" extrusionOk="0">
                <a:moveTo>
                  <a:pt x="38101" y="0"/>
                </a:moveTo>
                <a:lnTo>
                  <a:pt x="304799" y="0"/>
                </a:lnTo>
                <a:cubicBezTo>
                  <a:pt x="325842" y="0"/>
                  <a:pt x="342900" y="17058"/>
                  <a:pt x="342900" y="38101"/>
                </a:cubicBezTo>
                <a:lnTo>
                  <a:pt x="342900" y="190499"/>
                </a:lnTo>
                <a:cubicBezTo>
                  <a:pt x="342900" y="211542"/>
                  <a:pt x="325842" y="228600"/>
                  <a:pt x="304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383111758" name="Text 35"/>
          <p:cNvSpPr/>
          <p:nvPr/>
        </p:nvSpPr>
        <p:spPr bwMode="auto">
          <a:xfrm flipH="0" flipV="0">
            <a:off x="6334124" y="4333874"/>
            <a:ext cx="447198" cy="228600"/>
          </a:xfrm>
          <a:prstGeom prst="rect">
            <a:avLst/>
          </a:prstGeom>
          <a:noFill/>
          <a:ln/>
        </p:spPr>
        <p:txBody>
          <a:bodyPr wrap="square" lIns="76199" tIns="38099" rIns="76199" bIns="3809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008236"/>
                </a:solidFill>
                <a:latin typeface="MiSans"/>
                <a:ea typeface="MiSans"/>
                <a:cs typeface="MiSans"/>
              </a:rPr>
              <a:t>201</a:t>
            </a:r>
            <a:endParaRPr lang="en-US" sz="1600"/>
          </a:p>
        </p:txBody>
      </p:sp>
      <p:sp>
        <p:nvSpPr>
          <p:cNvPr id="734498300" name="Text 36"/>
          <p:cNvSpPr/>
          <p:nvPr/>
        </p:nvSpPr>
        <p:spPr bwMode="auto">
          <a:xfrm flipH="0" flipV="0">
            <a:off x="6750684" y="4352924"/>
            <a:ext cx="1722957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Created - Создано</a:t>
            </a:r>
            <a:endParaRPr sz="1200"/>
          </a:p>
        </p:txBody>
      </p:sp>
      <p:sp>
        <p:nvSpPr>
          <p:cNvPr id="1523951905" name="Shape 37"/>
          <p:cNvSpPr/>
          <p:nvPr/>
        </p:nvSpPr>
        <p:spPr bwMode="auto">
          <a:xfrm>
            <a:off x="6334125" y="4600575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 fill="norm" stroke="1" extrusionOk="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1878098336" name="Text 38"/>
          <p:cNvSpPr/>
          <p:nvPr/>
        </p:nvSpPr>
        <p:spPr bwMode="auto">
          <a:xfrm>
            <a:off x="6334125" y="4600575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A65F00"/>
                </a:solidFill>
                <a:latin typeface="MiSans"/>
                <a:ea typeface="MiSans"/>
                <a:cs typeface="MiSans"/>
              </a:rPr>
              <a:t>400</a:t>
            </a:r>
            <a:endParaRPr sz="1200"/>
          </a:p>
        </p:txBody>
      </p:sp>
      <p:sp>
        <p:nvSpPr>
          <p:cNvPr id="2002366993" name="Text 39"/>
          <p:cNvSpPr/>
          <p:nvPr/>
        </p:nvSpPr>
        <p:spPr bwMode="auto">
          <a:xfrm flipH="0" flipV="0">
            <a:off x="6780053" y="4619624"/>
            <a:ext cx="2872874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Bad Request - Ошибка в запросе</a:t>
            </a:r>
            <a:endParaRPr sz="1200"/>
          </a:p>
        </p:txBody>
      </p:sp>
      <p:sp>
        <p:nvSpPr>
          <p:cNvPr id="950127668" name="Shape 40"/>
          <p:cNvSpPr/>
          <p:nvPr/>
        </p:nvSpPr>
        <p:spPr bwMode="auto">
          <a:xfrm>
            <a:off x="6334125" y="4867274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 fill="norm" stroke="1" extrusionOk="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1187710317" name="Text 41"/>
          <p:cNvSpPr/>
          <p:nvPr/>
        </p:nvSpPr>
        <p:spPr bwMode="auto">
          <a:xfrm>
            <a:off x="6334125" y="4867274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200" b="1">
                <a:solidFill>
                  <a:srgbClr val="C10007"/>
                </a:solidFill>
                <a:latin typeface="MiSans"/>
                <a:ea typeface="MiSans"/>
                <a:cs typeface="MiSans"/>
              </a:rPr>
              <a:t>500</a:t>
            </a:r>
            <a:endParaRPr sz="1200"/>
          </a:p>
        </p:txBody>
      </p:sp>
      <p:sp>
        <p:nvSpPr>
          <p:cNvPr id="1726008707" name="Text 42"/>
          <p:cNvSpPr/>
          <p:nvPr/>
        </p:nvSpPr>
        <p:spPr bwMode="auto">
          <a:xfrm flipH="0" flipV="0">
            <a:off x="6781323" y="4886324"/>
            <a:ext cx="2599461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Server Error - Ошибка сервера</a:t>
            </a:r>
            <a:endParaRPr sz="1200"/>
          </a:p>
        </p:txBody>
      </p:sp>
      <p:sp>
        <p:nvSpPr>
          <p:cNvPr id="1861735635" name="Shape 43"/>
          <p:cNvSpPr/>
          <p:nvPr/>
        </p:nvSpPr>
        <p:spPr bwMode="auto">
          <a:xfrm>
            <a:off x="385762" y="5815013"/>
            <a:ext cx="3695700" cy="657225"/>
          </a:xfrm>
          <a:custGeom>
            <a:avLst/>
            <a:gdLst/>
            <a:ahLst/>
            <a:cxnLst/>
            <a:rect l="l" t="t" r="r" b="b"/>
            <a:pathLst>
              <a:path w="3695700" h="657225" fill="norm" stroke="1" extrusionOk="0">
                <a:moveTo>
                  <a:pt x="76199" y="0"/>
                </a:moveTo>
                <a:lnTo>
                  <a:pt x="3619501" y="0"/>
                </a:lnTo>
                <a:cubicBezTo>
                  <a:pt x="3661585" y="0"/>
                  <a:pt x="3695700" y="34115"/>
                  <a:pt x="3695700" y="76199"/>
                </a:cubicBezTo>
                <a:lnTo>
                  <a:pt x="3695700" y="581026"/>
                </a:lnTo>
                <a:cubicBezTo>
                  <a:pt x="3695700" y="623110"/>
                  <a:pt x="3661585" y="657225"/>
                  <a:pt x="36195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61858551" name="Text 44"/>
          <p:cNvSpPr/>
          <p:nvPr/>
        </p:nvSpPr>
        <p:spPr bwMode="auto">
          <a:xfrm>
            <a:off x="504825" y="59340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Проверка валидации</a:t>
            </a:r>
            <a:endParaRPr sz="1400"/>
          </a:p>
        </p:txBody>
      </p:sp>
      <p:sp>
        <p:nvSpPr>
          <p:cNvPr id="1210827773" name="Text 45"/>
          <p:cNvSpPr/>
          <p:nvPr/>
        </p:nvSpPr>
        <p:spPr bwMode="auto">
          <a:xfrm>
            <a:off x="504825" y="61626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Тестируйте пустые поля, невалидный email</a:t>
            </a:r>
            <a:endParaRPr sz="1200"/>
          </a:p>
        </p:txBody>
      </p:sp>
      <p:sp>
        <p:nvSpPr>
          <p:cNvPr id="463063587" name="Shape 46"/>
          <p:cNvSpPr/>
          <p:nvPr/>
        </p:nvSpPr>
        <p:spPr bwMode="auto">
          <a:xfrm flipH="0" flipV="0">
            <a:off x="4146571" y="5815012"/>
            <a:ext cx="3909785" cy="657225"/>
          </a:xfrm>
          <a:custGeom>
            <a:avLst/>
            <a:gdLst/>
            <a:ahLst/>
            <a:cxnLst/>
            <a:rect l="l" t="t" r="r" b="b"/>
            <a:pathLst>
              <a:path w="3695700" h="657225" fill="norm" stroke="1" extrusionOk="0">
                <a:moveTo>
                  <a:pt x="76199" y="0"/>
                </a:moveTo>
                <a:lnTo>
                  <a:pt x="3619501" y="0"/>
                </a:lnTo>
                <a:cubicBezTo>
                  <a:pt x="3661585" y="0"/>
                  <a:pt x="3695700" y="34115"/>
                  <a:pt x="3695700" y="76199"/>
                </a:cubicBezTo>
                <a:lnTo>
                  <a:pt x="3695700" y="581026"/>
                </a:lnTo>
                <a:cubicBezTo>
                  <a:pt x="3695700" y="623110"/>
                  <a:pt x="3661585" y="657225"/>
                  <a:pt x="36195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37443771" name="Text 47"/>
          <p:cNvSpPr/>
          <p:nvPr/>
        </p:nvSpPr>
        <p:spPr bwMode="auto">
          <a:xfrm>
            <a:off x="4261961" y="5934074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Проверка отправки</a:t>
            </a:r>
            <a:endParaRPr sz="1400"/>
          </a:p>
        </p:txBody>
      </p:sp>
      <p:sp>
        <p:nvSpPr>
          <p:cNvPr id="478505921" name="Text 48"/>
          <p:cNvSpPr/>
          <p:nvPr/>
        </p:nvSpPr>
        <p:spPr bwMode="auto">
          <a:xfrm flipH="0" flipV="0">
            <a:off x="4267993" y="6124574"/>
            <a:ext cx="3741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Убедитесь, что данные уходят на правильный URL</a:t>
            </a:r>
            <a:endParaRPr sz="1200"/>
          </a:p>
        </p:txBody>
      </p:sp>
      <p:sp>
        <p:nvSpPr>
          <p:cNvPr id="1490682902" name="Shape 49"/>
          <p:cNvSpPr/>
          <p:nvPr/>
        </p:nvSpPr>
        <p:spPr bwMode="auto">
          <a:xfrm>
            <a:off x="8107363" y="5815013"/>
            <a:ext cx="3695700" cy="657225"/>
          </a:xfrm>
          <a:custGeom>
            <a:avLst/>
            <a:gdLst/>
            <a:ahLst/>
            <a:cxnLst/>
            <a:rect l="l" t="t" r="r" b="b"/>
            <a:pathLst>
              <a:path w="3695700" h="657225" fill="norm" stroke="1" extrusionOk="0">
                <a:moveTo>
                  <a:pt x="76199" y="0"/>
                </a:moveTo>
                <a:lnTo>
                  <a:pt x="3619501" y="0"/>
                </a:lnTo>
                <a:cubicBezTo>
                  <a:pt x="3661585" y="0"/>
                  <a:pt x="3695700" y="34115"/>
                  <a:pt x="3695700" y="76199"/>
                </a:cubicBezTo>
                <a:lnTo>
                  <a:pt x="3695700" y="581026"/>
                </a:lnTo>
                <a:cubicBezTo>
                  <a:pt x="3695700" y="623110"/>
                  <a:pt x="3661585" y="657225"/>
                  <a:pt x="36195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71661782" name="Text 50"/>
          <p:cNvSpPr/>
          <p:nvPr/>
        </p:nvSpPr>
        <p:spPr bwMode="auto">
          <a:xfrm>
            <a:off x="8226425" y="59340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Проверка ответа</a:t>
            </a:r>
            <a:endParaRPr sz="1400"/>
          </a:p>
        </p:txBody>
      </p:sp>
      <p:sp>
        <p:nvSpPr>
          <p:cNvPr id="709267572" name="Text 51"/>
          <p:cNvSpPr/>
          <p:nvPr/>
        </p:nvSpPr>
        <p:spPr bwMode="auto">
          <a:xfrm>
            <a:off x="8226425" y="61626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Анализируйте статус и тело ответа сервера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597416" name="Text 0"/>
          <p:cNvSpPr/>
          <p:nvPr/>
        </p:nvSpPr>
        <p:spPr bwMode="auto">
          <a:xfrm>
            <a:off x="362857" y="362857"/>
            <a:ext cx="11529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0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Задание 4</a:t>
            </a:r>
            <a:endParaRPr sz="2000"/>
          </a:p>
        </p:txBody>
      </p:sp>
      <p:sp>
        <p:nvSpPr>
          <p:cNvPr id="1397794359" name="Text 1"/>
          <p:cNvSpPr/>
          <p:nvPr/>
        </p:nvSpPr>
        <p:spPr bwMode="auto">
          <a:xfrm>
            <a:off x="362857" y="616857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25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Тестирование и анализ работы формы</a:t>
            </a:r>
            <a:endParaRPr lang="en-US" sz="1600"/>
          </a:p>
        </p:txBody>
      </p:sp>
      <p:sp>
        <p:nvSpPr>
          <p:cNvPr id="554897111" name="Text 2"/>
          <p:cNvSpPr/>
          <p:nvPr/>
        </p:nvSpPr>
        <p:spPr bwMode="auto">
          <a:xfrm>
            <a:off x="362857" y="1052286"/>
            <a:ext cx="115479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DevTools Network: отладка и анализ запросов</a:t>
            </a:r>
            <a:endParaRPr lang="en-US" sz="1600"/>
          </a:p>
        </p:txBody>
      </p:sp>
      <p:sp>
        <p:nvSpPr>
          <p:cNvPr id="200923422" name="Shape 3"/>
          <p:cNvSpPr/>
          <p:nvPr/>
        </p:nvSpPr>
        <p:spPr bwMode="auto">
          <a:xfrm>
            <a:off x="385536" y="1487714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 fill="norm" stroke="1" extrusionOk="0">
                <a:moveTo>
                  <a:pt x="47412" y="12863"/>
                </a:moveTo>
                <a:cubicBezTo>
                  <a:pt x="51275" y="15556"/>
                  <a:pt x="52196" y="20871"/>
                  <a:pt x="49503" y="24698"/>
                </a:cubicBezTo>
                <a:lnTo>
                  <a:pt x="29659" y="53047"/>
                </a:lnTo>
                <a:cubicBezTo>
                  <a:pt x="28206" y="55102"/>
                  <a:pt x="25939" y="56413"/>
                  <a:pt x="23423" y="56626"/>
                </a:cubicBezTo>
                <a:cubicBezTo>
                  <a:pt x="20907" y="56838"/>
                  <a:pt x="18426" y="55988"/>
                  <a:pt x="16655" y="54216"/>
                </a:cubicBezTo>
                <a:lnTo>
                  <a:pt x="2480" y="40042"/>
                </a:lnTo>
                <a:cubicBezTo>
                  <a:pt x="-815" y="36711"/>
                  <a:pt x="-815" y="31325"/>
                  <a:pt x="2480" y="27994"/>
                </a:cubicBezTo>
                <a:cubicBezTo>
                  <a:pt x="5776" y="24663"/>
                  <a:pt x="11198" y="24698"/>
                  <a:pt x="14528" y="27994"/>
                </a:cubicBezTo>
                <a:lnTo>
                  <a:pt x="21545" y="35010"/>
                </a:lnTo>
                <a:lnTo>
                  <a:pt x="35577" y="14954"/>
                </a:lnTo>
                <a:cubicBezTo>
                  <a:pt x="38270" y="11091"/>
                  <a:pt x="43585" y="10170"/>
                  <a:pt x="47412" y="12863"/>
                </a:cubicBezTo>
                <a:close/>
                <a:moveTo>
                  <a:pt x="47412" y="69559"/>
                </a:moveTo>
                <a:cubicBezTo>
                  <a:pt x="51275" y="72253"/>
                  <a:pt x="52196" y="77568"/>
                  <a:pt x="49503" y="81395"/>
                </a:cubicBezTo>
                <a:lnTo>
                  <a:pt x="29659" y="109743"/>
                </a:lnTo>
                <a:cubicBezTo>
                  <a:pt x="28206" y="111798"/>
                  <a:pt x="25939" y="113109"/>
                  <a:pt x="23423" y="113322"/>
                </a:cubicBezTo>
                <a:cubicBezTo>
                  <a:pt x="20907" y="113535"/>
                  <a:pt x="18426" y="112684"/>
                  <a:pt x="16655" y="110912"/>
                </a:cubicBezTo>
                <a:lnTo>
                  <a:pt x="2480" y="96738"/>
                </a:lnTo>
                <a:cubicBezTo>
                  <a:pt x="-850" y="93407"/>
                  <a:pt x="-850" y="88021"/>
                  <a:pt x="2480" y="84726"/>
                </a:cubicBezTo>
                <a:cubicBezTo>
                  <a:pt x="5811" y="81430"/>
                  <a:pt x="11198" y="81395"/>
                  <a:pt x="14493" y="84726"/>
                </a:cubicBezTo>
                <a:lnTo>
                  <a:pt x="21509" y="91742"/>
                </a:lnTo>
                <a:lnTo>
                  <a:pt x="35542" y="71686"/>
                </a:lnTo>
                <a:cubicBezTo>
                  <a:pt x="38235" y="67823"/>
                  <a:pt x="43550" y="66902"/>
                  <a:pt x="47377" y="69595"/>
                </a:cubicBezTo>
                <a:close/>
                <a:moveTo>
                  <a:pt x="79375" y="34018"/>
                </a:moveTo>
                <a:cubicBezTo>
                  <a:pt x="79375" y="27746"/>
                  <a:pt x="84442" y="22679"/>
                  <a:pt x="90714" y="22679"/>
                </a:cubicBezTo>
                <a:lnTo>
                  <a:pt x="170089" y="22679"/>
                </a:lnTo>
                <a:cubicBezTo>
                  <a:pt x="176361" y="22679"/>
                  <a:pt x="181429" y="27746"/>
                  <a:pt x="181429" y="34018"/>
                </a:cubicBezTo>
                <a:cubicBezTo>
                  <a:pt x="181429" y="40290"/>
                  <a:pt x="176361" y="45357"/>
                  <a:pt x="170089" y="45357"/>
                </a:cubicBezTo>
                <a:lnTo>
                  <a:pt x="90714" y="45357"/>
                </a:lnTo>
                <a:cubicBezTo>
                  <a:pt x="84442" y="45357"/>
                  <a:pt x="79375" y="40290"/>
                  <a:pt x="79375" y="34018"/>
                </a:cubicBezTo>
                <a:close/>
                <a:moveTo>
                  <a:pt x="79375" y="90714"/>
                </a:moveTo>
                <a:cubicBezTo>
                  <a:pt x="79375" y="84442"/>
                  <a:pt x="84442" y="79375"/>
                  <a:pt x="90714" y="79375"/>
                </a:cubicBezTo>
                <a:lnTo>
                  <a:pt x="170089" y="79375"/>
                </a:lnTo>
                <a:cubicBezTo>
                  <a:pt x="176361" y="79375"/>
                  <a:pt x="181429" y="84442"/>
                  <a:pt x="181429" y="90714"/>
                </a:cubicBezTo>
                <a:cubicBezTo>
                  <a:pt x="181429" y="96986"/>
                  <a:pt x="176361" y="102054"/>
                  <a:pt x="170089" y="102054"/>
                </a:cubicBezTo>
                <a:lnTo>
                  <a:pt x="90714" y="102054"/>
                </a:lnTo>
                <a:cubicBezTo>
                  <a:pt x="84442" y="102054"/>
                  <a:pt x="79375" y="96986"/>
                  <a:pt x="79375" y="90714"/>
                </a:cubicBezTo>
                <a:close/>
                <a:moveTo>
                  <a:pt x="56696" y="147411"/>
                </a:moveTo>
                <a:cubicBezTo>
                  <a:pt x="56696" y="141139"/>
                  <a:pt x="61764" y="136071"/>
                  <a:pt x="68036" y="136071"/>
                </a:cubicBezTo>
                <a:lnTo>
                  <a:pt x="170089" y="136071"/>
                </a:lnTo>
                <a:cubicBezTo>
                  <a:pt x="176361" y="136071"/>
                  <a:pt x="181429" y="141139"/>
                  <a:pt x="181429" y="147411"/>
                </a:cubicBezTo>
                <a:cubicBezTo>
                  <a:pt x="181429" y="153683"/>
                  <a:pt x="176361" y="158750"/>
                  <a:pt x="170089" y="158750"/>
                </a:cubicBezTo>
                <a:lnTo>
                  <a:pt x="68036" y="158750"/>
                </a:lnTo>
                <a:cubicBezTo>
                  <a:pt x="61764" y="158750"/>
                  <a:pt x="56696" y="153683"/>
                  <a:pt x="56696" y="147411"/>
                </a:cubicBezTo>
                <a:close/>
                <a:moveTo>
                  <a:pt x="22679" y="133237"/>
                </a:moveTo>
                <a:cubicBezTo>
                  <a:pt x="30501" y="133237"/>
                  <a:pt x="36853" y="139588"/>
                  <a:pt x="36853" y="147411"/>
                </a:cubicBezTo>
                <a:cubicBezTo>
                  <a:pt x="36853" y="155234"/>
                  <a:pt x="30501" y="161585"/>
                  <a:pt x="22679" y="161585"/>
                </a:cubicBezTo>
                <a:cubicBezTo>
                  <a:pt x="14856" y="161585"/>
                  <a:pt x="8504" y="155234"/>
                  <a:pt x="8504" y="147411"/>
                </a:cubicBezTo>
                <a:cubicBezTo>
                  <a:pt x="8504" y="139588"/>
                  <a:pt x="14856" y="133237"/>
                  <a:pt x="22679" y="13323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36630680" name="Text 4"/>
          <p:cNvSpPr/>
          <p:nvPr/>
        </p:nvSpPr>
        <p:spPr bwMode="auto">
          <a:xfrm>
            <a:off x="589643" y="1451429"/>
            <a:ext cx="5488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Что нужно сделать</a:t>
            </a:r>
            <a:endParaRPr lang="en-US" sz="1600"/>
          </a:p>
        </p:txBody>
      </p:sp>
      <p:sp>
        <p:nvSpPr>
          <p:cNvPr id="996148610" name="Shape 5"/>
          <p:cNvSpPr/>
          <p:nvPr/>
        </p:nvSpPr>
        <p:spPr bwMode="auto">
          <a:xfrm>
            <a:off x="367393" y="1818821"/>
            <a:ext cx="5615214" cy="771071"/>
          </a:xfrm>
          <a:custGeom>
            <a:avLst/>
            <a:gdLst/>
            <a:ahLst/>
            <a:cxnLst/>
            <a:rect l="l" t="t" r="r" b="b"/>
            <a:pathLst>
              <a:path w="5615214" h="771071" fill="norm" stroke="1" extrusionOk="0">
                <a:moveTo>
                  <a:pt x="72573" y="0"/>
                </a:moveTo>
                <a:lnTo>
                  <a:pt x="5542641" y="0"/>
                </a:lnTo>
                <a:cubicBezTo>
                  <a:pt x="5582722" y="0"/>
                  <a:pt x="5615214" y="32492"/>
                  <a:pt x="5615214" y="72573"/>
                </a:cubicBezTo>
                <a:lnTo>
                  <a:pt x="5615214" y="698498"/>
                </a:lnTo>
                <a:cubicBezTo>
                  <a:pt x="5615214" y="738579"/>
                  <a:pt x="5582722" y="771071"/>
                  <a:pt x="5542641" y="771071"/>
                </a:cubicBezTo>
                <a:lnTo>
                  <a:pt x="72573" y="771071"/>
                </a:lnTo>
                <a:cubicBezTo>
                  <a:pt x="32519" y="771071"/>
                  <a:pt x="0" y="738552"/>
                  <a:pt x="0" y="698498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30832632" name="Shape 6"/>
          <p:cNvSpPr/>
          <p:nvPr/>
        </p:nvSpPr>
        <p:spPr bwMode="auto">
          <a:xfrm>
            <a:off x="480786" y="1932214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 fill="norm" stroke="1" extrusionOk="0">
                <a:moveTo>
                  <a:pt x="72571" y="0"/>
                </a:moveTo>
                <a:lnTo>
                  <a:pt x="217714" y="0"/>
                </a:lnTo>
                <a:cubicBezTo>
                  <a:pt x="257794" y="0"/>
                  <a:pt x="290286" y="32491"/>
                  <a:pt x="290286" y="72571"/>
                </a:cubicBezTo>
                <a:lnTo>
                  <a:pt x="290286" y="217714"/>
                </a:lnTo>
                <a:cubicBezTo>
                  <a:pt x="290286" y="257794"/>
                  <a:pt x="257794" y="290286"/>
                  <a:pt x="217714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58976764" name="Text 7"/>
          <p:cNvSpPr/>
          <p:nvPr/>
        </p:nvSpPr>
        <p:spPr bwMode="auto">
          <a:xfrm>
            <a:off x="444500" y="1932214"/>
            <a:ext cx="362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1</a:t>
            </a:r>
            <a:endParaRPr lang="en-US" sz="1600"/>
          </a:p>
        </p:txBody>
      </p:sp>
      <p:sp>
        <p:nvSpPr>
          <p:cNvPr id="921162312" name="Text 8"/>
          <p:cNvSpPr/>
          <p:nvPr/>
        </p:nvSpPr>
        <p:spPr bwMode="auto">
          <a:xfrm flipH="0" flipV="0">
            <a:off x="879928" y="1968499"/>
            <a:ext cx="2758642" cy="2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Откройте DevTools</a:t>
            </a:r>
            <a:endParaRPr sz="1400"/>
          </a:p>
        </p:txBody>
      </p:sp>
      <p:sp>
        <p:nvSpPr>
          <p:cNvPr id="476557555" name="Text 9"/>
          <p:cNvSpPr/>
          <p:nvPr/>
        </p:nvSpPr>
        <p:spPr bwMode="auto">
          <a:xfrm>
            <a:off x="879929" y="2295071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F12 → Network → Fetch/XHR</a:t>
            </a:r>
            <a:endParaRPr sz="1400"/>
          </a:p>
        </p:txBody>
      </p:sp>
      <p:sp>
        <p:nvSpPr>
          <p:cNvPr id="687675997" name="Shape 10"/>
          <p:cNvSpPr/>
          <p:nvPr/>
        </p:nvSpPr>
        <p:spPr bwMode="auto">
          <a:xfrm>
            <a:off x="367393" y="2671536"/>
            <a:ext cx="5615214" cy="771071"/>
          </a:xfrm>
          <a:custGeom>
            <a:avLst/>
            <a:gdLst/>
            <a:ahLst/>
            <a:cxnLst/>
            <a:rect l="l" t="t" r="r" b="b"/>
            <a:pathLst>
              <a:path w="5615214" h="771071" fill="norm" stroke="1" extrusionOk="0">
                <a:moveTo>
                  <a:pt x="72573" y="0"/>
                </a:moveTo>
                <a:lnTo>
                  <a:pt x="5542641" y="0"/>
                </a:lnTo>
                <a:cubicBezTo>
                  <a:pt x="5582722" y="0"/>
                  <a:pt x="5615214" y="32492"/>
                  <a:pt x="5615214" y="72573"/>
                </a:cubicBezTo>
                <a:lnTo>
                  <a:pt x="5615214" y="698498"/>
                </a:lnTo>
                <a:cubicBezTo>
                  <a:pt x="5615214" y="738579"/>
                  <a:pt x="5582722" y="771071"/>
                  <a:pt x="5542641" y="771071"/>
                </a:cubicBezTo>
                <a:lnTo>
                  <a:pt x="72573" y="771071"/>
                </a:lnTo>
                <a:cubicBezTo>
                  <a:pt x="32519" y="771071"/>
                  <a:pt x="0" y="738552"/>
                  <a:pt x="0" y="698498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39938258" name="Shape 11"/>
          <p:cNvSpPr/>
          <p:nvPr/>
        </p:nvSpPr>
        <p:spPr bwMode="auto">
          <a:xfrm>
            <a:off x="480786" y="2784929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 fill="norm" stroke="1" extrusionOk="0">
                <a:moveTo>
                  <a:pt x="72571" y="0"/>
                </a:moveTo>
                <a:lnTo>
                  <a:pt x="217714" y="0"/>
                </a:lnTo>
                <a:cubicBezTo>
                  <a:pt x="257794" y="0"/>
                  <a:pt x="290286" y="32491"/>
                  <a:pt x="290286" y="72571"/>
                </a:cubicBezTo>
                <a:lnTo>
                  <a:pt x="290286" y="217714"/>
                </a:lnTo>
                <a:cubicBezTo>
                  <a:pt x="290286" y="257794"/>
                  <a:pt x="257794" y="290286"/>
                  <a:pt x="217714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710550" name="Text 12"/>
          <p:cNvSpPr/>
          <p:nvPr/>
        </p:nvSpPr>
        <p:spPr bwMode="auto">
          <a:xfrm>
            <a:off x="444500" y="2784929"/>
            <a:ext cx="362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2</a:t>
            </a:r>
            <a:endParaRPr lang="en-US" sz="1600"/>
          </a:p>
        </p:txBody>
      </p:sp>
      <p:sp>
        <p:nvSpPr>
          <p:cNvPr id="1671339087" name="Text 13"/>
          <p:cNvSpPr/>
          <p:nvPr/>
        </p:nvSpPr>
        <p:spPr bwMode="auto">
          <a:xfrm flipH="0" flipV="0">
            <a:off x="879928" y="2821213"/>
            <a:ext cx="2526392" cy="2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Отправьте форму</a:t>
            </a:r>
            <a:endParaRPr sz="1400"/>
          </a:p>
        </p:txBody>
      </p:sp>
      <p:sp>
        <p:nvSpPr>
          <p:cNvPr id="1984473174" name="Text 14"/>
          <p:cNvSpPr/>
          <p:nvPr/>
        </p:nvSpPr>
        <p:spPr bwMode="auto">
          <a:xfrm>
            <a:off x="879929" y="3147786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Заполните корректными данными и отправьте</a:t>
            </a:r>
            <a:endParaRPr sz="1400"/>
          </a:p>
        </p:txBody>
      </p:sp>
      <p:sp>
        <p:nvSpPr>
          <p:cNvPr id="673520768" name="Shape 15"/>
          <p:cNvSpPr/>
          <p:nvPr/>
        </p:nvSpPr>
        <p:spPr bwMode="auto">
          <a:xfrm>
            <a:off x="367393" y="3524250"/>
            <a:ext cx="5615214" cy="1424214"/>
          </a:xfrm>
          <a:custGeom>
            <a:avLst/>
            <a:gdLst/>
            <a:ahLst/>
            <a:cxnLst/>
            <a:rect l="l" t="t" r="r" b="b"/>
            <a:pathLst>
              <a:path w="5615214" h="1424214" fill="norm" stroke="1" extrusionOk="0">
                <a:moveTo>
                  <a:pt x="72578" y="0"/>
                </a:moveTo>
                <a:lnTo>
                  <a:pt x="5542636" y="0"/>
                </a:lnTo>
                <a:cubicBezTo>
                  <a:pt x="5582720" y="0"/>
                  <a:pt x="5615214" y="32494"/>
                  <a:pt x="5615214" y="72578"/>
                </a:cubicBezTo>
                <a:lnTo>
                  <a:pt x="5615214" y="1351636"/>
                </a:lnTo>
                <a:cubicBezTo>
                  <a:pt x="5615214" y="1391720"/>
                  <a:pt x="5582720" y="1424214"/>
                  <a:pt x="5542636" y="1424214"/>
                </a:cubicBezTo>
                <a:lnTo>
                  <a:pt x="72578" y="1424214"/>
                </a:lnTo>
                <a:cubicBezTo>
                  <a:pt x="32494" y="1424214"/>
                  <a:pt x="0" y="1391720"/>
                  <a:pt x="0" y="1351636"/>
                </a:cubicBezTo>
                <a:lnTo>
                  <a:pt x="0" y="72578"/>
                </a:lnTo>
                <a:cubicBezTo>
                  <a:pt x="0" y="32521"/>
                  <a:pt x="32521" y="0"/>
                  <a:pt x="7257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6668683" name="Shape 16"/>
          <p:cNvSpPr/>
          <p:nvPr/>
        </p:nvSpPr>
        <p:spPr bwMode="auto">
          <a:xfrm>
            <a:off x="480786" y="3637643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 fill="norm" stroke="1" extrusionOk="0">
                <a:moveTo>
                  <a:pt x="72571" y="0"/>
                </a:moveTo>
                <a:lnTo>
                  <a:pt x="217714" y="0"/>
                </a:lnTo>
                <a:cubicBezTo>
                  <a:pt x="257794" y="0"/>
                  <a:pt x="290286" y="32491"/>
                  <a:pt x="290286" y="72571"/>
                </a:cubicBezTo>
                <a:lnTo>
                  <a:pt x="290286" y="217714"/>
                </a:lnTo>
                <a:cubicBezTo>
                  <a:pt x="290286" y="257794"/>
                  <a:pt x="257794" y="290286"/>
                  <a:pt x="217714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3618502" name="Text 17"/>
          <p:cNvSpPr/>
          <p:nvPr/>
        </p:nvSpPr>
        <p:spPr bwMode="auto">
          <a:xfrm>
            <a:off x="444500" y="3637643"/>
            <a:ext cx="362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3</a:t>
            </a:r>
            <a:endParaRPr lang="en-US" sz="1600"/>
          </a:p>
        </p:txBody>
      </p:sp>
      <p:sp>
        <p:nvSpPr>
          <p:cNvPr id="181003832" name="Text 18"/>
          <p:cNvSpPr/>
          <p:nvPr/>
        </p:nvSpPr>
        <p:spPr bwMode="auto">
          <a:xfrm flipH="0" flipV="0">
            <a:off x="879928" y="3673928"/>
            <a:ext cx="3838142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Проанализируйте запрос</a:t>
            </a:r>
            <a:endParaRPr sz="1400"/>
          </a:p>
        </p:txBody>
      </p:sp>
      <p:sp>
        <p:nvSpPr>
          <p:cNvPr id="749236091" name="Text 19"/>
          <p:cNvSpPr/>
          <p:nvPr/>
        </p:nvSpPr>
        <p:spPr bwMode="auto">
          <a:xfrm>
            <a:off x="879929" y="4000500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Method: POST</a:t>
            </a:r>
            <a:endParaRPr sz="1400"/>
          </a:p>
        </p:txBody>
      </p:sp>
      <p:sp>
        <p:nvSpPr>
          <p:cNvPr id="1377134737" name="Text 20"/>
          <p:cNvSpPr/>
          <p:nvPr/>
        </p:nvSpPr>
        <p:spPr bwMode="auto">
          <a:xfrm>
            <a:off x="879929" y="4218214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URL: http://</a:t>
            </a:r>
            <a:r>
              <a:rPr lang="en-US" sz="1400" b="0" i="0" u="none" strike="noStrike" cap="none" spc="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172.20.10.4</a:t>
            </a: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:3000/api/messages</a:t>
            </a:r>
            <a:endParaRPr sz="1400"/>
          </a:p>
        </p:txBody>
      </p:sp>
      <p:sp>
        <p:nvSpPr>
          <p:cNvPr id="786373611" name="Text 21"/>
          <p:cNvSpPr/>
          <p:nvPr/>
        </p:nvSpPr>
        <p:spPr bwMode="auto">
          <a:xfrm>
            <a:off x="879929" y="4435929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Status: 200 или 201</a:t>
            </a:r>
            <a:endParaRPr sz="1400"/>
          </a:p>
        </p:txBody>
      </p:sp>
      <p:sp>
        <p:nvSpPr>
          <p:cNvPr id="1472128594" name="Text 22"/>
          <p:cNvSpPr/>
          <p:nvPr/>
        </p:nvSpPr>
        <p:spPr bwMode="auto">
          <a:xfrm>
            <a:off x="879929" y="4653643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Payload: проверьте JSON</a:t>
            </a:r>
            <a:endParaRPr sz="1400"/>
          </a:p>
        </p:txBody>
      </p:sp>
      <p:sp>
        <p:nvSpPr>
          <p:cNvPr id="171204968" name="Shape 23"/>
          <p:cNvSpPr/>
          <p:nvPr/>
        </p:nvSpPr>
        <p:spPr bwMode="auto">
          <a:xfrm>
            <a:off x="367393" y="5030107"/>
            <a:ext cx="5615214" cy="1206500"/>
          </a:xfrm>
          <a:custGeom>
            <a:avLst/>
            <a:gdLst/>
            <a:ahLst/>
            <a:cxnLst/>
            <a:rect l="l" t="t" r="r" b="b"/>
            <a:pathLst>
              <a:path w="5615214" h="1206500" fill="norm" stroke="1" extrusionOk="0">
                <a:moveTo>
                  <a:pt x="72571" y="0"/>
                </a:moveTo>
                <a:lnTo>
                  <a:pt x="5542643" y="0"/>
                </a:lnTo>
                <a:cubicBezTo>
                  <a:pt x="5582723" y="0"/>
                  <a:pt x="5615214" y="32491"/>
                  <a:pt x="5615214" y="72571"/>
                </a:cubicBezTo>
                <a:lnTo>
                  <a:pt x="5615214" y="1133929"/>
                </a:lnTo>
                <a:cubicBezTo>
                  <a:pt x="5615214" y="1174009"/>
                  <a:pt x="5582723" y="1206500"/>
                  <a:pt x="5542643" y="1206500"/>
                </a:cubicBezTo>
                <a:lnTo>
                  <a:pt x="72571" y="1206500"/>
                </a:lnTo>
                <a:cubicBezTo>
                  <a:pt x="32491" y="1206500"/>
                  <a:pt x="0" y="1174009"/>
                  <a:pt x="0" y="1133929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15450241" name="Shape 24"/>
          <p:cNvSpPr/>
          <p:nvPr/>
        </p:nvSpPr>
        <p:spPr bwMode="auto">
          <a:xfrm>
            <a:off x="480786" y="5143500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 fill="norm" stroke="1" extrusionOk="0">
                <a:moveTo>
                  <a:pt x="72571" y="0"/>
                </a:moveTo>
                <a:lnTo>
                  <a:pt x="217714" y="0"/>
                </a:lnTo>
                <a:cubicBezTo>
                  <a:pt x="257794" y="0"/>
                  <a:pt x="290286" y="32491"/>
                  <a:pt x="290286" y="72571"/>
                </a:cubicBezTo>
                <a:lnTo>
                  <a:pt x="290286" y="217714"/>
                </a:lnTo>
                <a:cubicBezTo>
                  <a:pt x="290286" y="257794"/>
                  <a:pt x="257794" y="290286"/>
                  <a:pt x="217714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3211684" name="Text 25"/>
          <p:cNvSpPr/>
          <p:nvPr/>
        </p:nvSpPr>
        <p:spPr bwMode="auto">
          <a:xfrm>
            <a:off x="444500" y="5143500"/>
            <a:ext cx="362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4</a:t>
            </a:r>
            <a:endParaRPr lang="en-US" sz="1600"/>
          </a:p>
        </p:txBody>
      </p:sp>
      <p:sp>
        <p:nvSpPr>
          <p:cNvPr id="86001771" name="Text 26"/>
          <p:cNvSpPr/>
          <p:nvPr/>
        </p:nvSpPr>
        <p:spPr bwMode="auto">
          <a:xfrm flipH="0" flipV="0">
            <a:off x="879928" y="5179785"/>
            <a:ext cx="3203142" cy="2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Тестируйте ошибки</a:t>
            </a:r>
            <a:endParaRPr sz="1400"/>
          </a:p>
        </p:txBody>
      </p:sp>
      <p:sp>
        <p:nvSpPr>
          <p:cNvPr id="1712994525" name="Text 27"/>
          <p:cNvSpPr/>
          <p:nvPr/>
        </p:nvSpPr>
        <p:spPr bwMode="auto">
          <a:xfrm>
            <a:off x="879929" y="5506356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Пустые поля (валидация)</a:t>
            </a:r>
            <a:endParaRPr sz="1400"/>
          </a:p>
        </p:txBody>
      </p:sp>
      <p:sp>
        <p:nvSpPr>
          <p:cNvPr id="603675292" name="Text 28"/>
          <p:cNvSpPr/>
          <p:nvPr/>
        </p:nvSpPr>
        <p:spPr bwMode="auto">
          <a:xfrm>
            <a:off x="879929" y="5724071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Невалидный email</a:t>
            </a:r>
            <a:endParaRPr sz="1400"/>
          </a:p>
        </p:txBody>
      </p:sp>
      <p:sp>
        <p:nvSpPr>
          <p:cNvPr id="625555973" name="Text 29"/>
          <p:cNvSpPr/>
          <p:nvPr/>
        </p:nvSpPr>
        <p:spPr bwMode="auto">
          <a:xfrm>
            <a:off x="879929" y="5941786"/>
            <a:ext cx="5052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• Короткое сообщение</a:t>
            </a:r>
            <a:endParaRPr sz="1400"/>
          </a:p>
        </p:txBody>
      </p:sp>
      <p:sp>
        <p:nvSpPr>
          <p:cNvPr id="1080112842" name="Shape 30"/>
          <p:cNvSpPr/>
          <p:nvPr/>
        </p:nvSpPr>
        <p:spPr bwMode="auto">
          <a:xfrm>
            <a:off x="6250214" y="1487714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 fill="norm" stroke="1" extrusionOk="0">
                <a:moveTo>
                  <a:pt x="110345" y="11339"/>
                </a:moveTo>
                <a:lnTo>
                  <a:pt x="113393" y="11339"/>
                </a:lnTo>
                <a:cubicBezTo>
                  <a:pt x="125902" y="11339"/>
                  <a:pt x="136071" y="21509"/>
                  <a:pt x="136071" y="34018"/>
                </a:cubicBezTo>
                <a:lnTo>
                  <a:pt x="136071" y="158750"/>
                </a:lnTo>
                <a:cubicBezTo>
                  <a:pt x="136071" y="171259"/>
                  <a:pt x="125902" y="181429"/>
                  <a:pt x="113393" y="181429"/>
                </a:cubicBezTo>
                <a:lnTo>
                  <a:pt x="22679" y="181429"/>
                </a:lnTo>
                <a:cubicBezTo>
                  <a:pt x="10170" y="181429"/>
                  <a:pt x="0" y="171259"/>
                  <a:pt x="0" y="158750"/>
                </a:cubicBezTo>
                <a:lnTo>
                  <a:pt x="0" y="34018"/>
                </a:lnTo>
                <a:cubicBezTo>
                  <a:pt x="0" y="21509"/>
                  <a:pt x="10170" y="11339"/>
                  <a:pt x="22679" y="11339"/>
                </a:cubicBezTo>
                <a:lnTo>
                  <a:pt x="25726" y="11339"/>
                </a:lnTo>
                <a:cubicBezTo>
                  <a:pt x="29624" y="4571"/>
                  <a:pt x="36959" y="0"/>
                  <a:pt x="45357" y="0"/>
                </a:cubicBezTo>
                <a:lnTo>
                  <a:pt x="90714" y="0"/>
                </a:lnTo>
                <a:cubicBezTo>
                  <a:pt x="99112" y="0"/>
                  <a:pt x="106448" y="4571"/>
                  <a:pt x="110345" y="11339"/>
                </a:cubicBezTo>
                <a:close/>
                <a:moveTo>
                  <a:pt x="87879" y="39688"/>
                </a:moveTo>
                <a:cubicBezTo>
                  <a:pt x="92592" y="39688"/>
                  <a:pt x="96384" y="35896"/>
                  <a:pt x="96384" y="31183"/>
                </a:cubicBezTo>
                <a:cubicBezTo>
                  <a:pt x="96384" y="26470"/>
                  <a:pt x="92592" y="22679"/>
                  <a:pt x="87879" y="22679"/>
                </a:cubicBezTo>
                <a:lnTo>
                  <a:pt x="48192" y="22679"/>
                </a:lnTo>
                <a:cubicBezTo>
                  <a:pt x="43479" y="22679"/>
                  <a:pt x="39688" y="26470"/>
                  <a:pt x="39688" y="31183"/>
                </a:cubicBezTo>
                <a:cubicBezTo>
                  <a:pt x="39688" y="35896"/>
                  <a:pt x="43479" y="39688"/>
                  <a:pt x="48192" y="39688"/>
                </a:cubicBezTo>
                <a:lnTo>
                  <a:pt x="87879" y="39688"/>
                </a:lnTo>
                <a:close/>
                <a:moveTo>
                  <a:pt x="97943" y="92380"/>
                </a:moveTo>
                <a:cubicBezTo>
                  <a:pt x="100424" y="88411"/>
                  <a:pt x="99219" y="83167"/>
                  <a:pt x="95250" y="80651"/>
                </a:cubicBezTo>
                <a:cubicBezTo>
                  <a:pt x="91281" y="78135"/>
                  <a:pt x="86037" y="79375"/>
                  <a:pt x="83521" y="83344"/>
                </a:cubicBezTo>
                <a:lnTo>
                  <a:pt x="61764" y="118177"/>
                </a:lnTo>
                <a:lnTo>
                  <a:pt x="52196" y="105420"/>
                </a:lnTo>
                <a:cubicBezTo>
                  <a:pt x="49361" y="101664"/>
                  <a:pt x="44046" y="100884"/>
                  <a:pt x="40290" y="103719"/>
                </a:cubicBezTo>
                <a:cubicBezTo>
                  <a:pt x="36534" y="106554"/>
                  <a:pt x="35754" y="111869"/>
                  <a:pt x="38589" y="115625"/>
                </a:cubicBezTo>
                <a:lnTo>
                  <a:pt x="55598" y="138304"/>
                </a:lnTo>
                <a:cubicBezTo>
                  <a:pt x="57263" y="140536"/>
                  <a:pt x="59956" y="141812"/>
                  <a:pt x="62756" y="141706"/>
                </a:cubicBezTo>
                <a:cubicBezTo>
                  <a:pt x="65555" y="141599"/>
                  <a:pt x="68107" y="140111"/>
                  <a:pt x="69595" y="137701"/>
                </a:cubicBezTo>
                <a:lnTo>
                  <a:pt x="97943" y="9234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24557625" name="Text 31"/>
          <p:cNvSpPr/>
          <p:nvPr/>
        </p:nvSpPr>
        <p:spPr bwMode="auto">
          <a:xfrm>
            <a:off x="6431643" y="1451429"/>
            <a:ext cx="5488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Что задокументировать</a:t>
            </a:r>
            <a:endParaRPr lang="en-US" sz="1600"/>
          </a:p>
        </p:txBody>
      </p:sp>
      <p:sp>
        <p:nvSpPr>
          <p:cNvPr id="308812531" name="Shape 32"/>
          <p:cNvSpPr/>
          <p:nvPr/>
        </p:nvSpPr>
        <p:spPr bwMode="auto">
          <a:xfrm>
            <a:off x="6209393" y="1818821"/>
            <a:ext cx="5615214" cy="698500"/>
          </a:xfrm>
          <a:custGeom>
            <a:avLst/>
            <a:gdLst/>
            <a:ahLst/>
            <a:cxnLst/>
            <a:rect l="l" t="t" r="r" b="b"/>
            <a:pathLst>
              <a:path w="5615214" h="698500" fill="norm" stroke="1" extrusionOk="0">
                <a:moveTo>
                  <a:pt x="72574" y="0"/>
                </a:moveTo>
                <a:lnTo>
                  <a:pt x="5542640" y="0"/>
                </a:lnTo>
                <a:cubicBezTo>
                  <a:pt x="5582722" y="0"/>
                  <a:pt x="5615214" y="32493"/>
                  <a:pt x="5615214" y="72574"/>
                </a:cubicBezTo>
                <a:lnTo>
                  <a:pt x="5615214" y="625926"/>
                </a:lnTo>
                <a:cubicBezTo>
                  <a:pt x="5615214" y="666007"/>
                  <a:pt x="5582722" y="698500"/>
                  <a:pt x="5542640" y="698500"/>
                </a:cubicBezTo>
                <a:lnTo>
                  <a:pt x="72574" y="698500"/>
                </a:lnTo>
                <a:cubicBezTo>
                  <a:pt x="32493" y="698500"/>
                  <a:pt x="0" y="666007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27906183" name="Text 33"/>
          <p:cNvSpPr/>
          <p:nvPr/>
        </p:nvSpPr>
        <p:spPr bwMode="auto">
          <a:xfrm>
            <a:off x="6322786" y="1932214"/>
            <a:ext cx="5461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Успешные отправки</a:t>
            </a:r>
            <a:endParaRPr sz="1400"/>
          </a:p>
        </p:txBody>
      </p:sp>
      <p:sp>
        <p:nvSpPr>
          <p:cNvPr id="269266468" name="Text 34"/>
          <p:cNvSpPr/>
          <p:nvPr/>
        </p:nvSpPr>
        <p:spPr bwMode="auto">
          <a:xfrm>
            <a:off x="6322786" y="2222500"/>
            <a:ext cx="5451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Скриншоты Network с корректными данными, статус 200/201</a:t>
            </a:r>
            <a:endParaRPr sz="1400"/>
          </a:p>
        </p:txBody>
      </p:sp>
      <p:sp>
        <p:nvSpPr>
          <p:cNvPr id="1053083949" name="Shape 35"/>
          <p:cNvSpPr/>
          <p:nvPr/>
        </p:nvSpPr>
        <p:spPr bwMode="auto">
          <a:xfrm>
            <a:off x="6209393" y="2598964"/>
            <a:ext cx="5615214" cy="698500"/>
          </a:xfrm>
          <a:custGeom>
            <a:avLst/>
            <a:gdLst/>
            <a:ahLst/>
            <a:cxnLst/>
            <a:rect l="l" t="t" r="r" b="b"/>
            <a:pathLst>
              <a:path w="5615214" h="698500" fill="norm" stroke="1" extrusionOk="0">
                <a:moveTo>
                  <a:pt x="72574" y="0"/>
                </a:moveTo>
                <a:lnTo>
                  <a:pt x="5542640" y="0"/>
                </a:lnTo>
                <a:cubicBezTo>
                  <a:pt x="5582722" y="0"/>
                  <a:pt x="5615214" y="32493"/>
                  <a:pt x="5615214" y="72574"/>
                </a:cubicBezTo>
                <a:lnTo>
                  <a:pt x="5615214" y="625926"/>
                </a:lnTo>
                <a:cubicBezTo>
                  <a:pt x="5615214" y="666007"/>
                  <a:pt x="5582722" y="698500"/>
                  <a:pt x="5542640" y="698500"/>
                </a:cubicBezTo>
                <a:lnTo>
                  <a:pt x="72574" y="698500"/>
                </a:lnTo>
                <a:cubicBezTo>
                  <a:pt x="32493" y="698500"/>
                  <a:pt x="0" y="666007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12145461" name="Text 36"/>
          <p:cNvSpPr/>
          <p:nvPr/>
        </p:nvSpPr>
        <p:spPr bwMode="auto">
          <a:xfrm>
            <a:off x="6322786" y="2712357"/>
            <a:ext cx="5461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Ошибки валидации</a:t>
            </a:r>
            <a:endParaRPr sz="1400"/>
          </a:p>
        </p:txBody>
      </p:sp>
      <p:sp>
        <p:nvSpPr>
          <p:cNvPr id="563267183" name="Text 37"/>
          <p:cNvSpPr/>
          <p:nvPr/>
        </p:nvSpPr>
        <p:spPr bwMode="auto">
          <a:xfrm>
            <a:off x="6322786" y="3002643"/>
            <a:ext cx="5451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Как работает блокировка отправки при невалидных данных</a:t>
            </a:r>
            <a:endParaRPr sz="1400"/>
          </a:p>
        </p:txBody>
      </p:sp>
      <p:sp>
        <p:nvSpPr>
          <p:cNvPr id="1108081865" name="Shape 38"/>
          <p:cNvSpPr/>
          <p:nvPr/>
        </p:nvSpPr>
        <p:spPr bwMode="auto">
          <a:xfrm>
            <a:off x="6209393" y="3379107"/>
            <a:ext cx="5615214" cy="698500"/>
          </a:xfrm>
          <a:custGeom>
            <a:avLst/>
            <a:gdLst/>
            <a:ahLst/>
            <a:cxnLst/>
            <a:rect l="l" t="t" r="r" b="b"/>
            <a:pathLst>
              <a:path w="5615214" h="698500" fill="norm" stroke="1" extrusionOk="0">
                <a:moveTo>
                  <a:pt x="72574" y="0"/>
                </a:moveTo>
                <a:lnTo>
                  <a:pt x="5542640" y="0"/>
                </a:lnTo>
                <a:cubicBezTo>
                  <a:pt x="5582722" y="0"/>
                  <a:pt x="5615214" y="32493"/>
                  <a:pt x="5615214" y="72574"/>
                </a:cubicBezTo>
                <a:lnTo>
                  <a:pt x="5615214" y="625926"/>
                </a:lnTo>
                <a:cubicBezTo>
                  <a:pt x="5615214" y="666007"/>
                  <a:pt x="5582722" y="698500"/>
                  <a:pt x="5542640" y="698500"/>
                </a:cubicBezTo>
                <a:lnTo>
                  <a:pt x="72574" y="698500"/>
                </a:lnTo>
                <a:cubicBezTo>
                  <a:pt x="32493" y="698500"/>
                  <a:pt x="0" y="666007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06236114" name="Text 39"/>
          <p:cNvSpPr/>
          <p:nvPr/>
        </p:nvSpPr>
        <p:spPr bwMode="auto">
          <a:xfrm>
            <a:off x="6322786" y="3492500"/>
            <a:ext cx="5461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Ошибки сервера</a:t>
            </a:r>
            <a:endParaRPr sz="1400"/>
          </a:p>
        </p:txBody>
      </p:sp>
      <p:sp>
        <p:nvSpPr>
          <p:cNvPr id="494030724" name="Text 40"/>
          <p:cNvSpPr/>
          <p:nvPr/>
        </p:nvSpPr>
        <p:spPr bwMode="auto">
          <a:xfrm>
            <a:off x="6322786" y="3782786"/>
            <a:ext cx="5451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Если статус 400, 404 или 500 — зафиксируйте причину</a:t>
            </a:r>
            <a:endParaRPr sz="1400"/>
          </a:p>
        </p:txBody>
      </p:sp>
      <p:sp>
        <p:nvSpPr>
          <p:cNvPr id="2119384233" name="Shape 41"/>
          <p:cNvSpPr/>
          <p:nvPr/>
        </p:nvSpPr>
        <p:spPr bwMode="auto">
          <a:xfrm>
            <a:off x="6209393" y="4159250"/>
            <a:ext cx="5615214" cy="698500"/>
          </a:xfrm>
          <a:custGeom>
            <a:avLst/>
            <a:gdLst/>
            <a:ahLst/>
            <a:cxnLst/>
            <a:rect l="l" t="t" r="r" b="b"/>
            <a:pathLst>
              <a:path w="5615214" h="698500" fill="norm" stroke="1" extrusionOk="0">
                <a:moveTo>
                  <a:pt x="72574" y="0"/>
                </a:moveTo>
                <a:lnTo>
                  <a:pt x="5542640" y="0"/>
                </a:lnTo>
                <a:cubicBezTo>
                  <a:pt x="5582722" y="0"/>
                  <a:pt x="5615214" y="32493"/>
                  <a:pt x="5615214" y="72574"/>
                </a:cubicBezTo>
                <a:lnTo>
                  <a:pt x="5615214" y="625926"/>
                </a:lnTo>
                <a:cubicBezTo>
                  <a:pt x="5615214" y="666007"/>
                  <a:pt x="5582722" y="698500"/>
                  <a:pt x="5542640" y="698500"/>
                </a:cubicBezTo>
                <a:lnTo>
                  <a:pt x="72574" y="698500"/>
                </a:lnTo>
                <a:cubicBezTo>
                  <a:pt x="32493" y="698500"/>
                  <a:pt x="0" y="666007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23043400" name="Text 42"/>
          <p:cNvSpPr/>
          <p:nvPr/>
        </p:nvSpPr>
        <p:spPr bwMode="auto">
          <a:xfrm>
            <a:off x="6322786" y="4272643"/>
            <a:ext cx="5461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Анализ Payload</a:t>
            </a:r>
            <a:endParaRPr sz="1400"/>
          </a:p>
        </p:txBody>
      </p:sp>
      <p:sp>
        <p:nvSpPr>
          <p:cNvPr id="861382297" name="Text 43"/>
          <p:cNvSpPr/>
          <p:nvPr/>
        </p:nvSpPr>
        <p:spPr bwMode="auto">
          <a:xfrm>
            <a:off x="6322786" y="4562929"/>
            <a:ext cx="5451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Убедитесь, что данные отправляются в правильном формате</a:t>
            </a:r>
            <a:endParaRPr sz="1400"/>
          </a:p>
        </p:txBody>
      </p:sp>
      <p:sp>
        <p:nvSpPr>
          <p:cNvPr id="1947228862" name="Shape 44"/>
          <p:cNvSpPr/>
          <p:nvPr/>
        </p:nvSpPr>
        <p:spPr bwMode="auto">
          <a:xfrm>
            <a:off x="6209393" y="4939393"/>
            <a:ext cx="5615214" cy="1351643"/>
          </a:xfrm>
          <a:custGeom>
            <a:avLst/>
            <a:gdLst/>
            <a:ahLst/>
            <a:cxnLst/>
            <a:rect l="l" t="t" r="r" b="b"/>
            <a:pathLst>
              <a:path w="5615214" h="1351643" fill="norm" stroke="1" extrusionOk="0">
                <a:moveTo>
                  <a:pt x="72570" y="0"/>
                </a:moveTo>
                <a:lnTo>
                  <a:pt x="5542645" y="0"/>
                </a:lnTo>
                <a:cubicBezTo>
                  <a:pt x="5582724" y="0"/>
                  <a:pt x="5615214" y="32491"/>
                  <a:pt x="5615214" y="72570"/>
                </a:cubicBezTo>
                <a:lnTo>
                  <a:pt x="5615214" y="1279073"/>
                </a:lnTo>
                <a:cubicBezTo>
                  <a:pt x="5615214" y="1319152"/>
                  <a:pt x="5582724" y="1351643"/>
                  <a:pt x="5542645" y="1351643"/>
                </a:cubicBezTo>
                <a:lnTo>
                  <a:pt x="72570" y="1351643"/>
                </a:lnTo>
                <a:cubicBezTo>
                  <a:pt x="32491" y="1351643"/>
                  <a:pt x="0" y="1319152"/>
                  <a:pt x="0" y="1279073"/>
                </a:cubicBezTo>
                <a:lnTo>
                  <a:pt x="0" y="72570"/>
                </a:lnTo>
                <a:cubicBezTo>
                  <a:pt x="0" y="32517"/>
                  <a:pt x="32517" y="0"/>
                  <a:pt x="7257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756711057" name="Text 45"/>
          <p:cNvSpPr/>
          <p:nvPr/>
        </p:nvSpPr>
        <p:spPr bwMode="auto">
          <a:xfrm>
            <a:off x="6322786" y="5052786"/>
            <a:ext cx="5461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Критерии оценки</a:t>
            </a:r>
            <a:endParaRPr sz="1400"/>
          </a:p>
        </p:txBody>
      </p:sp>
      <p:sp>
        <p:nvSpPr>
          <p:cNvPr id="334693026" name="Shape 46"/>
          <p:cNvSpPr/>
          <p:nvPr/>
        </p:nvSpPr>
        <p:spPr bwMode="auto">
          <a:xfrm>
            <a:off x="6348866" y="5370286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 fill="norm" stroke="1" extrusionOk="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38590777" name="Text 47"/>
          <p:cNvSpPr/>
          <p:nvPr/>
        </p:nvSpPr>
        <p:spPr bwMode="auto">
          <a:xfrm flipH="0" flipV="0">
            <a:off x="6554106" y="5343070"/>
            <a:ext cx="3316535" cy="181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Использована вкладка Network</a:t>
            </a:r>
            <a:endParaRPr sz="1400"/>
          </a:p>
        </p:txBody>
      </p:sp>
      <p:sp>
        <p:nvSpPr>
          <p:cNvPr id="1378939550" name="Shape 48"/>
          <p:cNvSpPr/>
          <p:nvPr/>
        </p:nvSpPr>
        <p:spPr bwMode="auto">
          <a:xfrm>
            <a:off x="6348866" y="5588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 fill="norm" stroke="1" extrusionOk="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0279665" name="Text 49"/>
          <p:cNvSpPr/>
          <p:nvPr/>
        </p:nvSpPr>
        <p:spPr bwMode="auto">
          <a:xfrm flipH="0" flipV="0">
            <a:off x="6554106" y="5560785"/>
            <a:ext cx="4305321" cy="24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Проанализированы все компоненты запроса</a:t>
            </a:r>
            <a:endParaRPr sz="1400"/>
          </a:p>
        </p:txBody>
      </p:sp>
      <p:sp>
        <p:nvSpPr>
          <p:cNvPr id="459961584" name="Shape 50"/>
          <p:cNvSpPr/>
          <p:nvPr/>
        </p:nvSpPr>
        <p:spPr bwMode="auto">
          <a:xfrm>
            <a:off x="6348866" y="580571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 fill="norm" stroke="1" extrusionOk="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03851587" name="Text 51"/>
          <p:cNvSpPr/>
          <p:nvPr/>
        </p:nvSpPr>
        <p:spPr bwMode="auto">
          <a:xfrm flipH="0" flipV="0">
            <a:off x="6554106" y="5778499"/>
            <a:ext cx="42508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Задокументированы ошибки и их причины</a:t>
            </a:r>
            <a:endParaRPr sz="1400"/>
          </a:p>
        </p:txBody>
      </p:sp>
      <p:sp>
        <p:nvSpPr>
          <p:cNvPr id="277424653" name="Shape 52"/>
          <p:cNvSpPr/>
          <p:nvPr/>
        </p:nvSpPr>
        <p:spPr bwMode="auto">
          <a:xfrm>
            <a:off x="6348866" y="602342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 fill="norm" stroke="1" extrusionOk="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0532706" name="Text 53"/>
          <p:cNvSpPr/>
          <p:nvPr/>
        </p:nvSpPr>
        <p:spPr bwMode="auto">
          <a:xfrm flipH="0" flipV="0">
            <a:off x="6554106" y="5996214"/>
            <a:ext cx="4078535" cy="294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Есть скриншоты успешных запросов</a:t>
            </a:r>
            <a:endParaRPr sz="1400"/>
          </a:p>
        </p:txBody>
      </p:sp>
      <p:sp>
        <p:nvSpPr>
          <p:cNvPr id="1745743632" name="Shape 54"/>
          <p:cNvSpPr/>
          <p:nvPr/>
        </p:nvSpPr>
        <p:spPr bwMode="auto">
          <a:xfrm>
            <a:off x="367393" y="6408964"/>
            <a:ext cx="11457214" cy="444500"/>
          </a:xfrm>
          <a:custGeom>
            <a:avLst/>
            <a:gdLst/>
            <a:ahLst/>
            <a:cxnLst/>
            <a:rect l="l" t="t" r="r" b="b"/>
            <a:pathLst>
              <a:path w="11457214" h="444500" fill="norm" stroke="1" extrusionOk="0">
                <a:moveTo>
                  <a:pt x="108858" y="0"/>
                </a:moveTo>
                <a:lnTo>
                  <a:pt x="11348356" y="0"/>
                </a:lnTo>
                <a:cubicBezTo>
                  <a:pt x="11408477" y="0"/>
                  <a:pt x="11457214" y="48737"/>
                  <a:pt x="11457214" y="108858"/>
                </a:cubicBezTo>
                <a:lnTo>
                  <a:pt x="11457214" y="335642"/>
                </a:lnTo>
                <a:cubicBezTo>
                  <a:pt x="11457214" y="395763"/>
                  <a:pt x="11408477" y="444500"/>
                  <a:pt x="11348356" y="444500"/>
                </a:cubicBezTo>
                <a:lnTo>
                  <a:pt x="108858" y="444500"/>
                </a:lnTo>
                <a:cubicBezTo>
                  <a:pt x="48737" y="444500"/>
                  <a:pt x="0" y="395763"/>
                  <a:pt x="0" y="335642"/>
                </a:cubicBezTo>
                <a:lnTo>
                  <a:pt x="0" y="108858"/>
                </a:lnTo>
                <a:cubicBezTo>
                  <a:pt x="0" y="48737"/>
                  <a:pt x="48737" y="0"/>
                  <a:pt x="10885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15121991" name="Shape 55"/>
          <p:cNvSpPr/>
          <p:nvPr/>
        </p:nvSpPr>
        <p:spPr bwMode="auto">
          <a:xfrm>
            <a:off x="503464" y="6540500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 fill="norm" stroke="1" extrusionOk="0">
                <a:moveTo>
                  <a:pt x="90714" y="0"/>
                </a:moveTo>
                <a:cubicBezTo>
                  <a:pt x="140781" y="0"/>
                  <a:pt x="181429" y="40648"/>
                  <a:pt x="181429" y="90714"/>
                </a:cubicBezTo>
                <a:cubicBezTo>
                  <a:pt x="181429" y="140781"/>
                  <a:pt x="140781" y="181429"/>
                  <a:pt x="90714" y="181429"/>
                </a:cubicBezTo>
                <a:cubicBezTo>
                  <a:pt x="40648" y="181429"/>
                  <a:pt x="0" y="140781"/>
                  <a:pt x="0" y="90714"/>
                </a:cubicBezTo>
                <a:cubicBezTo>
                  <a:pt x="0" y="40648"/>
                  <a:pt x="40648" y="0"/>
                  <a:pt x="90714" y="0"/>
                </a:cubicBezTo>
                <a:close/>
                <a:moveTo>
                  <a:pt x="82210" y="42522"/>
                </a:moveTo>
                <a:lnTo>
                  <a:pt x="82210" y="90714"/>
                </a:lnTo>
                <a:cubicBezTo>
                  <a:pt x="82210" y="93549"/>
                  <a:pt x="83627" y="96207"/>
                  <a:pt x="86001" y="97801"/>
                </a:cubicBezTo>
                <a:lnTo>
                  <a:pt x="120019" y="120480"/>
                </a:lnTo>
                <a:cubicBezTo>
                  <a:pt x="123917" y="123102"/>
                  <a:pt x="129197" y="122039"/>
                  <a:pt x="131819" y="118106"/>
                </a:cubicBezTo>
                <a:cubicBezTo>
                  <a:pt x="134441" y="114172"/>
                  <a:pt x="133378" y="108928"/>
                  <a:pt x="129445" y="106306"/>
                </a:cubicBezTo>
                <a:lnTo>
                  <a:pt x="99219" y="86179"/>
                </a:lnTo>
                <a:lnTo>
                  <a:pt x="99219" y="42522"/>
                </a:lnTo>
                <a:cubicBezTo>
                  <a:pt x="99219" y="37809"/>
                  <a:pt x="95427" y="34018"/>
                  <a:pt x="90714" y="34018"/>
                </a:cubicBezTo>
                <a:cubicBezTo>
                  <a:pt x="86001" y="34018"/>
                  <a:pt x="82210" y="37809"/>
                  <a:pt x="82210" y="4252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13109453" name="Text 56"/>
          <p:cNvSpPr/>
          <p:nvPr/>
        </p:nvSpPr>
        <p:spPr bwMode="auto">
          <a:xfrm flipH="0" flipV="0">
            <a:off x="852713" y="6522356"/>
            <a:ext cx="9208428" cy="27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Время выполнения:</a:t>
            </a:r>
            <a:r>
              <a:rPr lang="en-US" sz="140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10 минут. Сохраните скриншоты и краткий отчет о тестировании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220085" name="Text 0"/>
          <p:cNvSpPr/>
          <p:nvPr/>
        </p:nvSpPr>
        <p:spPr bwMode="auto">
          <a:xfrm>
            <a:off x="376878" y="376878"/>
            <a:ext cx="1150419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Заключение</a:t>
            </a:r>
            <a:endParaRPr sz="2000"/>
          </a:p>
        </p:txBody>
      </p:sp>
      <p:sp>
        <p:nvSpPr>
          <p:cNvPr id="739142464" name="Text 1"/>
          <p:cNvSpPr/>
          <p:nvPr/>
        </p:nvSpPr>
        <p:spPr bwMode="auto">
          <a:xfrm>
            <a:off x="376878" y="678380"/>
            <a:ext cx="11664371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5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Итоги урока</a:t>
            </a:r>
            <a:endParaRPr lang="en-US" sz="1600"/>
          </a:p>
        </p:txBody>
      </p:sp>
      <p:sp>
        <p:nvSpPr>
          <p:cNvPr id="712934680" name="Text 2"/>
          <p:cNvSpPr/>
          <p:nvPr/>
        </p:nvSpPr>
        <p:spPr bwMode="auto">
          <a:xfrm>
            <a:off x="376878" y="1281385"/>
            <a:ext cx="1153246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Что мы изучили сегодня</a:t>
            </a:r>
            <a:endParaRPr lang="en-US" sz="1600"/>
          </a:p>
        </p:txBody>
      </p:sp>
      <p:sp>
        <p:nvSpPr>
          <p:cNvPr id="470848031" name="Shape 3"/>
          <p:cNvSpPr/>
          <p:nvPr/>
        </p:nvSpPr>
        <p:spPr bwMode="auto">
          <a:xfrm>
            <a:off x="395722" y="1771326"/>
            <a:ext cx="5587215" cy="1243697"/>
          </a:xfrm>
          <a:custGeom>
            <a:avLst/>
            <a:gdLst/>
            <a:ahLst/>
            <a:cxnLst/>
            <a:rect l="l" t="t" r="r" b="b"/>
            <a:pathLst>
              <a:path w="5587215" h="1243697" fill="norm" stroke="1" extrusionOk="0">
                <a:moveTo>
                  <a:pt x="37688" y="0"/>
                </a:moveTo>
                <a:lnTo>
                  <a:pt x="5474150" y="0"/>
                </a:lnTo>
                <a:cubicBezTo>
                  <a:pt x="5536594" y="0"/>
                  <a:pt x="5587215" y="50621"/>
                  <a:pt x="5587215" y="113065"/>
                </a:cubicBezTo>
                <a:lnTo>
                  <a:pt x="5587215" y="1130633"/>
                </a:lnTo>
                <a:cubicBezTo>
                  <a:pt x="5587215" y="1193076"/>
                  <a:pt x="5536594" y="1243697"/>
                  <a:pt x="5474150" y="1243697"/>
                </a:cubicBezTo>
                <a:lnTo>
                  <a:pt x="37688" y="1243697"/>
                </a:lnTo>
                <a:cubicBezTo>
                  <a:pt x="16873" y="1243697"/>
                  <a:pt x="0" y="1226824"/>
                  <a:pt x="0" y="120600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034094457" name="Shape 4"/>
          <p:cNvSpPr/>
          <p:nvPr/>
        </p:nvSpPr>
        <p:spPr bwMode="auto">
          <a:xfrm>
            <a:off x="395722" y="1771326"/>
            <a:ext cx="37688" cy="1243697"/>
          </a:xfrm>
          <a:custGeom>
            <a:avLst/>
            <a:gdLst/>
            <a:ahLst/>
            <a:cxnLst/>
            <a:rect l="l" t="t" r="r" b="b"/>
            <a:pathLst>
              <a:path w="37688" h="1243697" fill="norm" stroke="1" extrusionOk="0">
                <a:moveTo>
                  <a:pt x="37688" y="0"/>
                </a:moveTo>
                <a:lnTo>
                  <a:pt x="37688" y="0"/>
                </a:lnTo>
                <a:lnTo>
                  <a:pt x="37688" y="1243697"/>
                </a:lnTo>
                <a:lnTo>
                  <a:pt x="37688" y="1243697"/>
                </a:lnTo>
                <a:cubicBezTo>
                  <a:pt x="16873" y="1243697"/>
                  <a:pt x="0" y="1226824"/>
                  <a:pt x="0" y="120600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61624009" name="Shape 5"/>
          <p:cNvSpPr/>
          <p:nvPr/>
        </p:nvSpPr>
        <p:spPr bwMode="auto">
          <a:xfrm>
            <a:off x="650114" y="1997453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 fill="norm" stroke="1" extrusionOk="0">
                <a:moveTo>
                  <a:pt x="0" y="23555"/>
                </a:moveTo>
                <a:cubicBezTo>
                  <a:pt x="0" y="10563"/>
                  <a:pt x="10563" y="0"/>
                  <a:pt x="23555" y="0"/>
                </a:cubicBezTo>
                <a:lnTo>
                  <a:pt x="78578" y="0"/>
                </a:lnTo>
                <a:cubicBezTo>
                  <a:pt x="84834" y="0"/>
                  <a:pt x="90833" y="2466"/>
                  <a:pt x="95250" y="6882"/>
                </a:cubicBezTo>
                <a:lnTo>
                  <a:pt x="134447" y="46116"/>
                </a:lnTo>
                <a:cubicBezTo>
                  <a:pt x="138863" y="50533"/>
                  <a:pt x="141329" y="56532"/>
                  <a:pt x="141329" y="62788"/>
                </a:cubicBezTo>
                <a:lnTo>
                  <a:pt x="141329" y="164884"/>
                </a:lnTo>
                <a:cubicBezTo>
                  <a:pt x="141329" y="177876"/>
                  <a:pt x="130766" y="188439"/>
                  <a:pt x="117774" y="188439"/>
                </a:cubicBezTo>
                <a:lnTo>
                  <a:pt x="23555" y="188439"/>
                </a:lnTo>
                <a:cubicBezTo>
                  <a:pt x="10563" y="188439"/>
                  <a:pt x="0" y="177876"/>
                  <a:pt x="0" y="164884"/>
                </a:cubicBezTo>
                <a:lnTo>
                  <a:pt x="0" y="23555"/>
                </a:lnTo>
                <a:close/>
                <a:moveTo>
                  <a:pt x="76553" y="21531"/>
                </a:moveTo>
                <a:lnTo>
                  <a:pt x="76553" y="55943"/>
                </a:lnTo>
                <a:cubicBezTo>
                  <a:pt x="76553" y="60838"/>
                  <a:pt x="80491" y="64776"/>
                  <a:pt x="85386" y="64776"/>
                </a:cubicBezTo>
                <a:lnTo>
                  <a:pt x="119799" y="64776"/>
                </a:lnTo>
                <a:lnTo>
                  <a:pt x="76553" y="21531"/>
                </a:lnTo>
                <a:close/>
                <a:moveTo>
                  <a:pt x="56753" y="108794"/>
                </a:moveTo>
                <a:cubicBezTo>
                  <a:pt x="59918" y="105077"/>
                  <a:pt x="59513" y="99519"/>
                  <a:pt x="55796" y="96354"/>
                </a:cubicBezTo>
                <a:cubicBezTo>
                  <a:pt x="52078" y="93189"/>
                  <a:pt x="46521" y="93594"/>
                  <a:pt x="43356" y="97311"/>
                </a:cubicBezTo>
                <a:lnTo>
                  <a:pt x="25690" y="117922"/>
                </a:lnTo>
                <a:cubicBezTo>
                  <a:pt x="22856" y="121234"/>
                  <a:pt x="22856" y="126092"/>
                  <a:pt x="25690" y="129405"/>
                </a:cubicBezTo>
                <a:lnTo>
                  <a:pt x="43356" y="150015"/>
                </a:lnTo>
                <a:cubicBezTo>
                  <a:pt x="46521" y="153732"/>
                  <a:pt x="52115" y="154137"/>
                  <a:pt x="55796" y="150972"/>
                </a:cubicBezTo>
                <a:cubicBezTo>
                  <a:pt x="59476" y="147807"/>
                  <a:pt x="59918" y="142213"/>
                  <a:pt x="56753" y="138532"/>
                </a:cubicBezTo>
                <a:lnTo>
                  <a:pt x="44018" y="123663"/>
                </a:lnTo>
                <a:lnTo>
                  <a:pt x="56753" y="108794"/>
                </a:lnTo>
                <a:close/>
                <a:moveTo>
                  <a:pt x="97974" y="97311"/>
                </a:moveTo>
                <a:cubicBezTo>
                  <a:pt x="94808" y="93594"/>
                  <a:pt x="89214" y="93189"/>
                  <a:pt x="85534" y="96354"/>
                </a:cubicBezTo>
                <a:cubicBezTo>
                  <a:pt x="81853" y="99519"/>
                  <a:pt x="81412" y="105114"/>
                  <a:pt x="84577" y="108794"/>
                </a:cubicBezTo>
                <a:lnTo>
                  <a:pt x="97311" y="123663"/>
                </a:lnTo>
                <a:lnTo>
                  <a:pt x="84577" y="138532"/>
                </a:lnTo>
                <a:cubicBezTo>
                  <a:pt x="81412" y="142249"/>
                  <a:pt x="81816" y="147807"/>
                  <a:pt x="85534" y="150972"/>
                </a:cubicBezTo>
                <a:cubicBezTo>
                  <a:pt x="89251" y="154137"/>
                  <a:pt x="94808" y="153732"/>
                  <a:pt x="97974" y="150015"/>
                </a:cubicBezTo>
                <a:lnTo>
                  <a:pt x="115640" y="129405"/>
                </a:lnTo>
                <a:cubicBezTo>
                  <a:pt x="118474" y="126092"/>
                  <a:pt x="118474" y="121234"/>
                  <a:pt x="115640" y="117922"/>
                </a:cubicBezTo>
                <a:lnTo>
                  <a:pt x="97974" y="9731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82222103" name="Text 6"/>
          <p:cNvSpPr/>
          <p:nvPr/>
        </p:nvSpPr>
        <p:spPr bwMode="auto">
          <a:xfrm>
            <a:off x="951617" y="1959765"/>
            <a:ext cx="135676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HTML-формы</a:t>
            </a:r>
            <a:endParaRPr lang="en-US" sz="1600"/>
          </a:p>
        </p:txBody>
      </p:sp>
      <p:sp>
        <p:nvSpPr>
          <p:cNvPr id="1661232802" name="Text 7"/>
          <p:cNvSpPr/>
          <p:nvPr/>
        </p:nvSpPr>
        <p:spPr bwMode="auto">
          <a:xfrm>
            <a:off x="603005" y="2336643"/>
            <a:ext cx="5266869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Создание семантически правильных форм с элементами form, input, label, textarea, button</a:t>
            </a:r>
            <a:endParaRPr sz="1400"/>
          </a:p>
        </p:txBody>
      </p:sp>
      <p:sp>
        <p:nvSpPr>
          <p:cNvPr id="1096947450" name="Shape 8"/>
          <p:cNvSpPr/>
          <p:nvPr/>
        </p:nvSpPr>
        <p:spPr bwMode="auto">
          <a:xfrm>
            <a:off x="395722" y="3165774"/>
            <a:ext cx="5587215" cy="1243697"/>
          </a:xfrm>
          <a:custGeom>
            <a:avLst/>
            <a:gdLst/>
            <a:ahLst/>
            <a:cxnLst/>
            <a:rect l="l" t="t" r="r" b="b"/>
            <a:pathLst>
              <a:path w="5587215" h="1243697" fill="norm" stroke="1" extrusionOk="0">
                <a:moveTo>
                  <a:pt x="37688" y="0"/>
                </a:moveTo>
                <a:lnTo>
                  <a:pt x="5474150" y="0"/>
                </a:lnTo>
                <a:cubicBezTo>
                  <a:pt x="5536594" y="0"/>
                  <a:pt x="5587215" y="50621"/>
                  <a:pt x="5587215" y="113065"/>
                </a:cubicBezTo>
                <a:lnTo>
                  <a:pt x="5587215" y="1130633"/>
                </a:lnTo>
                <a:cubicBezTo>
                  <a:pt x="5587215" y="1193076"/>
                  <a:pt x="5536594" y="1243697"/>
                  <a:pt x="5474150" y="1243697"/>
                </a:cubicBezTo>
                <a:lnTo>
                  <a:pt x="37688" y="1243697"/>
                </a:lnTo>
                <a:cubicBezTo>
                  <a:pt x="16873" y="1243697"/>
                  <a:pt x="0" y="1226824"/>
                  <a:pt x="0" y="120600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908546532" name="Shape 9"/>
          <p:cNvSpPr/>
          <p:nvPr/>
        </p:nvSpPr>
        <p:spPr bwMode="auto">
          <a:xfrm>
            <a:off x="395722" y="3165774"/>
            <a:ext cx="37688" cy="1243697"/>
          </a:xfrm>
          <a:custGeom>
            <a:avLst/>
            <a:gdLst/>
            <a:ahLst/>
            <a:cxnLst/>
            <a:rect l="l" t="t" r="r" b="b"/>
            <a:pathLst>
              <a:path w="37688" h="1243697" fill="norm" stroke="1" extrusionOk="0">
                <a:moveTo>
                  <a:pt x="37688" y="0"/>
                </a:moveTo>
                <a:lnTo>
                  <a:pt x="37688" y="0"/>
                </a:lnTo>
                <a:lnTo>
                  <a:pt x="37688" y="1243697"/>
                </a:lnTo>
                <a:lnTo>
                  <a:pt x="37688" y="1243697"/>
                </a:lnTo>
                <a:cubicBezTo>
                  <a:pt x="16873" y="1243697"/>
                  <a:pt x="0" y="1226824"/>
                  <a:pt x="0" y="120600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18471827" name="Shape 10"/>
          <p:cNvSpPr/>
          <p:nvPr/>
        </p:nvSpPr>
        <p:spPr bwMode="auto">
          <a:xfrm>
            <a:off x="626560" y="3391901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 fill="norm" stroke="1" extrusionOk="0">
                <a:moveTo>
                  <a:pt x="94219" y="188439"/>
                </a:moveTo>
                <a:cubicBezTo>
                  <a:pt x="146221" y="188439"/>
                  <a:pt x="188439" y="146221"/>
                  <a:pt x="188439" y="94219"/>
                </a:cubicBezTo>
                <a:cubicBezTo>
                  <a:pt x="188439" y="42218"/>
                  <a:pt x="146221" y="0"/>
                  <a:pt x="94219" y="0"/>
                </a:cubicBezTo>
                <a:cubicBezTo>
                  <a:pt x="42218" y="0"/>
                  <a:pt x="0" y="42218"/>
                  <a:pt x="0" y="94219"/>
                </a:cubicBezTo>
                <a:cubicBezTo>
                  <a:pt x="0" y="146221"/>
                  <a:pt x="42218" y="188439"/>
                  <a:pt x="94219" y="188439"/>
                </a:cubicBezTo>
                <a:close/>
                <a:moveTo>
                  <a:pt x="125282" y="78283"/>
                </a:moveTo>
                <a:lnTo>
                  <a:pt x="95839" y="125393"/>
                </a:lnTo>
                <a:cubicBezTo>
                  <a:pt x="94293" y="127859"/>
                  <a:pt x="91643" y="129405"/>
                  <a:pt x="88736" y="129552"/>
                </a:cubicBezTo>
                <a:cubicBezTo>
                  <a:pt x="85828" y="129699"/>
                  <a:pt x="83031" y="128374"/>
                  <a:pt x="81301" y="126019"/>
                </a:cubicBezTo>
                <a:lnTo>
                  <a:pt x="63635" y="102464"/>
                </a:lnTo>
                <a:cubicBezTo>
                  <a:pt x="60691" y="98562"/>
                  <a:pt x="61500" y="93042"/>
                  <a:pt x="65402" y="90097"/>
                </a:cubicBezTo>
                <a:cubicBezTo>
                  <a:pt x="69303" y="87153"/>
                  <a:pt x="74824" y="87963"/>
                  <a:pt x="77768" y="91864"/>
                </a:cubicBezTo>
                <a:lnTo>
                  <a:pt x="87705" y="105114"/>
                </a:lnTo>
                <a:lnTo>
                  <a:pt x="110303" y="68935"/>
                </a:lnTo>
                <a:cubicBezTo>
                  <a:pt x="112879" y="64813"/>
                  <a:pt x="118326" y="63525"/>
                  <a:pt x="122485" y="66138"/>
                </a:cubicBezTo>
                <a:cubicBezTo>
                  <a:pt x="126644" y="68751"/>
                  <a:pt x="127896" y="74161"/>
                  <a:pt x="125282" y="7832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08529585" name="Text 11"/>
          <p:cNvSpPr/>
          <p:nvPr/>
        </p:nvSpPr>
        <p:spPr bwMode="auto">
          <a:xfrm>
            <a:off x="951617" y="3354213"/>
            <a:ext cx="111179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Валидация</a:t>
            </a:r>
            <a:endParaRPr lang="en-US" sz="1600"/>
          </a:p>
        </p:txBody>
      </p:sp>
      <p:sp>
        <p:nvSpPr>
          <p:cNvPr id="1384743963" name="Text 12"/>
          <p:cNvSpPr/>
          <p:nvPr/>
        </p:nvSpPr>
        <p:spPr bwMode="auto">
          <a:xfrm>
            <a:off x="603005" y="3731091"/>
            <a:ext cx="5266869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HTML5 атрибуты (required, type, minlength) и JavaScript Constraint Validation API</a:t>
            </a:r>
            <a:endParaRPr sz="1400"/>
          </a:p>
        </p:txBody>
      </p:sp>
      <p:sp>
        <p:nvSpPr>
          <p:cNvPr id="361172632" name="Shape 13"/>
          <p:cNvSpPr/>
          <p:nvPr/>
        </p:nvSpPr>
        <p:spPr bwMode="auto">
          <a:xfrm>
            <a:off x="395722" y="4560223"/>
            <a:ext cx="5587215" cy="998726"/>
          </a:xfrm>
          <a:custGeom>
            <a:avLst/>
            <a:gdLst/>
            <a:ahLst/>
            <a:cxnLst/>
            <a:rect l="l" t="t" r="r" b="b"/>
            <a:pathLst>
              <a:path w="5587215" h="998726" fill="norm" stroke="1" extrusionOk="0">
                <a:moveTo>
                  <a:pt x="37688" y="0"/>
                </a:moveTo>
                <a:lnTo>
                  <a:pt x="5474149" y="0"/>
                </a:lnTo>
                <a:cubicBezTo>
                  <a:pt x="5536594" y="0"/>
                  <a:pt x="5587215" y="50621"/>
                  <a:pt x="5587215" y="113066"/>
                </a:cubicBezTo>
                <a:lnTo>
                  <a:pt x="5587215" y="885661"/>
                </a:lnTo>
                <a:cubicBezTo>
                  <a:pt x="5587215" y="948105"/>
                  <a:pt x="5536594" y="998726"/>
                  <a:pt x="5474149" y="998726"/>
                </a:cubicBez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74863400" name="Shape 14"/>
          <p:cNvSpPr/>
          <p:nvPr/>
        </p:nvSpPr>
        <p:spPr bwMode="auto">
          <a:xfrm>
            <a:off x="395722" y="4560223"/>
            <a:ext cx="37688" cy="998726"/>
          </a:xfrm>
          <a:custGeom>
            <a:avLst/>
            <a:gdLst/>
            <a:ahLst/>
            <a:cxnLst/>
            <a:rect l="l" t="t" r="r" b="b"/>
            <a:pathLst>
              <a:path w="37688" h="998726" fill="norm" stroke="1" extrusionOk="0">
                <a:moveTo>
                  <a:pt x="37688" y="0"/>
                </a:moveTo>
                <a:lnTo>
                  <a:pt x="37688" y="0"/>
                </a:lnTo>
                <a:lnTo>
                  <a:pt x="37688" y="998726"/>
                </a:ln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75114375" name="Shape 15"/>
          <p:cNvSpPr/>
          <p:nvPr/>
        </p:nvSpPr>
        <p:spPr bwMode="auto">
          <a:xfrm>
            <a:off x="638337" y="4786349"/>
            <a:ext cx="164884" cy="188439"/>
          </a:xfrm>
          <a:custGeom>
            <a:avLst/>
            <a:gdLst/>
            <a:ahLst/>
            <a:cxnLst/>
            <a:rect l="l" t="t" r="r" b="b"/>
            <a:pathLst>
              <a:path w="164884" h="188439" fill="norm" stroke="1" extrusionOk="0">
                <a:moveTo>
                  <a:pt x="23555" y="11777"/>
                </a:moveTo>
                <a:cubicBezTo>
                  <a:pt x="10563" y="11777"/>
                  <a:pt x="0" y="22340"/>
                  <a:pt x="0" y="35332"/>
                </a:cubicBezTo>
                <a:lnTo>
                  <a:pt x="0" y="58887"/>
                </a:lnTo>
                <a:cubicBezTo>
                  <a:pt x="0" y="71879"/>
                  <a:pt x="10563" y="82442"/>
                  <a:pt x="23555" y="82442"/>
                </a:cubicBezTo>
                <a:lnTo>
                  <a:pt x="141329" y="82442"/>
                </a:lnTo>
                <a:cubicBezTo>
                  <a:pt x="154321" y="82442"/>
                  <a:pt x="164884" y="71879"/>
                  <a:pt x="164884" y="58887"/>
                </a:cubicBezTo>
                <a:lnTo>
                  <a:pt x="164884" y="35332"/>
                </a:lnTo>
                <a:cubicBezTo>
                  <a:pt x="164884" y="22340"/>
                  <a:pt x="154321" y="11777"/>
                  <a:pt x="141329" y="11777"/>
                </a:cubicBezTo>
                <a:lnTo>
                  <a:pt x="23555" y="11777"/>
                </a:lnTo>
                <a:close/>
                <a:moveTo>
                  <a:pt x="103053" y="38277"/>
                </a:moveTo>
                <a:cubicBezTo>
                  <a:pt x="107928" y="38277"/>
                  <a:pt x="111886" y="42235"/>
                  <a:pt x="111886" y="47110"/>
                </a:cubicBezTo>
                <a:cubicBezTo>
                  <a:pt x="111886" y="51985"/>
                  <a:pt x="107928" y="55943"/>
                  <a:pt x="103053" y="55943"/>
                </a:cubicBezTo>
                <a:cubicBezTo>
                  <a:pt x="98177" y="55943"/>
                  <a:pt x="94219" y="51985"/>
                  <a:pt x="94219" y="47110"/>
                </a:cubicBezTo>
                <a:cubicBezTo>
                  <a:pt x="94219" y="42235"/>
                  <a:pt x="98177" y="38277"/>
                  <a:pt x="103053" y="38277"/>
                </a:cubicBezTo>
                <a:close/>
                <a:moveTo>
                  <a:pt x="123663" y="47110"/>
                </a:moveTo>
                <a:cubicBezTo>
                  <a:pt x="123663" y="42235"/>
                  <a:pt x="127621" y="38277"/>
                  <a:pt x="132496" y="38277"/>
                </a:cubicBezTo>
                <a:cubicBezTo>
                  <a:pt x="137371" y="38277"/>
                  <a:pt x="141329" y="42235"/>
                  <a:pt x="141329" y="47110"/>
                </a:cubicBezTo>
                <a:cubicBezTo>
                  <a:pt x="141329" y="51985"/>
                  <a:pt x="137371" y="55943"/>
                  <a:pt x="132496" y="55943"/>
                </a:cubicBezTo>
                <a:cubicBezTo>
                  <a:pt x="127621" y="55943"/>
                  <a:pt x="123663" y="51985"/>
                  <a:pt x="123663" y="47110"/>
                </a:cubicBezTo>
                <a:close/>
                <a:moveTo>
                  <a:pt x="23555" y="105997"/>
                </a:moveTo>
                <a:cubicBezTo>
                  <a:pt x="10563" y="105997"/>
                  <a:pt x="0" y="116560"/>
                  <a:pt x="0" y="129552"/>
                </a:cubicBezTo>
                <a:lnTo>
                  <a:pt x="0" y="153107"/>
                </a:lnTo>
                <a:cubicBezTo>
                  <a:pt x="0" y="166099"/>
                  <a:pt x="10563" y="176662"/>
                  <a:pt x="23555" y="176662"/>
                </a:cubicBezTo>
                <a:lnTo>
                  <a:pt x="141329" y="176662"/>
                </a:lnTo>
                <a:cubicBezTo>
                  <a:pt x="154321" y="176662"/>
                  <a:pt x="164884" y="166099"/>
                  <a:pt x="164884" y="153107"/>
                </a:cubicBezTo>
                <a:lnTo>
                  <a:pt x="164884" y="129552"/>
                </a:lnTo>
                <a:cubicBezTo>
                  <a:pt x="164884" y="116560"/>
                  <a:pt x="154321" y="105997"/>
                  <a:pt x="141329" y="105997"/>
                </a:cubicBezTo>
                <a:lnTo>
                  <a:pt x="23555" y="105997"/>
                </a:lnTo>
                <a:close/>
                <a:moveTo>
                  <a:pt x="103053" y="132496"/>
                </a:moveTo>
                <a:cubicBezTo>
                  <a:pt x="107928" y="132496"/>
                  <a:pt x="111886" y="136454"/>
                  <a:pt x="111886" y="141329"/>
                </a:cubicBezTo>
                <a:cubicBezTo>
                  <a:pt x="111886" y="146204"/>
                  <a:pt x="107928" y="150162"/>
                  <a:pt x="103053" y="150162"/>
                </a:cubicBezTo>
                <a:cubicBezTo>
                  <a:pt x="98177" y="150162"/>
                  <a:pt x="94219" y="146204"/>
                  <a:pt x="94219" y="141329"/>
                </a:cubicBezTo>
                <a:cubicBezTo>
                  <a:pt x="94219" y="136454"/>
                  <a:pt x="98177" y="132496"/>
                  <a:pt x="103053" y="132496"/>
                </a:cubicBezTo>
                <a:close/>
                <a:moveTo>
                  <a:pt x="123663" y="141329"/>
                </a:moveTo>
                <a:cubicBezTo>
                  <a:pt x="123663" y="136454"/>
                  <a:pt x="127621" y="132496"/>
                  <a:pt x="132496" y="132496"/>
                </a:cubicBezTo>
                <a:cubicBezTo>
                  <a:pt x="137371" y="132496"/>
                  <a:pt x="141329" y="136454"/>
                  <a:pt x="141329" y="141329"/>
                </a:cubicBezTo>
                <a:cubicBezTo>
                  <a:pt x="141329" y="146204"/>
                  <a:pt x="137371" y="150162"/>
                  <a:pt x="132496" y="150162"/>
                </a:cubicBezTo>
                <a:cubicBezTo>
                  <a:pt x="127621" y="150162"/>
                  <a:pt x="123663" y="146204"/>
                  <a:pt x="123663" y="14132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4445860" name="Text 16"/>
          <p:cNvSpPr/>
          <p:nvPr/>
        </p:nvSpPr>
        <p:spPr bwMode="auto">
          <a:xfrm>
            <a:off x="951617" y="4748662"/>
            <a:ext cx="134733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HTTP методы</a:t>
            </a:r>
            <a:endParaRPr lang="en-US" sz="1600"/>
          </a:p>
        </p:txBody>
      </p:sp>
      <p:sp>
        <p:nvSpPr>
          <p:cNvPr id="2000468711" name="Text 17"/>
          <p:cNvSpPr/>
          <p:nvPr/>
        </p:nvSpPr>
        <p:spPr bwMode="auto">
          <a:xfrm>
            <a:off x="603005" y="5125539"/>
            <a:ext cx="5266869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Различия между GET и POST, когда использовать каждый метод</a:t>
            </a:r>
            <a:endParaRPr sz="1400"/>
          </a:p>
        </p:txBody>
      </p:sp>
      <p:sp>
        <p:nvSpPr>
          <p:cNvPr id="405229188" name="Shape 18"/>
          <p:cNvSpPr/>
          <p:nvPr/>
        </p:nvSpPr>
        <p:spPr bwMode="auto">
          <a:xfrm>
            <a:off x="6229007" y="1771326"/>
            <a:ext cx="5587215" cy="998726"/>
          </a:xfrm>
          <a:custGeom>
            <a:avLst/>
            <a:gdLst/>
            <a:ahLst/>
            <a:cxnLst/>
            <a:rect l="l" t="t" r="r" b="b"/>
            <a:pathLst>
              <a:path w="5587215" h="998726" fill="norm" stroke="1" extrusionOk="0">
                <a:moveTo>
                  <a:pt x="37688" y="0"/>
                </a:moveTo>
                <a:lnTo>
                  <a:pt x="5474149" y="0"/>
                </a:lnTo>
                <a:cubicBezTo>
                  <a:pt x="5536594" y="0"/>
                  <a:pt x="5587215" y="50621"/>
                  <a:pt x="5587215" y="113066"/>
                </a:cubicBezTo>
                <a:lnTo>
                  <a:pt x="5587215" y="885661"/>
                </a:lnTo>
                <a:cubicBezTo>
                  <a:pt x="5587215" y="948105"/>
                  <a:pt x="5536594" y="998726"/>
                  <a:pt x="5474149" y="998726"/>
                </a:cubicBez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902424389" name="Shape 19"/>
          <p:cNvSpPr/>
          <p:nvPr/>
        </p:nvSpPr>
        <p:spPr bwMode="auto">
          <a:xfrm>
            <a:off x="6229007" y="1771326"/>
            <a:ext cx="37688" cy="998726"/>
          </a:xfrm>
          <a:custGeom>
            <a:avLst/>
            <a:gdLst/>
            <a:ahLst/>
            <a:cxnLst/>
            <a:rect l="l" t="t" r="r" b="b"/>
            <a:pathLst>
              <a:path w="37688" h="998726" fill="norm" stroke="1" extrusionOk="0">
                <a:moveTo>
                  <a:pt x="37688" y="0"/>
                </a:moveTo>
                <a:lnTo>
                  <a:pt x="37688" y="0"/>
                </a:lnTo>
                <a:lnTo>
                  <a:pt x="37688" y="998726"/>
                </a:ln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23227450" name="Shape 20"/>
          <p:cNvSpPr/>
          <p:nvPr/>
        </p:nvSpPr>
        <p:spPr bwMode="auto">
          <a:xfrm>
            <a:off x="6471621" y="1997453"/>
            <a:ext cx="164884" cy="188439"/>
          </a:xfrm>
          <a:custGeom>
            <a:avLst/>
            <a:gdLst/>
            <a:ahLst/>
            <a:cxnLst/>
            <a:rect l="l" t="t" r="r" b="b"/>
            <a:pathLst>
              <a:path w="164884" h="188439" fill="norm" stroke="1" extrusionOk="0">
                <a:moveTo>
                  <a:pt x="47110" y="-11777"/>
                </a:moveTo>
                <a:cubicBezTo>
                  <a:pt x="53624" y="-11777"/>
                  <a:pt x="58887" y="-6514"/>
                  <a:pt x="58887" y="0"/>
                </a:cubicBezTo>
                <a:lnTo>
                  <a:pt x="58887" y="35332"/>
                </a:lnTo>
                <a:lnTo>
                  <a:pt x="105997" y="35332"/>
                </a:lnTo>
                <a:lnTo>
                  <a:pt x="105997" y="0"/>
                </a:lnTo>
                <a:cubicBezTo>
                  <a:pt x="105997" y="-6514"/>
                  <a:pt x="111260" y="-11777"/>
                  <a:pt x="117774" y="-11777"/>
                </a:cubicBezTo>
                <a:cubicBezTo>
                  <a:pt x="124289" y="-11777"/>
                  <a:pt x="129552" y="-6514"/>
                  <a:pt x="129552" y="0"/>
                </a:cubicBezTo>
                <a:lnTo>
                  <a:pt x="129552" y="35332"/>
                </a:lnTo>
                <a:lnTo>
                  <a:pt x="153107" y="35332"/>
                </a:lnTo>
                <a:cubicBezTo>
                  <a:pt x="159621" y="35332"/>
                  <a:pt x="164884" y="40595"/>
                  <a:pt x="164884" y="47110"/>
                </a:cubicBezTo>
                <a:cubicBezTo>
                  <a:pt x="164884" y="53624"/>
                  <a:pt x="159621" y="58887"/>
                  <a:pt x="153107" y="58887"/>
                </a:cubicBezTo>
                <a:lnTo>
                  <a:pt x="153107" y="82442"/>
                </a:lnTo>
                <a:cubicBezTo>
                  <a:pt x="153107" y="117443"/>
                  <a:pt x="127638" y="146519"/>
                  <a:pt x="94219" y="152113"/>
                </a:cubicBezTo>
                <a:lnTo>
                  <a:pt x="94219" y="176662"/>
                </a:lnTo>
                <a:cubicBezTo>
                  <a:pt x="94219" y="183176"/>
                  <a:pt x="88956" y="188439"/>
                  <a:pt x="82442" y="188439"/>
                </a:cubicBezTo>
                <a:cubicBezTo>
                  <a:pt x="75928" y="188439"/>
                  <a:pt x="70665" y="183176"/>
                  <a:pt x="70665" y="176662"/>
                </a:cubicBezTo>
                <a:lnTo>
                  <a:pt x="70665" y="152113"/>
                </a:lnTo>
                <a:cubicBezTo>
                  <a:pt x="37246" y="146519"/>
                  <a:pt x="11777" y="117443"/>
                  <a:pt x="11777" y="82442"/>
                </a:cubicBezTo>
                <a:lnTo>
                  <a:pt x="11777" y="58887"/>
                </a:lnTo>
                <a:cubicBezTo>
                  <a:pt x="5263" y="58887"/>
                  <a:pt x="0" y="53624"/>
                  <a:pt x="0" y="47110"/>
                </a:cubicBezTo>
                <a:cubicBezTo>
                  <a:pt x="0" y="40595"/>
                  <a:pt x="5263" y="35332"/>
                  <a:pt x="11777" y="35332"/>
                </a:cubicBezTo>
                <a:lnTo>
                  <a:pt x="35332" y="35332"/>
                </a:lnTo>
                <a:lnTo>
                  <a:pt x="35332" y="0"/>
                </a:lnTo>
                <a:cubicBezTo>
                  <a:pt x="35332" y="-6514"/>
                  <a:pt x="40595" y="-11777"/>
                  <a:pt x="47110" y="-1177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75677206" name="Text 21"/>
          <p:cNvSpPr/>
          <p:nvPr/>
        </p:nvSpPr>
        <p:spPr bwMode="auto">
          <a:xfrm>
            <a:off x="6784902" y="1959765"/>
            <a:ext cx="146040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API и Webhook</a:t>
            </a:r>
            <a:endParaRPr lang="en-US" sz="1600"/>
          </a:p>
        </p:txBody>
      </p:sp>
      <p:sp>
        <p:nvSpPr>
          <p:cNvPr id="816196382" name="Text 22"/>
          <p:cNvSpPr/>
          <p:nvPr/>
        </p:nvSpPr>
        <p:spPr bwMode="auto">
          <a:xfrm>
            <a:off x="6436290" y="2336643"/>
            <a:ext cx="5266869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Понимание API, webhook endpoint, формат JSON для передачи данных</a:t>
            </a:r>
            <a:endParaRPr sz="1400"/>
          </a:p>
        </p:txBody>
      </p:sp>
      <p:sp>
        <p:nvSpPr>
          <p:cNvPr id="1368235514" name="Shape 23"/>
          <p:cNvSpPr/>
          <p:nvPr/>
        </p:nvSpPr>
        <p:spPr bwMode="auto">
          <a:xfrm>
            <a:off x="6229007" y="2920804"/>
            <a:ext cx="5587215" cy="998726"/>
          </a:xfrm>
          <a:custGeom>
            <a:avLst/>
            <a:gdLst/>
            <a:ahLst/>
            <a:cxnLst/>
            <a:rect l="l" t="t" r="r" b="b"/>
            <a:pathLst>
              <a:path w="5587215" h="998726" fill="norm" stroke="1" extrusionOk="0">
                <a:moveTo>
                  <a:pt x="37688" y="0"/>
                </a:moveTo>
                <a:lnTo>
                  <a:pt x="5474149" y="0"/>
                </a:lnTo>
                <a:cubicBezTo>
                  <a:pt x="5536594" y="0"/>
                  <a:pt x="5587215" y="50621"/>
                  <a:pt x="5587215" y="113066"/>
                </a:cubicBezTo>
                <a:lnTo>
                  <a:pt x="5587215" y="885661"/>
                </a:lnTo>
                <a:cubicBezTo>
                  <a:pt x="5587215" y="948105"/>
                  <a:pt x="5536594" y="998726"/>
                  <a:pt x="5474149" y="998726"/>
                </a:cubicBez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829486382" name="Shape 24"/>
          <p:cNvSpPr/>
          <p:nvPr/>
        </p:nvSpPr>
        <p:spPr bwMode="auto">
          <a:xfrm>
            <a:off x="6229007" y="2920804"/>
            <a:ext cx="37688" cy="998726"/>
          </a:xfrm>
          <a:custGeom>
            <a:avLst/>
            <a:gdLst/>
            <a:ahLst/>
            <a:cxnLst/>
            <a:rect l="l" t="t" r="r" b="b"/>
            <a:pathLst>
              <a:path w="37688" h="998726" fill="norm" stroke="1" extrusionOk="0">
                <a:moveTo>
                  <a:pt x="37688" y="0"/>
                </a:moveTo>
                <a:lnTo>
                  <a:pt x="37688" y="0"/>
                </a:lnTo>
                <a:lnTo>
                  <a:pt x="37688" y="998726"/>
                </a:ln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75698861" name="Shape 25"/>
          <p:cNvSpPr/>
          <p:nvPr/>
        </p:nvSpPr>
        <p:spPr bwMode="auto">
          <a:xfrm>
            <a:off x="6448067" y="3146930"/>
            <a:ext cx="211994" cy="188439"/>
          </a:xfrm>
          <a:custGeom>
            <a:avLst/>
            <a:gdLst/>
            <a:ahLst/>
            <a:cxnLst/>
            <a:rect l="l" t="t" r="r" b="b"/>
            <a:pathLst>
              <a:path w="211994" h="188439" fill="norm" stroke="1" extrusionOk="0">
                <a:moveTo>
                  <a:pt x="197419" y="-9680"/>
                </a:moveTo>
                <a:cubicBezTo>
                  <a:pt x="201026" y="-10968"/>
                  <a:pt x="205001" y="-10048"/>
                  <a:pt x="207724" y="-7361"/>
                </a:cubicBezTo>
                <a:cubicBezTo>
                  <a:pt x="210448" y="-4674"/>
                  <a:pt x="211331" y="-662"/>
                  <a:pt x="210043" y="2944"/>
                </a:cubicBezTo>
                <a:lnTo>
                  <a:pt x="144531" y="185826"/>
                </a:lnTo>
                <a:cubicBezTo>
                  <a:pt x="142691" y="190942"/>
                  <a:pt x="137870" y="194328"/>
                  <a:pt x="132459" y="194328"/>
                </a:cubicBezTo>
                <a:cubicBezTo>
                  <a:pt x="127233" y="194328"/>
                  <a:pt x="122522" y="191162"/>
                  <a:pt x="120571" y="186341"/>
                </a:cubicBezTo>
                <a:lnTo>
                  <a:pt x="96943" y="128190"/>
                </a:lnTo>
                <a:cubicBezTo>
                  <a:pt x="95287" y="124142"/>
                  <a:pt x="96023" y="119504"/>
                  <a:pt x="98857" y="116192"/>
                </a:cubicBezTo>
                <a:lnTo>
                  <a:pt x="133637" y="74824"/>
                </a:lnTo>
                <a:cubicBezTo>
                  <a:pt x="135514" y="72578"/>
                  <a:pt x="135367" y="69303"/>
                  <a:pt x="133306" y="67242"/>
                </a:cubicBezTo>
                <a:cubicBezTo>
                  <a:pt x="131245" y="65181"/>
                  <a:pt x="127932" y="65034"/>
                  <a:pt x="125724" y="66911"/>
                </a:cubicBezTo>
                <a:lnTo>
                  <a:pt x="84356" y="101617"/>
                </a:lnTo>
                <a:cubicBezTo>
                  <a:pt x="81007" y="104414"/>
                  <a:pt x="76406" y="105150"/>
                  <a:pt x="72358" y="103531"/>
                </a:cubicBezTo>
                <a:lnTo>
                  <a:pt x="14023" y="79792"/>
                </a:lnTo>
                <a:cubicBezTo>
                  <a:pt x="9201" y="77841"/>
                  <a:pt x="6036" y="73131"/>
                  <a:pt x="6036" y="67904"/>
                </a:cubicBezTo>
                <a:cubicBezTo>
                  <a:pt x="6036" y="62494"/>
                  <a:pt x="9422" y="57673"/>
                  <a:pt x="14538" y="55832"/>
                </a:cubicBezTo>
                <a:lnTo>
                  <a:pt x="197419" y="-968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28796526" name="Text 26"/>
          <p:cNvSpPr/>
          <p:nvPr/>
        </p:nvSpPr>
        <p:spPr bwMode="auto">
          <a:xfrm>
            <a:off x="6784902" y="3109243"/>
            <a:ext cx="172421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Отправка данных</a:t>
            </a:r>
            <a:endParaRPr lang="en-US" sz="1600"/>
          </a:p>
        </p:txBody>
      </p:sp>
      <p:sp>
        <p:nvSpPr>
          <p:cNvPr id="2063719419" name="Text 27"/>
          <p:cNvSpPr/>
          <p:nvPr/>
        </p:nvSpPr>
        <p:spPr bwMode="auto">
          <a:xfrm>
            <a:off x="6436290" y="3486121"/>
            <a:ext cx="5266869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Настройка action и method, правильные атрибуты name для полей</a:t>
            </a:r>
            <a:endParaRPr sz="1400"/>
          </a:p>
        </p:txBody>
      </p:sp>
      <p:sp>
        <p:nvSpPr>
          <p:cNvPr id="1733522274" name="Shape 28"/>
          <p:cNvSpPr/>
          <p:nvPr/>
        </p:nvSpPr>
        <p:spPr bwMode="auto">
          <a:xfrm>
            <a:off x="6229007" y="4070281"/>
            <a:ext cx="5587215" cy="998726"/>
          </a:xfrm>
          <a:custGeom>
            <a:avLst/>
            <a:gdLst/>
            <a:ahLst/>
            <a:cxnLst/>
            <a:rect l="l" t="t" r="r" b="b"/>
            <a:pathLst>
              <a:path w="5587215" h="998726" fill="norm" stroke="1" extrusionOk="0">
                <a:moveTo>
                  <a:pt x="37688" y="0"/>
                </a:moveTo>
                <a:lnTo>
                  <a:pt x="5474149" y="0"/>
                </a:lnTo>
                <a:cubicBezTo>
                  <a:pt x="5536594" y="0"/>
                  <a:pt x="5587215" y="50621"/>
                  <a:pt x="5587215" y="113066"/>
                </a:cubicBezTo>
                <a:lnTo>
                  <a:pt x="5587215" y="885661"/>
                </a:lnTo>
                <a:cubicBezTo>
                  <a:pt x="5587215" y="948105"/>
                  <a:pt x="5536594" y="998726"/>
                  <a:pt x="5474149" y="998726"/>
                </a:cubicBez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66" dist="9422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475266461" name="Shape 29"/>
          <p:cNvSpPr/>
          <p:nvPr/>
        </p:nvSpPr>
        <p:spPr bwMode="auto">
          <a:xfrm>
            <a:off x="6229007" y="4070281"/>
            <a:ext cx="37688" cy="998726"/>
          </a:xfrm>
          <a:custGeom>
            <a:avLst/>
            <a:gdLst/>
            <a:ahLst/>
            <a:cxnLst/>
            <a:rect l="l" t="t" r="r" b="b"/>
            <a:pathLst>
              <a:path w="37688" h="998726" fill="norm" stroke="1" extrusionOk="0">
                <a:moveTo>
                  <a:pt x="37688" y="0"/>
                </a:moveTo>
                <a:lnTo>
                  <a:pt x="37688" y="0"/>
                </a:lnTo>
                <a:lnTo>
                  <a:pt x="37688" y="998726"/>
                </a:lnTo>
                <a:lnTo>
                  <a:pt x="37688" y="998726"/>
                </a:lnTo>
                <a:cubicBezTo>
                  <a:pt x="16873" y="998726"/>
                  <a:pt x="0" y="981853"/>
                  <a:pt x="0" y="961039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88019308" name="Shape 30"/>
          <p:cNvSpPr/>
          <p:nvPr/>
        </p:nvSpPr>
        <p:spPr bwMode="auto">
          <a:xfrm>
            <a:off x="6448067" y="4296408"/>
            <a:ext cx="211994" cy="188439"/>
          </a:xfrm>
          <a:custGeom>
            <a:avLst/>
            <a:gdLst/>
            <a:ahLst/>
            <a:cxnLst/>
            <a:rect l="l" t="t" r="r" b="b"/>
            <a:pathLst>
              <a:path w="211994" h="188439" fill="norm" stroke="1" extrusionOk="0">
                <a:moveTo>
                  <a:pt x="82479" y="35737"/>
                </a:moveTo>
                <a:lnTo>
                  <a:pt x="82479" y="53992"/>
                </a:lnTo>
                <a:lnTo>
                  <a:pt x="82663" y="54176"/>
                </a:lnTo>
                <a:cubicBezTo>
                  <a:pt x="85055" y="23849"/>
                  <a:pt x="110413" y="0"/>
                  <a:pt x="141366" y="0"/>
                </a:cubicBezTo>
                <a:cubicBezTo>
                  <a:pt x="148764" y="0"/>
                  <a:pt x="155867" y="1362"/>
                  <a:pt x="162381" y="3864"/>
                </a:cubicBezTo>
                <a:cubicBezTo>
                  <a:pt x="166062" y="5263"/>
                  <a:pt x="166724" y="9937"/>
                  <a:pt x="163964" y="12734"/>
                </a:cubicBezTo>
                <a:lnTo>
                  <a:pt x="131318" y="45380"/>
                </a:lnTo>
                <a:cubicBezTo>
                  <a:pt x="130214" y="46484"/>
                  <a:pt x="129589" y="47993"/>
                  <a:pt x="129589" y="49539"/>
                </a:cubicBezTo>
                <a:lnTo>
                  <a:pt x="129589" y="64776"/>
                </a:lnTo>
                <a:cubicBezTo>
                  <a:pt x="129589" y="68015"/>
                  <a:pt x="132239" y="70665"/>
                  <a:pt x="135477" y="70665"/>
                </a:cubicBezTo>
                <a:lnTo>
                  <a:pt x="150714" y="70665"/>
                </a:lnTo>
                <a:cubicBezTo>
                  <a:pt x="152260" y="70665"/>
                  <a:pt x="153769" y="70039"/>
                  <a:pt x="154873" y="68935"/>
                </a:cubicBezTo>
                <a:lnTo>
                  <a:pt x="187519" y="36289"/>
                </a:lnTo>
                <a:cubicBezTo>
                  <a:pt x="190316" y="33492"/>
                  <a:pt x="194990" y="34191"/>
                  <a:pt x="196389" y="37872"/>
                </a:cubicBezTo>
                <a:cubicBezTo>
                  <a:pt x="198891" y="44386"/>
                  <a:pt x="200253" y="51489"/>
                  <a:pt x="200253" y="58887"/>
                </a:cubicBezTo>
                <a:cubicBezTo>
                  <a:pt x="200253" y="81191"/>
                  <a:pt x="187850" y="100623"/>
                  <a:pt x="169521" y="110597"/>
                </a:cubicBezTo>
                <a:lnTo>
                  <a:pt x="199517" y="140593"/>
                </a:lnTo>
                <a:cubicBezTo>
                  <a:pt x="206400" y="147476"/>
                  <a:pt x="206400" y="158664"/>
                  <a:pt x="199517" y="165583"/>
                </a:cubicBezTo>
                <a:lnTo>
                  <a:pt x="177398" y="187703"/>
                </a:lnTo>
                <a:cubicBezTo>
                  <a:pt x="170515" y="194585"/>
                  <a:pt x="159327" y="194585"/>
                  <a:pt x="152407" y="187703"/>
                </a:cubicBezTo>
                <a:lnTo>
                  <a:pt x="106034" y="141329"/>
                </a:lnTo>
                <a:cubicBezTo>
                  <a:pt x="95949" y="131245"/>
                  <a:pt x="93667" y="116339"/>
                  <a:pt x="99225" y="104046"/>
                </a:cubicBezTo>
                <a:lnTo>
                  <a:pt x="65843" y="70665"/>
                </a:lnTo>
                <a:lnTo>
                  <a:pt x="47588" y="70665"/>
                </a:lnTo>
                <a:cubicBezTo>
                  <a:pt x="43650" y="70665"/>
                  <a:pt x="39970" y="68714"/>
                  <a:pt x="37798" y="65438"/>
                </a:cubicBezTo>
                <a:lnTo>
                  <a:pt x="8612" y="21678"/>
                </a:lnTo>
                <a:cubicBezTo>
                  <a:pt x="7066" y="19359"/>
                  <a:pt x="7361" y="16231"/>
                  <a:pt x="9348" y="14243"/>
                </a:cubicBezTo>
                <a:lnTo>
                  <a:pt x="26058" y="-2466"/>
                </a:lnTo>
                <a:cubicBezTo>
                  <a:pt x="28045" y="-4453"/>
                  <a:pt x="31137" y="-4748"/>
                  <a:pt x="33492" y="-3202"/>
                </a:cubicBezTo>
                <a:lnTo>
                  <a:pt x="77253" y="25947"/>
                </a:lnTo>
                <a:cubicBezTo>
                  <a:pt x="80528" y="28119"/>
                  <a:pt x="82479" y="31799"/>
                  <a:pt x="82479" y="35737"/>
                </a:cubicBezTo>
                <a:close/>
                <a:moveTo>
                  <a:pt x="79350" y="109162"/>
                </a:moveTo>
                <a:cubicBezTo>
                  <a:pt x="77032" y="122780"/>
                  <a:pt x="80234" y="137170"/>
                  <a:pt x="89067" y="148690"/>
                </a:cubicBezTo>
                <a:lnTo>
                  <a:pt x="54103" y="183618"/>
                </a:lnTo>
                <a:cubicBezTo>
                  <a:pt x="43761" y="193960"/>
                  <a:pt x="26978" y="193960"/>
                  <a:pt x="16636" y="183618"/>
                </a:cubicBezTo>
                <a:cubicBezTo>
                  <a:pt x="6294" y="173276"/>
                  <a:pt x="6294" y="156493"/>
                  <a:pt x="16636" y="146151"/>
                </a:cubicBezTo>
                <a:lnTo>
                  <a:pt x="66469" y="96317"/>
                </a:lnTo>
                <a:lnTo>
                  <a:pt x="79350" y="10919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1313127" name="Text 31"/>
          <p:cNvSpPr/>
          <p:nvPr/>
        </p:nvSpPr>
        <p:spPr bwMode="auto">
          <a:xfrm>
            <a:off x="6784902" y="4258720"/>
            <a:ext cx="140387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Тестирование</a:t>
            </a:r>
            <a:endParaRPr lang="en-US" sz="1600"/>
          </a:p>
        </p:txBody>
      </p:sp>
      <p:sp>
        <p:nvSpPr>
          <p:cNvPr id="304613775" name="Text 32"/>
          <p:cNvSpPr/>
          <p:nvPr/>
        </p:nvSpPr>
        <p:spPr bwMode="auto">
          <a:xfrm>
            <a:off x="6436289" y="4663863"/>
            <a:ext cx="5266869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Chrome DevTools Network, анализ HTTP-запросов и ответов сервера</a:t>
            </a:r>
            <a:endParaRPr sz="1400"/>
          </a:p>
        </p:txBody>
      </p:sp>
      <p:sp>
        <p:nvSpPr>
          <p:cNvPr id="1718016525" name="Shape 33"/>
          <p:cNvSpPr/>
          <p:nvPr/>
        </p:nvSpPr>
        <p:spPr bwMode="auto">
          <a:xfrm>
            <a:off x="381589" y="5789787"/>
            <a:ext cx="11428822" cy="1064680"/>
          </a:xfrm>
          <a:custGeom>
            <a:avLst/>
            <a:gdLst/>
            <a:ahLst/>
            <a:cxnLst/>
            <a:rect l="l" t="t" r="r" b="b"/>
            <a:pathLst>
              <a:path w="11428822" h="1064680" fill="norm" stroke="1" extrusionOk="0">
                <a:moveTo>
                  <a:pt x="150748" y="0"/>
                </a:moveTo>
                <a:lnTo>
                  <a:pt x="11278074" y="0"/>
                </a:lnTo>
                <a:cubicBezTo>
                  <a:pt x="11361274" y="0"/>
                  <a:pt x="11428822" y="67548"/>
                  <a:pt x="11428822" y="150748"/>
                </a:cubicBezTo>
                <a:lnTo>
                  <a:pt x="11428822" y="913932"/>
                </a:lnTo>
                <a:cubicBezTo>
                  <a:pt x="11428822" y="997132"/>
                  <a:pt x="11361274" y="1064680"/>
                  <a:pt x="11278074" y="1064680"/>
                </a:cubicBezTo>
                <a:lnTo>
                  <a:pt x="150748" y="1064680"/>
                </a:lnTo>
                <a:cubicBezTo>
                  <a:pt x="67548" y="1064680"/>
                  <a:pt x="0" y="997132"/>
                  <a:pt x="0" y="913932"/>
                </a:cubicBezTo>
                <a:lnTo>
                  <a:pt x="0" y="150748"/>
                </a:lnTo>
                <a:cubicBezTo>
                  <a:pt x="0" y="67548"/>
                  <a:pt x="67548" y="0"/>
                  <a:pt x="15074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851447622" name="Shape 34"/>
          <p:cNvSpPr/>
          <p:nvPr/>
        </p:nvSpPr>
        <p:spPr bwMode="auto">
          <a:xfrm>
            <a:off x="632448" y="6180798"/>
            <a:ext cx="317991" cy="282658"/>
          </a:xfrm>
          <a:custGeom>
            <a:avLst/>
            <a:gdLst/>
            <a:ahLst/>
            <a:cxnLst/>
            <a:rect l="l" t="t" r="r" b="b"/>
            <a:pathLst>
              <a:path w="317991" h="282658" fill="norm" stroke="1" extrusionOk="0">
                <a:moveTo>
                  <a:pt x="26499" y="108095"/>
                </a:moveTo>
                <a:lnTo>
                  <a:pt x="141992" y="155628"/>
                </a:lnTo>
                <a:cubicBezTo>
                  <a:pt x="147402" y="157836"/>
                  <a:pt x="153143" y="158995"/>
                  <a:pt x="158995" y="158995"/>
                </a:cubicBezTo>
                <a:cubicBezTo>
                  <a:pt x="164847" y="158995"/>
                  <a:pt x="170589" y="157836"/>
                  <a:pt x="175999" y="155628"/>
                </a:cubicBezTo>
                <a:lnTo>
                  <a:pt x="309820" y="100531"/>
                </a:lnTo>
                <a:cubicBezTo>
                  <a:pt x="314789" y="98489"/>
                  <a:pt x="317991" y="93686"/>
                  <a:pt x="317991" y="88331"/>
                </a:cubicBezTo>
                <a:cubicBezTo>
                  <a:pt x="317991" y="82976"/>
                  <a:pt x="314789" y="78173"/>
                  <a:pt x="309820" y="76130"/>
                </a:cubicBezTo>
                <a:lnTo>
                  <a:pt x="175999" y="21034"/>
                </a:lnTo>
                <a:cubicBezTo>
                  <a:pt x="170589" y="18825"/>
                  <a:pt x="164847" y="17666"/>
                  <a:pt x="158995" y="17666"/>
                </a:cubicBezTo>
                <a:cubicBezTo>
                  <a:pt x="153143" y="17666"/>
                  <a:pt x="147402" y="18825"/>
                  <a:pt x="141992" y="21034"/>
                </a:cubicBezTo>
                <a:lnTo>
                  <a:pt x="8171" y="76130"/>
                </a:lnTo>
                <a:cubicBezTo>
                  <a:pt x="3202" y="78173"/>
                  <a:pt x="0" y="82976"/>
                  <a:pt x="0" y="88331"/>
                </a:cubicBezTo>
                <a:lnTo>
                  <a:pt x="0" y="251743"/>
                </a:lnTo>
                <a:cubicBezTo>
                  <a:pt x="0" y="259085"/>
                  <a:pt x="5907" y="264992"/>
                  <a:pt x="13250" y="264992"/>
                </a:cubicBezTo>
                <a:cubicBezTo>
                  <a:pt x="20592" y="264992"/>
                  <a:pt x="26499" y="259085"/>
                  <a:pt x="26499" y="251743"/>
                </a:cubicBezTo>
                <a:lnTo>
                  <a:pt x="26499" y="108095"/>
                </a:lnTo>
                <a:close/>
                <a:moveTo>
                  <a:pt x="52998" y="147678"/>
                </a:moveTo>
                <a:lnTo>
                  <a:pt x="52998" y="211994"/>
                </a:lnTo>
                <a:cubicBezTo>
                  <a:pt x="52998" y="241253"/>
                  <a:pt x="100476" y="264992"/>
                  <a:pt x="158995" y="264992"/>
                </a:cubicBezTo>
                <a:cubicBezTo>
                  <a:pt x="217514" y="264992"/>
                  <a:pt x="264992" y="241253"/>
                  <a:pt x="264992" y="211994"/>
                </a:cubicBezTo>
                <a:lnTo>
                  <a:pt x="264992" y="147623"/>
                </a:lnTo>
                <a:lnTo>
                  <a:pt x="186102" y="180140"/>
                </a:lnTo>
                <a:cubicBezTo>
                  <a:pt x="177490" y="183673"/>
                  <a:pt x="168325" y="185495"/>
                  <a:pt x="158995" y="185495"/>
                </a:cubicBezTo>
                <a:cubicBezTo>
                  <a:pt x="149665" y="185495"/>
                  <a:pt x="140501" y="183673"/>
                  <a:pt x="131889" y="180140"/>
                </a:cubicBezTo>
                <a:lnTo>
                  <a:pt x="52998" y="14762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70352218" name="Text 35"/>
          <p:cNvSpPr/>
          <p:nvPr/>
        </p:nvSpPr>
        <p:spPr bwMode="auto">
          <a:xfrm>
            <a:off x="1116501" y="6020624"/>
            <a:ext cx="1033587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Ключевые навыки</a:t>
            </a:r>
            <a:endParaRPr lang="en-US" sz="1600"/>
          </a:p>
        </p:txBody>
      </p:sp>
      <p:sp>
        <p:nvSpPr>
          <p:cNvPr id="1667790190" name="Text 36"/>
          <p:cNvSpPr/>
          <p:nvPr/>
        </p:nvSpPr>
        <p:spPr bwMode="auto">
          <a:xfrm>
            <a:off x="1116501" y="6359815"/>
            <a:ext cx="1032645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Создание доступных форм • Валидация пользовательского ввода • Работа с HTTP-запросами • Отладка web-приложений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201170" name="Text 0"/>
          <p:cNvSpPr/>
          <p:nvPr/>
        </p:nvSpPr>
        <p:spPr bwMode="auto"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2000" b="1" spc="52">
                <a:solidFill>
                  <a:srgbClr val="0071E3"/>
                </a:solidFill>
                <a:latin typeface="MiSans"/>
                <a:ea typeface="MiSans"/>
                <a:cs typeface="MiSans"/>
              </a:rPr>
              <a:t>Дополнительно</a:t>
            </a:r>
            <a:endParaRPr sz="2000"/>
          </a:p>
        </p:txBody>
      </p:sp>
      <p:sp>
        <p:nvSpPr>
          <p:cNvPr id="199125533" name="Text 1"/>
          <p:cNvSpPr/>
          <p:nvPr/>
        </p:nvSpPr>
        <p:spPr bwMode="auto"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Полезные ресурсы</a:t>
            </a:r>
            <a:endParaRPr lang="en-US" sz="1600"/>
          </a:p>
        </p:txBody>
      </p:sp>
      <p:sp>
        <p:nvSpPr>
          <p:cNvPr id="1898125290" name="Text 2"/>
          <p:cNvSpPr/>
          <p:nvPr/>
        </p:nvSpPr>
        <p:spPr bwMode="auto">
          <a:xfrm>
            <a:off x="381000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Где найти больше информации</a:t>
            </a:r>
            <a:endParaRPr lang="en-US" sz="1600"/>
          </a:p>
        </p:txBody>
      </p:sp>
      <p:sp>
        <p:nvSpPr>
          <p:cNvPr id="674639091" name="Shape 3"/>
          <p:cNvSpPr/>
          <p:nvPr/>
        </p:nvSpPr>
        <p:spPr bwMode="auto">
          <a:xfrm>
            <a:off x="385762" y="1795463"/>
            <a:ext cx="3648074" cy="3800475"/>
          </a:xfrm>
          <a:custGeom>
            <a:avLst/>
            <a:gdLst/>
            <a:ahLst/>
            <a:cxnLst/>
            <a:rect l="l" t="t" r="r" b="b"/>
            <a:pathLst>
              <a:path w="3648075" h="3800475" fill="norm" stroke="1" extrusionOk="0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648058"/>
                </a:lnTo>
                <a:cubicBezTo>
                  <a:pt x="3648075" y="3732236"/>
                  <a:pt x="3579836" y="3800475"/>
                  <a:pt x="3495658" y="3800475"/>
                </a:cubicBezTo>
                <a:lnTo>
                  <a:pt x="152417" y="3800475"/>
                </a:lnTo>
                <a:cubicBezTo>
                  <a:pt x="68296" y="3800475"/>
                  <a:pt x="0" y="3732179"/>
                  <a:pt x="0" y="36480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625130754" name="Shape 4"/>
          <p:cNvSpPr/>
          <p:nvPr/>
        </p:nvSpPr>
        <p:spPr bwMode="auto">
          <a:xfrm>
            <a:off x="6191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57146896" name="Shape 5"/>
          <p:cNvSpPr/>
          <p:nvPr/>
        </p:nvSpPr>
        <p:spPr bwMode="auto">
          <a:xfrm>
            <a:off x="764381" y="216217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25674219" name="Text 6"/>
          <p:cNvSpPr/>
          <p:nvPr/>
        </p:nvSpPr>
        <p:spPr bwMode="auto">
          <a:xfrm>
            <a:off x="1190625" y="2124075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Документация</a:t>
            </a:r>
            <a:endParaRPr lang="en-US" sz="1600"/>
          </a:p>
        </p:txBody>
      </p:sp>
      <p:sp>
        <p:nvSpPr>
          <p:cNvPr id="502007040" name="Text 7"/>
          <p:cNvSpPr/>
          <p:nvPr/>
        </p:nvSpPr>
        <p:spPr bwMode="auto">
          <a:xfrm>
            <a:off x="619125" y="267652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MDN Web Docs</a:t>
            </a:r>
            <a:endParaRPr sz="1400"/>
          </a:p>
        </p:txBody>
      </p:sp>
      <p:sp>
        <p:nvSpPr>
          <p:cNvPr id="589202081" name="Text 8"/>
          <p:cNvSpPr/>
          <p:nvPr/>
        </p:nvSpPr>
        <p:spPr bwMode="auto">
          <a:xfrm>
            <a:off x="619125" y="29432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developer.mozilla.org</a:t>
            </a:r>
            <a:endParaRPr sz="1400"/>
          </a:p>
        </p:txBody>
      </p:sp>
      <p:sp>
        <p:nvSpPr>
          <p:cNvPr id="976659765" name="Text 9"/>
          <p:cNvSpPr/>
          <p:nvPr/>
        </p:nvSpPr>
        <p:spPr bwMode="auto">
          <a:xfrm flipH="0" flipV="0">
            <a:off x="619124" y="3171825"/>
            <a:ext cx="3414710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HTML Forms, Form Validation, Fetch API</a:t>
            </a:r>
            <a:endParaRPr sz="1400"/>
          </a:p>
        </p:txBody>
      </p:sp>
      <p:sp>
        <p:nvSpPr>
          <p:cNvPr id="974163908" name="Shape 10"/>
          <p:cNvSpPr/>
          <p:nvPr/>
        </p:nvSpPr>
        <p:spPr bwMode="auto">
          <a:xfrm>
            <a:off x="619125" y="3519488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 fill="norm" stroke="1" extrusionOk="0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50941867" name="Text 11"/>
          <p:cNvSpPr/>
          <p:nvPr/>
        </p:nvSpPr>
        <p:spPr bwMode="auto">
          <a:xfrm>
            <a:off x="619125" y="367665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W3Schools</a:t>
            </a:r>
            <a:endParaRPr lang="en-US" sz="1600"/>
          </a:p>
        </p:txBody>
      </p:sp>
      <p:sp>
        <p:nvSpPr>
          <p:cNvPr id="1413634545" name="Text 12"/>
          <p:cNvSpPr/>
          <p:nvPr/>
        </p:nvSpPr>
        <p:spPr bwMode="auto">
          <a:xfrm>
            <a:off x="619125" y="394335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w3schools.com</a:t>
            </a:r>
            <a:endParaRPr sz="1400"/>
          </a:p>
        </p:txBody>
      </p:sp>
      <p:sp>
        <p:nvSpPr>
          <p:cNvPr id="455227885" name="Text 13"/>
          <p:cNvSpPr/>
          <p:nvPr/>
        </p:nvSpPr>
        <p:spPr bwMode="auto">
          <a:xfrm>
            <a:off x="619125" y="417195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HTML Form Tutorial, примеры кода</a:t>
            </a:r>
            <a:endParaRPr sz="1400"/>
          </a:p>
        </p:txBody>
      </p:sp>
      <p:sp>
        <p:nvSpPr>
          <p:cNvPr id="824684552" name="Shape 14"/>
          <p:cNvSpPr/>
          <p:nvPr/>
        </p:nvSpPr>
        <p:spPr bwMode="auto">
          <a:xfrm>
            <a:off x="4271963" y="1795463"/>
            <a:ext cx="3648074" cy="3800475"/>
          </a:xfrm>
          <a:custGeom>
            <a:avLst/>
            <a:gdLst/>
            <a:ahLst/>
            <a:cxnLst/>
            <a:rect l="l" t="t" r="r" b="b"/>
            <a:pathLst>
              <a:path w="3648075" h="3800475" fill="norm" stroke="1" extrusionOk="0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648058"/>
                </a:lnTo>
                <a:cubicBezTo>
                  <a:pt x="3648075" y="3732236"/>
                  <a:pt x="3579836" y="3800475"/>
                  <a:pt x="3495658" y="3800475"/>
                </a:cubicBezTo>
                <a:lnTo>
                  <a:pt x="152417" y="3800475"/>
                </a:lnTo>
                <a:cubicBezTo>
                  <a:pt x="68296" y="3800475"/>
                  <a:pt x="0" y="3732179"/>
                  <a:pt x="0" y="36480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2114692853" name="Shape 15"/>
          <p:cNvSpPr/>
          <p:nvPr/>
        </p:nvSpPr>
        <p:spPr bwMode="auto">
          <a:xfrm>
            <a:off x="45053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0335561" name="Shape 16"/>
          <p:cNvSpPr/>
          <p:nvPr/>
        </p:nvSpPr>
        <p:spPr bwMode="auto">
          <a:xfrm>
            <a:off x="4626769" y="21621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189533" y="36686"/>
                </a:moveTo>
                <a:cubicBezTo>
                  <a:pt x="192360" y="33858"/>
                  <a:pt x="197086" y="34565"/>
                  <a:pt x="198500" y="38286"/>
                </a:cubicBezTo>
                <a:cubicBezTo>
                  <a:pt x="201030" y="44872"/>
                  <a:pt x="202406" y="52053"/>
                  <a:pt x="202406" y="59531"/>
                </a:cubicBezTo>
                <a:cubicBezTo>
                  <a:pt x="202406" y="92422"/>
                  <a:pt x="175766" y="119063"/>
                  <a:pt x="142875" y="119063"/>
                </a:cubicBezTo>
                <a:cubicBezTo>
                  <a:pt x="136364" y="119063"/>
                  <a:pt x="130076" y="118021"/>
                  <a:pt x="124197" y="116086"/>
                </a:cubicBezTo>
                <a:lnTo>
                  <a:pt x="54657" y="185626"/>
                </a:lnTo>
                <a:cubicBezTo>
                  <a:pt x="44202" y="196081"/>
                  <a:pt x="27236" y="196081"/>
                  <a:pt x="16780" y="185626"/>
                </a:cubicBezTo>
                <a:cubicBezTo>
                  <a:pt x="6325" y="175171"/>
                  <a:pt x="6325" y="158204"/>
                  <a:pt x="16780" y="147749"/>
                </a:cubicBezTo>
                <a:lnTo>
                  <a:pt x="86320" y="78209"/>
                </a:lnTo>
                <a:cubicBezTo>
                  <a:pt x="84386" y="72330"/>
                  <a:pt x="83344" y="66080"/>
                  <a:pt x="83344" y="59531"/>
                </a:cubicBezTo>
                <a:cubicBezTo>
                  <a:pt x="83344" y="26640"/>
                  <a:pt x="109984" y="0"/>
                  <a:pt x="142875" y="0"/>
                </a:cubicBezTo>
                <a:cubicBezTo>
                  <a:pt x="150354" y="0"/>
                  <a:pt x="157535" y="1377"/>
                  <a:pt x="164120" y="3907"/>
                </a:cubicBezTo>
                <a:cubicBezTo>
                  <a:pt x="167841" y="5321"/>
                  <a:pt x="168511" y="10046"/>
                  <a:pt x="165720" y="12874"/>
                </a:cubicBezTo>
                <a:lnTo>
                  <a:pt x="132717" y="45876"/>
                </a:lnTo>
                <a:cubicBezTo>
                  <a:pt x="131601" y="46992"/>
                  <a:pt x="130969" y="48518"/>
                  <a:pt x="130969" y="50081"/>
                </a:cubicBezTo>
                <a:lnTo>
                  <a:pt x="130969" y="65484"/>
                </a:lnTo>
                <a:cubicBezTo>
                  <a:pt x="130969" y="68759"/>
                  <a:pt x="133648" y="71438"/>
                  <a:pt x="136922" y="71438"/>
                </a:cubicBezTo>
                <a:lnTo>
                  <a:pt x="152326" y="71438"/>
                </a:lnTo>
                <a:cubicBezTo>
                  <a:pt x="153888" y="71438"/>
                  <a:pt x="155414" y="70805"/>
                  <a:pt x="156530" y="69689"/>
                </a:cubicBezTo>
                <a:lnTo>
                  <a:pt x="189533" y="3668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3942147" name="Text 17"/>
          <p:cNvSpPr/>
          <p:nvPr/>
        </p:nvSpPr>
        <p:spPr bwMode="auto">
          <a:xfrm>
            <a:off x="5076825" y="212407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Инструменты</a:t>
            </a:r>
            <a:endParaRPr lang="en-US" sz="1600"/>
          </a:p>
        </p:txBody>
      </p:sp>
      <p:sp>
        <p:nvSpPr>
          <p:cNvPr id="418105209" name="Text 18"/>
          <p:cNvSpPr/>
          <p:nvPr/>
        </p:nvSpPr>
        <p:spPr bwMode="auto">
          <a:xfrm>
            <a:off x="4505325" y="267652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Browser DevTools</a:t>
            </a:r>
            <a:endParaRPr sz="1400"/>
          </a:p>
        </p:txBody>
      </p:sp>
      <p:sp>
        <p:nvSpPr>
          <p:cNvPr id="1460174167" name="Text 19"/>
          <p:cNvSpPr/>
          <p:nvPr/>
        </p:nvSpPr>
        <p:spPr bwMode="auto">
          <a:xfrm>
            <a:off x="4505325" y="29432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Встроенный в </a:t>
            </a:r>
            <a:r>
              <a:rPr lang="ru-RU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любой браузер</a:t>
            </a:r>
            <a:endParaRPr sz="1400"/>
          </a:p>
        </p:txBody>
      </p:sp>
      <p:sp>
        <p:nvSpPr>
          <p:cNvPr id="1420351793" name="Text 20"/>
          <p:cNvSpPr/>
          <p:nvPr/>
        </p:nvSpPr>
        <p:spPr bwMode="auto">
          <a:xfrm>
            <a:off x="4505325" y="31718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Отладка, Network, Console</a:t>
            </a:r>
            <a:endParaRPr sz="1400"/>
          </a:p>
        </p:txBody>
      </p:sp>
      <p:sp>
        <p:nvSpPr>
          <p:cNvPr id="207346924" name="Shape 21"/>
          <p:cNvSpPr/>
          <p:nvPr/>
        </p:nvSpPr>
        <p:spPr bwMode="auto">
          <a:xfrm>
            <a:off x="4505325" y="3519488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 fill="norm" stroke="1" extrusionOk="0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361394343" name="Text 22"/>
          <p:cNvSpPr/>
          <p:nvPr/>
        </p:nvSpPr>
        <p:spPr bwMode="auto">
          <a:xfrm>
            <a:off x="4505325" y="367665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Postman</a:t>
            </a:r>
            <a:endParaRPr lang="en-US" sz="1600"/>
          </a:p>
        </p:txBody>
      </p:sp>
      <p:sp>
        <p:nvSpPr>
          <p:cNvPr id="1986024761" name="Text 23"/>
          <p:cNvSpPr/>
          <p:nvPr/>
        </p:nvSpPr>
        <p:spPr bwMode="auto">
          <a:xfrm>
            <a:off x="4505325" y="394335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postman.com</a:t>
            </a:r>
            <a:endParaRPr sz="1400"/>
          </a:p>
        </p:txBody>
      </p:sp>
      <p:sp>
        <p:nvSpPr>
          <p:cNvPr id="1594595615" name="Text 24"/>
          <p:cNvSpPr/>
          <p:nvPr/>
        </p:nvSpPr>
        <p:spPr bwMode="auto">
          <a:xfrm>
            <a:off x="4505325" y="417195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Тестирование API endpoints</a:t>
            </a:r>
            <a:endParaRPr sz="1400"/>
          </a:p>
        </p:txBody>
      </p:sp>
      <p:sp>
        <p:nvSpPr>
          <p:cNvPr id="158264038" name="Shape 25"/>
          <p:cNvSpPr/>
          <p:nvPr/>
        </p:nvSpPr>
        <p:spPr bwMode="auto">
          <a:xfrm>
            <a:off x="4505325" y="4519613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 fill="norm" stroke="1" extrusionOk="0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943682608" name="Text 26"/>
          <p:cNvSpPr/>
          <p:nvPr/>
        </p:nvSpPr>
        <p:spPr bwMode="auto">
          <a:xfrm>
            <a:off x="4505325" y="467677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CodePen / JSFiddle</a:t>
            </a:r>
            <a:endParaRPr lang="en-US" sz="1600"/>
          </a:p>
        </p:txBody>
      </p:sp>
      <p:sp>
        <p:nvSpPr>
          <p:cNvPr id="804235166" name="Text 27"/>
          <p:cNvSpPr/>
          <p:nvPr/>
        </p:nvSpPr>
        <p:spPr bwMode="auto">
          <a:xfrm>
            <a:off x="4505325" y="494347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codepen.io, jsfiddle.net</a:t>
            </a:r>
            <a:endParaRPr sz="1400"/>
          </a:p>
        </p:txBody>
      </p:sp>
      <p:sp>
        <p:nvSpPr>
          <p:cNvPr id="2012216363" name="Text 28"/>
          <p:cNvSpPr/>
          <p:nvPr/>
        </p:nvSpPr>
        <p:spPr bwMode="auto">
          <a:xfrm>
            <a:off x="4505325" y="517207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Эксперименты с кодом онлайн</a:t>
            </a:r>
            <a:endParaRPr sz="1400"/>
          </a:p>
        </p:txBody>
      </p:sp>
      <p:sp>
        <p:nvSpPr>
          <p:cNvPr id="1027329770" name="Shape 29"/>
          <p:cNvSpPr/>
          <p:nvPr/>
        </p:nvSpPr>
        <p:spPr bwMode="auto">
          <a:xfrm>
            <a:off x="8158163" y="1795463"/>
            <a:ext cx="3648074" cy="3800475"/>
          </a:xfrm>
          <a:custGeom>
            <a:avLst/>
            <a:gdLst/>
            <a:ahLst/>
            <a:cxnLst/>
            <a:rect l="l" t="t" r="r" b="b"/>
            <a:pathLst>
              <a:path w="3648075" h="3800475" fill="norm" stroke="1" extrusionOk="0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648058"/>
                </a:lnTo>
                <a:cubicBezTo>
                  <a:pt x="3648075" y="3732236"/>
                  <a:pt x="3579836" y="3800475"/>
                  <a:pt x="3495658" y="3800475"/>
                </a:cubicBezTo>
                <a:lnTo>
                  <a:pt x="152417" y="3800475"/>
                </a:lnTo>
                <a:cubicBezTo>
                  <a:pt x="68296" y="3800475"/>
                  <a:pt x="0" y="3732179"/>
                  <a:pt x="0" y="36480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410446418" name="Shape 30"/>
          <p:cNvSpPr/>
          <p:nvPr/>
        </p:nvSpPr>
        <p:spPr bwMode="auto">
          <a:xfrm>
            <a:off x="8391525" y="2028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1317705" name="Shape 31"/>
          <p:cNvSpPr/>
          <p:nvPr/>
        </p:nvSpPr>
        <p:spPr bwMode="auto">
          <a:xfrm>
            <a:off x="8512969" y="21621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24640031" name="Text 32"/>
          <p:cNvSpPr/>
          <p:nvPr/>
        </p:nvSpPr>
        <p:spPr bwMode="auto">
          <a:xfrm>
            <a:off x="8963025" y="212407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Дополнительно</a:t>
            </a:r>
            <a:endParaRPr lang="en-US" sz="1600"/>
          </a:p>
        </p:txBody>
      </p:sp>
      <p:sp>
        <p:nvSpPr>
          <p:cNvPr id="2145791955" name="Text 33"/>
          <p:cNvSpPr/>
          <p:nvPr/>
        </p:nvSpPr>
        <p:spPr bwMode="auto">
          <a:xfrm>
            <a:off x="8391525" y="267652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4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Can I use</a:t>
            </a:r>
            <a:endParaRPr sz="1400"/>
          </a:p>
        </p:txBody>
      </p:sp>
      <p:sp>
        <p:nvSpPr>
          <p:cNvPr id="216276005" name="Text 34"/>
          <p:cNvSpPr/>
          <p:nvPr/>
        </p:nvSpPr>
        <p:spPr bwMode="auto">
          <a:xfrm>
            <a:off x="8391525" y="29432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caniuse.com</a:t>
            </a:r>
            <a:endParaRPr sz="1400"/>
          </a:p>
        </p:txBody>
      </p:sp>
      <p:sp>
        <p:nvSpPr>
          <p:cNvPr id="1234834515" name="Text 35"/>
          <p:cNvSpPr/>
          <p:nvPr/>
        </p:nvSpPr>
        <p:spPr bwMode="auto">
          <a:xfrm>
            <a:off x="8391525" y="31718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Поддержка HTML5 в браузерах</a:t>
            </a:r>
            <a:endParaRPr sz="1400"/>
          </a:p>
        </p:txBody>
      </p:sp>
      <p:sp>
        <p:nvSpPr>
          <p:cNvPr id="1265784999" name="Shape 36"/>
          <p:cNvSpPr/>
          <p:nvPr/>
        </p:nvSpPr>
        <p:spPr bwMode="auto">
          <a:xfrm>
            <a:off x="8391525" y="3519488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 fill="norm" stroke="1" extrusionOk="0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37060400" name="Text 37"/>
          <p:cNvSpPr/>
          <p:nvPr/>
        </p:nvSpPr>
        <p:spPr bwMode="auto">
          <a:xfrm>
            <a:off x="8391525" y="367665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Regex101</a:t>
            </a:r>
            <a:endParaRPr lang="en-US" sz="1600"/>
          </a:p>
        </p:txBody>
      </p:sp>
      <p:sp>
        <p:nvSpPr>
          <p:cNvPr id="2046978306" name="Text 38"/>
          <p:cNvSpPr/>
          <p:nvPr/>
        </p:nvSpPr>
        <p:spPr bwMode="auto">
          <a:xfrm>
            <a:off x="8391525" y="394335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regex101.com</a:t>
            </a:r>
            <a:endParaRPr sz="1400"/>
          </a:p>
        </p:txBody>
      </p:sp>
      <p:sp>
        <p:nvSpPr>
          <p:cNvPr id="1743982387" name="Text 39"/>
          <p:cNvSpPr/>
          <p:nvPr/>
        </p:nvSpPr>
        <p:spPr bwMode="auto">
          <a:xfrm>
            <a:off x="8391525" y="417195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Тестирование регулярных выражений</a:t>
            </a:r>
            <a:endParaRPr sz="1400"/>
          </a:p>
        </p:txBody>
      </p:sp>
      <p:sp>
        <p:nvSpPr>
          <p:cNvPr id="1090643181" name="Shape 40"/>
          <p:cNvSpPr/>
          <p:nvPr/>
        </p:nvSpPr>
        <p:spPr bwMode="auto">
          <a:xfrm>
            <a:off x="8391525" y="4519613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 fill="norm" stroke="1" extrusionOk="0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700136113" name="Text 41"/>
          <p:cNvSpPr/>
          <p:nvPr/>
        </p:nvSpPr>
        <p:spPr bwMode="auto">
          <a:xfrm>
            <a:off x="8391525" y="467677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HTTP Status Codes</a:t>
            </a:r>
            <a:endParaRPr lang="en-US" sz="1600"/>
          </a:p>
        </p:txBody>
      </p:sp>
      <p:sp>
        <p:nvSpPr>
          <p:cNvPr id="49804428" name="Text 42"/>
          <p:cNvSpPr/>
          <p:nvPr/>
        </p:nvSpPr>
        <p:spPr bwMode="auto">
          <a:xfrm>
            <a:off x="8391525" y="494347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httpstatuses.com</a:t>
            </a:r>
            <a:endParaRPr sz="1400"/>
          </a:p>
        </p:txBody>
      </p:sp>
      <p:sp>
        <p:nvSpPr>
          <p:cNvPr id="928759961" name="Text 43"/>
          <p:cNvSpPr/>
          <p:nvPr/>
        </p:nvSpPr>
        <p:spPr bwMode="auto">
          <a:xfrm>
            <a:off x="8391525" y="517207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Справочник HTTP статусов</a:t>
            </a:r>
            <a:endParaRPr sz="1400"/>
          </a:p>
        </p:txBody>
      </p:sp>
      <p:sp>
        <p:nvSpPr>
          <p:cNvPr id="1364207451" name="Shape 44"/>
          <p:cNvSpPr/>
          <p:nvPr/>
        </p:nvSpPr>
        <p:spPr bwMode="auto">
          <a:xfrm>
            <a:off x="385762" y="5834063"/>
            <a:ext cx="11420475" cy="923925"/>
          </a:xfrm>
          <a:custGeom>
            <a:avLst/>
            <a:gdLst/>
            <a:ahLst/>
            <a:cxnLst/>
            <a:rect l="l" t="t" r="r" b="b"/>
            <a:pathLst>
              <a:path w="11420475" h="923925" fill="norm" stroke="1" extrusionOk="0">
                <a:moveTo>
                  <a:pt x="152401" y="0"/>
                </a:moveTo>
                <a:lnTo>
                  <a:pt x="11268074" y="0"/>
                </a:lnTo>
                <a:cubicBezTo>
                  <a:pt x="11352186" y="0"/>
                  <a:pt x="11420475" y="68289"/>
                  <a:pt x="11420475" y="152401"/>
                </a:cubicBezTo>
                <a:lnTo>
                  <a:pt x="11420475" y="771524"/>
                </a:lnTo>
                <a:cubicBezTo>
                  <a:pt x="11420475" y="855636"/>
                  <a:pt x="11352186" y="923925"/>
                  <a:pt x="11268074" y="923925"/>
                </a:cubicBezTo>
                <a:lnTo>
                  <a:pt x="152401" y="923925"/>
                </a:lnTo>
                <a:cubicBezTo>
                  <a:pt x="68289" y="923925"/>
                  <a:pt x="0" y="855636"/>
                  <a:pt x="0" y="7715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 w="1270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1309762913" name="Shape 45"/>
          <p:cNvSpPr/>
          <p:nvPr/>
        </p:nvSpPr>
        <p:spPr bwMode="auto">
          <a:xfrm>
            <a:off x="604838" y="61817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fill="norm" stroke="1" extrusionOk="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41679647" name="Text 46"/>
          <p:cNvSpPr/>
          <p:nvPr/>
        </p:nvSpPr>
        <p:spPr bwMode="auto">
          <a:xfrm>
            <a:off x="950436" y="6029325"/>
            <a:ext cx="10744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Совет:</a:t>
            </a:r>
            <a:r>
              <a:rPr lang="en-US" sz="1350">
                <a:solidFill>
                  <a:srgbClr val="1D1D1D"/>
                </a:solidFill>
                <a:latin typeface="MiSans"/>
                <a:ea typeface="MiSans"/>
                <a:cs typeface="MiSans"/>
              </a:rPr>
              <a:t> Практикуйтесь ежедневно! Создавайте разные формы, экспериментируйте с валидацией и стилизацией. Чтение документации — лучший способ углубить знания.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AFA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69638" name="Shape 0"/>
          <p:cNvSpPr/>
          <p:nvPr/>
        </p:nvSpPr>
        <p:spPr bwMode="auto">
          <a:xfrm>
            <a:off x="8207828" y="526142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 fill="norm" stroke="1" extrusionOk="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gradFill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056522815" name="Shape 1"/>
          <p:cNvSpPr/>
          <p:nvPr/>
        </p:nvSpPr>
        <p:spPr bwMode="auto">
          <a:xfrm>
            <a:off x="762000" y="33528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 fill="norm" stroke="1" extrusionOk="0">
                <a:moveTo>
                  <a:pt x="1371600" y="0"/>
                </a:moveTo>
                <a:lnTo>
                  <a:pt x="1371600" y="0"/>
                </a:lnTo>
                <a:cubicBezTo>
                  <a:pt x="2128607" y="0"/>
                  <a:pt x="2743200" y="614593"/>
                  <a:pt x="2743200" y="1371600"/>
                </a:cubicBezTo>
                <a:lnTo>
                  <a:pt x="2743200" y="1371600"/>
                </a:lnTo>
                <a:cubicBezTo>
                  <a:pt x="2743200" y="2128607"/>
                  <a:pt x="2128607" y="2743200"/>
                  <a:pt x="1371600" y="2743200"/>
                </a:cubicBezTo>
                <a:lnTo>
                  <a:pt x="1371600" y="2743200"/>
                </a:lnTo>
                <a:cubicBezTo>
                  <a:pt x="614593" y="2743200"/>
                  <a:pt x="0" y="2128607"/>
                  <a:pt x="0" y="1371600"/>
                </a:cubicBezTo>
                <a:lnTo>
                  <a:pt x="0" y="1371600"/>
                </a:lnTo>
                <a:cubicBezTo>
                  <a:pt x="0" y="614593"/>
                  <a:pt x="614593" y="0"/>
                  <a:pt x="1371600" y="0"/>
                </a:cubicBezTo>
                <a:close/>
              </a:path>
            </a:pathLst>
          </a:custGeom>
          <a:gradFill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</p:sp>
      <p:sp>
        <p:nvSpPr>
          <p:cNvPr id="1631576912" name="Shape 2"/>
          <p:cNvSpPr/>
          <p:nvPr/>
        </p:nvSpPr>
        <p:spPr bwMode="auto">
          <a:xfrm>
            <a:off x="5638800" y="12287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 fill="norm" stroke="1" extrusionOk="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17142678" name="Shape 3"/>
          <p:cNvSpPr/>
          <p:nvPr/>
        </p:nvSpPr>
        <p:spPr bwMode="auto">
          <a:xfrm>
            <a:off x="5867399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11519197" name="Text 4"/>
          <p:cNvSpPr/>
          <p:nvPr/>
        </p:nvSpPr>
        <p:spPr bwMode="auto">
          <a:xfrm>
            <a:off x="2812255" y="2752725"/>
            <a:ext cx="6562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en-US" sz="4500" b="1">
                <a:solidFill>
                  <a:srgbClr val="1D1D1D"/>
                </a:solidFill>
                <a:latin typeface="MiSans"/>
                <a:ea typeface="MiSans"/>
                <a:cs typeface="MiSans"/>
              </a:rPr>
              <a:t>Спасибо за внимание!</a:t>
            </a:r>
            <a:endParaRPr lang="en-US" sz="1600"/>
          </a:p>
        </p:txBody>
      </p:sp>
      <p:sp>
        <p:nvSpPr>
          <p:cNvPr id="1067689778" name="Text 5"/>
          <p:cNvSpPr/>
          <p:nvPr/>
        </p:nvSpPr>
        <p:spPr bwMode="auto">
          <a:xfrm>
            <a:off x="3595053" y="3552825"/>
            <a:ext cx="500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180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Вопросы? Обсуждение результатов заданий</a:t>
            </a:r>
            <a:endParaRPr lang="en-US" sz="1600"/>
          </a:p>
        </p:txBody>
      </p:sp>
      <p:sp>
        <p:nvSpPr>
          <p:cNvPr id="1006591865" name="Shape 6"/>
          <p:cNvSpPr/>
          <p:nvPr/>
        </p:nvSpPr>
        <p:spPr bwMode="auto">
          <a:xfrm>
            <a:off x="4032090" y="436244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fill="norm" stroke="1" extrusionOk="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65557070" name="Text 7"/>
          <p:cNvSpPr/>
          <p:nvPr/>
        </p:nvSpPr>
        <p:spPr bwMode="auto">
          <a:xfrm>
            <a:off x="4294028" y="4314825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Обратная связь</a:t>
            </a:r>
            <a:endParaRPr lang="en-US" sz="1600"/>
          </a:p>
        </p:txBody>
      </p:sp>
      <p:sp>
        <p:nvSpPr>
          <p:cNvPr id="586296722" name="Shape 8"/>
          <p:cNvSpPr/>
          <p:nvPr/>
        </p:nvSpPr>
        <p:spPr bwMode="auto">
          <a:xfrm>
            <a:off x="5924232" y="4333874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 fill="norm" stroke="1" extrusionOk="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967911593" name="Shape 9"/>
          <p:cNvSpPr/>
          <p:nvPr/>
        </p:nvSpPr>
        <p:spPr bwMode="auto">
          <a:xfrm>
            <a:off x="6251653" y="436244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 fill="norm" stroke="1" extrusionOk="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4151205" name="Text 10"/>
          <p:cNvSpPr/>
          <p:nvPr/>
        </p:nvSpPr>
        <p:spPr bwMode="auto">
          <a:xfrm>
            <a:off x="6524307" y="4314825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Обсуждение</a:t>
            </a:r>
            <a:endParaRPr lang="en-US" sz="1600"/>
          </a:p>
        </p:txBody>
      </p:sp>
      <p:sp>
        <p:nvSpPr>
          <p:cNvPr id="2082653071" name="Shape 14"/>
          <p:cNvSpPr/>
          <p:nvPr/>
        </p:nvSpPr>
        <p:spPr bwMode="auto">
          <a:xfrm>
            <a:off x="3302952" y="5043488"/>
            <a:ext cx="5581649" cy="581025"/>
          </a:xfrm>
          <a:custGeom>
            <a:avLst/>
            <a:gdLst/>
            <a:ahLst/>
            <a:cxnLst/>
            <a:rect l="l" t="t" r="r" b="b"/>
            <a:pathLst>
              <a:path w="5581650" h="581025" fill="norm" stroke="1" extrusionOk="0">
                <a:moveTo>
                  <a:pt x="152403" y="0"/>
                </a:moveTo>
                <a:lnTo>
                  <a:pt x="5429247" y="0"/>
                </a:lnTo>
                <a:cubicBezTo>
                  <a:pt x="5513361" y="0"/>
                  <a:pt x="5581650" y="68289"/>
                  <a:pt x="5581650" y="152403"/>
                </a:cubicBezTo>
                <a:lnTo>
                  <a:pt x="5581650" y="428622"/>
                </a:lnTo>
                <a:cubicBezTo>
                  <a:pt x="5581650" y="512736"/>
                  <a:pt x="5513361" y="581025"/>
                  <a:pt x="5429247" y="581025"/>
                </a:cubicBezTo>
                <a:lnTo>
                  <a:pt x="152403" y="581025"/>
                </a:lnTo>
                <a:cubicBezTo>
                  <a:pt x="68289" y="581025"/>
                  <a:pt x="0" y="512736"/>
                  <a:pt x="0" y="42862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28575" dist="9525" dir="5400000" sx="100000" sy="100000" kx="0" ky="0" algn="bl" rotWithShape="0">
              <a:srgbClr val="000000">
                <a:alpha val="10196"/>
              </a:srgbClr>
            </a:outerShdw>
          </a:effectLst>
        </p:spPr>
      </p:sp>
      <p:sp>
        <p:nvSpPr>
          <p:cNvPr id="1200720281" name="Shape 15"/>
          <p:cNvSpPr/>
          <p:nvPr/>
        </p:nvSpPr>
        <p:spPr bwMode="auto">
          <a:xfrm>
            <a:off x="3625612" y="524351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 fill="norm" stroke="1" extrusionOk="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66862088" name="Text 16"/>
          <p:cNvSpPr/>
          <p:nvPr/>
        </p:nvSpPr>
        <p:spPr bwMode="auto">
          <a:xfrm>
            <a:off x="3845877" y="5200650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>
                <a:solidFill>
                  <a:srgbClr val="86868B"/>
                </a:solidFill>
                <a:latin typeface="MiSans"/>
                <a:ea typeface="MiSans"/>
                <a:cs typeface="MiSans"/>
              </a:rPr>
              <a:t>Web-программирование и интернет технологии • 2026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 обратной связи: от HTML до отправки данных на сервер</dc:title>
  <dc:subject>Форма обратной связи: от HTML до отправки данных на сервер</dc:subject>
  <dc:creator>Kimi</dc:creator>
  <cp:lastModifiedBy/>
  <cp:revision>3</cp:revision>
  <dcterms:created xsi:type="dcterms:W3CDTF">2026-04-02T17:32:57Z</dcterms:created>
  <dcterms:modified xsi:type="dcterms:W3CDTF">2026-04-03T06:06:48Z</dcterms:modified>
</cp:coreProperties>
</file>